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4" r:id="rId1"/>
  </p:sldMasterIdLst>
  <p:notesMasterIdLst>
    <p:notesMasterId r:id="rId20"/>
  </p:notesMasterIdLst>
  <p:sldIdLst>
    <p:sldId id="256" r:id="rId2"/>
    <p:sldId id="257" r:id="rId3"/>
    <p:sldId id="258" r:id="rId4"/>
    <p:sldId id="259" r:id="rId5"/>
    <p:sldId id="260" r:id="rId6"/>
    <p:sldId id="265" r:id="rId7"/>
    <p:sldId id="261" r:id="rId8"/>
    <p:sldId id="262" r:id="rId9"/>
    <p:sldId id="263" r:id="rId10"/>
    <p:sldId id="264" r:id="rId11"/>
    <p:sldId id="266" r:id="rId12"/>
    <p:sldId id="267" r:id="rId13"/>
    <p:sldId id="268" r:id="rId14"/>
    <p:sldId id="269" r:id="rId15"/>
    <p:sldId id="270" r:id="rId16"/>
    <p:sldId id="271" r:id="rId17"/>
    <p:sldId id="272" r:id="rId18"/>
    <p:sldId id="273" r:id="rId19"/>
  </p:sldIdLst>
  <p:sldSz cx="28800425" cy="1800066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问题1" id="{2307DA82-0D7F-414F-8EAC-63648325082A}">
          <p14:sldIdLst>
            <p14:sldId id="256"/>
            <p14:sldId id="257"/>
          </p14:sldIdLst>
        </p14:section>
        <p14:section name="问题2" id="{04FB4D77-4138-4246-BE76-C6D013C2D27A}">
          <p14:sldIdLst>
            <p14:sldId id="258"/>
            <p14:sldId id="259"/>
          </p14:sldIdLst>
        </p14:section>
        <p14:section name="模拟退火" id="{03DA19DD-7F58-4A8A-BA87-51218078C3DB}">
          <p14:sldIdLst>
            <p14:sldId id="260"/>
            <p14:sldId id="265"/>
          </p14:sldIdLst>
        </p14:section>
        <p14:section name="指标间关系" id="{3FA59D78-9DF4-4AD2-8066-4B8D192DEBA0}">
          <p14:sldIdLst>
            <p14:sldId id="261"/>
          </p14:sldIdLst>
        </p14:section>
        <p14:section name="2025CQ2" id="{184C6DAE-DA85-4112-A03D-569123611E0C}">
          <p14:sldIdLst>
            <p14:sldId id="262"/>
            <p14:sldId id="263"/>
          </p14:sldIdLst>
        </p14:section>
        <p14:section name="代价函数" id="{DFE736A2-5FA6-4BFB-9CFE-B5DA193BE45A}">
          <p14:sldIdLst>
            <p14:sldId id="264"/>
          </p14:sldIdLst>
        </p14:section>
        <p14:section name="美赛" id="{12D7B11D-0B38-4A62-A7C8-01FC16B9D0EB}">
          <p14:sldIdLst>
            <p14:sldId id="266"/>
            <p14:sldId id="267"/>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D7E4"/>
    <a:srgbClr val="A3AED5"/>
    <a:srgbClr val="FFC7C5"/>
    <a:srgbClr val="F5FFF5"/>
    <a:srgbClr val="FCF1E0"/>
    <a:srgbClr val="E5FCFF"/>
    <a:srgbClr val="FBF4FC"/>
    <a:srgbClr val="EDF7FF"/>
    <a:srgbClr val="FDB2AC"/>
    <a:srgbClr val="6A57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98" autoAdjust="0"/>
    <p:restoredTop sz="94839" autoAdjust="0"/>
  </p:normalViewPr>
  <p:slideViewPr>
    <p:cSldViewPr snapToGrid="0">
      <p:cViewPr>
        <p:scale>
          <a:sx n="25" d="100"/>
          <a:sy n="25" d="100"/>
        </p:scale>
        <p:origin x="2379" y="3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9F559353-61A4-407D-834B-7AD5688DA582}" type="datetimeFigureOut">
              <a:rPr lang="zh-CN" altLang="en-US" smtClean="0"/>
              <a:t>2026/2/7</a:t>
            </a:fld>
            <a:endParaRPr lang="zh-CN" altLang="en-US"/>
          </a:p>
        </p:txBody>
      </p:sp>
      <p:sp>
        <p:nvSpPr>
          <p:cNvPr id="4" name="幻灯片图像占位符 3"/>
          <p:cNvSpPr>
            <a:spLocks noGrp="1" noRot="1" noChangeAspect="1"/>
          </p:cNvSpPr>
          <p:nvPr>
            <p:ph type="sldImg" idx="2"/>
          </p:nvPr>
        </p:nvSpPr>
        <p:spPr>
          <a:xfrm>
            <a:off x="2720975" y="857250"/>
            <a:ext cx="370205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3D9AE67B-9302-45DB-B4C7-EFF3315CE614}" type="slidenum">
              <a:rPr lang="zh-CN" altLang="en-US" smtClean="0"/>
              <a:t>‹#›</a:t>
            </a:fld>
            <a:endParaRPr lang="zh-CN" altLang="en-US"/>
          </a:p>
        </p:txBody>
      </p:sp>
    </p:spTree>
    <p:extLst>
      <p:ext uri="{BB962C8B-B14F-4D97-AF65-F5344CB8AC3E}">
        <p14:creationId xmlns:p14="http://schemas.microsoft.com/office/powerpoint/2010/main" val="1507529606"/>
      </p:ext>
    </p:extLst>
  </p:cSld>
  <p:clrMap bg1="lt1" tx1="dk1" bg2="lt2" tx2="dk2" accent1="accent1" accent2="accent2" accent3="accent3" accent4="accent4" accent5="accent5" accent6="accent6" hlink="hlink" folHlink="folHlink"/>
  <p:notesStyle>
    <a:lvl1pPr marL="0" algn="l" defTabSz="520076" rtl="0" eaLnBrk="1" latinLnBrk="0" hangingPunct="1">
      <a:defRPr sz="682" kern="1200">
        <a:solidFill>
          <a:schemeClr val="tx1"/>
        </a:solidFill>
        <a:latin typeface="+mn-lt"/>
        <a:ea typeface="+mn-ea"/>
        <a:cs typeface="+mn-cs"/>
      </a:defRPr>
    </a:lvl1pPr>
    <a:lvl2pPr marL="260038" algn="l" defTabSz="520076" rtl="0" eaLnBrk="1" latinLnBrk="0" hangingPunct="1">
      <a:defRPr sz="682" kern="1200">
        <a:solidFill>
          <a:schemeClr val="tx1"/>
        </a:solidFill>
        <a:latin typeface="+mn-lt"/>
        <a:ea typeface="+mn-ea"/>
        <a:cs typeface="+mn-cs"/>
      </a:defRPr>
    </a:lvl2pPr>
    <a:lvl3pPr marL="520076" algn="l" defTabSz="520076" rtl="0" eaLnBrk="1" latinLnBrk="0" hangingPunct="1">
      <a:defRPr sz="682" kern="1200">
        <a:solidFill>
          <a:schemeClr val="tx1"/>
        </a:solidFill>
        <a:latin typeface="+mn-lt"/>
        <a:ea typeface="+mn-ea"/>
        <a:cs typeface="+mn-cs"/>
      </a:defRPr>
    </a:lvl3pPr>
    <a:lvl4pPr marL="780114" algn="l" defTabSz="520076" rtl="0" eaLnBrk="1" latinLnBrk="0" hangingPunct="1">
      <a:defRPr sz="682" kern="1200">
        <a:solidFill>
          <a:schemeClr val="tx1"/>
        </a:solidFill>
        <a:latin typeface="+mn-lt"/>
        <a:ea typeface="+mn-ea"/>
        <a:cs typeface="+mn-cs"/>
      </a:defRPr>
    </a:lvl4pPr>
    <a:lvl5pPr marL="1040152" algn="l" defTabSz="520076" rtl="0" eaLnBrk="1" latinLnBrk="0" hangingPunct="1">
      <a:defRPr sz="682" kern="1200">
        <a:solidFill>
          <a:schemeClr val="tx1"/>
        </a:solidFill>
        <a:latin typeface="+mn-lt"/>
        <a:ea typeface="+mn-ea"/>
        <a:cs typeface="+mn-cs"/>
      </a:defRPr>
    </a:lvl5pPr>
    <a:lvl6pPr marL="1300190" algn="l" defTabSz="520076" rtl="0" eaLnBrk="1" latinLnBrk="0" hangingPunct="1">
      <a:defRPr sz="682" kern="1200">
        <a:solidFill>
          <a:schemeClr val="tx1"/>
        </a:solidFill>
        <a:latin typeface="+mn-lt"/>
        <a:ea typeface="+mn-ea"/>
        <a:cs typeface="+mn-cs"/>
      </a:defRPr>
    </a:lvl6pPr>
    <a:lvl7pPr marL="1560228" algn="l" defTabSz="520076" rtl="0" eaLnBrk="1" latinLnBrk="0" hangingPunct="1">
      <a:defRPr sz="682" kern="1200">
        <a:solidFill>
          <a:schemeClr val="tx1"/>
        </a:solidFill>
        <a:latin typeface="+mn-lt"/>
        <a:ea typeface="+mn-ea"/>
        <a:cs typeface="+mn-cs"/>
      </a:defRPr>
    </a:lvl7pPr>
    <a:lvl8pPr marL="1820266" algn="l" defTabSz="520076" rtl="0" eaLnBrk="1" latinLnBrk="0" hangingPunct="1">
      <a:defRPr sz="682" kern="1200">
        <a:solidFill>
          <a:schemeClr val="tx1"/>
        </a:solidFill>
        <a:latin typeface="+mn-lt"/>
        <a:ea typeface="+mn-ea"/>
        <a:cs typeface="+mn-cs"/>
      </a:defRPr>
    </a:lvl8pPr>
    <a:lvl9pPr marL="2080303" algn="l" defTabSz="520076" rtl="0" eaLnBrk="1" latinLnBrk="0" hangingPunct="1">
      <a:defRPr sz="68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720975" y="857250"/>
            <a:ext cx="3702050" cy="2314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9AE67B-9302-45DB-B4C7-EFF3315CE614}" type="slidenum">
              <a:rPr lang="zh-CN" altLang="en-US" smtClean="0"/>
              <a:t>1</a:t>
            </a:fld>
            <a:endParaRPr lang="zh-CN" altLang="en-US"/>
          </a:p>
        </p:txBody>
      </p:sp>
    </p:spTree>
    <p:extLst>
      <p:ext uri="{BB962C8B-B14F-4D97-AF65-F5344CB8AC3E}">
        <p14:creationId xmlns:p14="http://schemas.microsoft.com/office/powerpoint/2010/main" val="2114095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9AE67B-9302-45DB-B4C7-EFF3315CE614}" type="slidenum">
              <a:rPr lang="zh-CN" altLang="en-US" smtClean="0"/>
              <a:t>14</a:t>
            </a:fld>
            <a:endParaRPr lang="zh-CN" altLang="en-US"/>
          </a:p>
        </p:txBody>
      </p:sp>
    </p:spTree>
    <p:extLst>
      <p:ext uri="{BB962C8B-B14F-4D97-AF65-F5344CB8AC3E}">
        <p14:creationId xmlns:p14="http://schemas.microsoft.com/office/powerpoint/2010/main" val="3658955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F8D87-D449-9305-45F9-8C892E2B4F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AF7349-DF40-BC8D-9D2E-D66D66A18E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A8733F-AA1C-0C84-B3D3-F1209D02C02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18E270C-5866-0DEF-53F1-724F62270E57}"/>
              </a:ext>
            </a:extLst>
          </p:cNvPr>
          <p:cNvSpPr>
            <a:spLocks noGrp="1"/>
          </p:cNvSpPr>
          <p:nvPr>
            <p:ph type="sldNum" sz="quarter" idx="5"/>
          </p:nvPr>
        </p:nvSpPr>
        <p:spPr/>
        <p:txBody>
          <a:bodyPr/>
          <a:lstStyle/>
          <a:p>
            <a:fld id="{3D9AE67B-9302-45DB-B4C7-EFF3315CE614}" type="slidenum">
              <a:rPr lang="zh-CN" altLang="en-US" smtClean="0"/>
              <a:t>15</a:t>
            </a:fld>
            <a:endParaRPr lang="zh-CN" altLang="en-US"/>
          </a:p>
        </p:txBody>
      </p:sp>
    </p:spTree>
    <p:extLst>
      <p:ext uri="{BB962C8B-B14F-4D97-AF65-F5344CB8AC3E}">
        <p14:creationId xmlns:p14="http://schemas.microsoft.com/office/powerpoint/2010/main" val="3845943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9AE67B-9302-45DB-B4C7-EFF3315CE614}" type="slidenum">
              <a:rPr lang="zh-CN" altLang="en-US" smtClean="0"/>
              <a:t>16</a:t>
            </a:fld>
            <a:endParaRPr lang="zh-CN" altLang="en-US"/>
          </a:p>
        </p:txBody>
      </p:sp>
    </p:spTree>
    <p:extLst>
      <p:ext uri="{BB962C8B-B14F-4D97-AF65-F5344CB8AC3E}">
        <p14:creationId xmlns:p14="http://schemas.microsoft.com/office/powerpoint/2010/main" val="751987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9AE67B-9302-45DB-B4C7-EFF3315CE614}" type="slidenum">
              <a:rPr lang="zh-CN" altLang="en-US" smtClean="0"/>
              <a:t>17</a:t>
            </a:fld>
            <a:endParaRPr lang="zh-CN" altLang="en-US"/>
          </a:p>
        </p:txBody>
      </p:sp>
    </p:spTree>
    <p:extLst>
      <p:ext uri="{BB962C8B-B14F-4D97-AF65-F5344CB8AC3E}">
        <p14:creationId xmlns:p14="http://schemas.microsoft.com/office/powerpoint/2010/main" val="201158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BF99D-CEA9-164F-7EF0-53F951E677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1919593-4FA0-A5A8-30BF-B112BE278B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64A136-E6D4-329F-14E1-5A530A4CDE9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ECD35BF-9A9B-A522-931A-7610317BCCE3}"/>
              </a:ext>
            </a:extLst>
          </p:cNvPr>
          <p:cNvSpPr>
            <a:spLocks noGrp="1"/>
          </p:cNvSpPr>
          <p:nvPr>
            <p:ph type="sldNum" sz="quarter" idx="5"/>
          </p:nvPr>
        </p:nvSpPr>
        <p:spPr/>
        <p:txBody>
          <a:bodyPr/>
          <a:lstStyle/>
          <a:p>
            <a:fld id="{3D9AE67B-9302-45DB-B4C7-EFF3315CE614}" type="slidenum">
              <a:rPr lang="zh-CN" altLang="en-US" smtClean="0"/>
              <a:t>18</a:t>
            </a:fld>
            <a:endParaRPr lang="zh-CN" altLang="en-US"/>
          </a:p>
        </p:txBody>
      </p:sp>
    </p:spTree>
    <p:extLst>
      <p:ext uri="{BB962C8B-B14F-4D97-AF65-F5344CB8AC3E}">
        <p14:creationId xmlns:p14="http://schemas.microsoft.com/office/powerpoint/2010/main" val="3513959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600053" y="2945943"/>
            <a:ext cx="21600319" cy="6266897"/>
          </a:xfrm>
        </p:spPr>
        <p:txBody>
          <a:bodyPr anchor="b"/>
          <a:lstStyle>
            <a:lvl1pPr algn="ctr">
              <a:defRPr sz="14173"/>
            </a:lvl1pPr>
          </a:lstStyle>
          <a:p>
            <a:r>
              <a:rPr lang="zh-CN" altLang="en-US"/>
              <a:t>单击此处编辑母版标题样式</a:t>
            </a:r>
            <a:endParaRPr lang="en-US" dirty="0"/>
          </a:p>
        </p:txBody>
      </p:sp>
      <p:sp>
        <p:nvSpPr>
          <p:cNvPr id="3" name="Subtitle 2"/>
          <p:cNvSpPr>
            <a:spLocks noGrp="1"/>
          </p:cNvSpPr>
          <p:nvPr>
            <p:ph type="subTitle" idx="1"/>
          </p:nvPr>
        </p:nvSpPr>
        <p:spPr>
          <a:xfrm>
            <a:off x="3600053" y="9454516"/>
            <a:ext cx="21600319" cy="4345992"/>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1949841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512396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965029" y="4487668"/>
            <a:ext cx="24840367" cy="7487774"/>
          </a:xfrm>
        </p:spPr>
        <p:txBody>
          <a:bodyPr anchor="b"/>
          <a:lstStyle>
            <a:lvl1pPr>
              <a:defRPr sz="14173"/>
            </a:lvl1pPr>
          </a:lstStyle>
          <a:p>
            <a:r>
              <a:rPr lang="zh-CN" altLang="en-US"/>
              <a:t>单击此处编辑母版标题样式</a:t>
            </a:r>
            <a:endParaRPr lang="en-US" dirty="0"/>
          </a:p>
        </p:txBody>
      </p:sp>
      <p:sp>
        <p:nvSpPr>
          <p:cNvPr id="3" name="Text Placeholder 2"/>
          <p:cNvSpPr>
            <a:spLocks noGrp="1"/>
          </p:cNvSpPr>
          <p:nvPr>
            <p:ph type="body" idx="1"/>
          </p:nvPr>
        </p:nvSpPr>
        <p:spPr>
          <a:xfrm>
            <a:off x="1965029" y="12046280"/>
            <a:ext cx="24840367" cy="3937644"/>
          </a:xfrm>
        </p:spPr>
        <p:txBody>
          <a:bodyPr/>
          <a:lstStyle>
            <a:lvl1pPr marL="0" indent="0">
              <a:buNone/>
              <a:defRPr sz="5669">
                <a:solidFill>
                  <a:schemeClr val="tx1">
                    <a:tint val="75000"/>
                  </a:schemeClr>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403044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980029" y="4791843"/>
            <a:ext cx="12240181" cy="1142125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14580215" y="4791843"/>
            <a:ext cx="12240181" cy="1142125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218684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983780" y="958370"/>
            <a:ext cx="24840367" cy="3479296"/>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983781" y="4412664"/>
            <a:ext cx="12183929" cy="2162578"/>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zh-CN" altLang="en-US"/>
              <a:t>单击此处编辑母版文本样式</a:t>
            </a:r>
          </a:p>
        </p:txBody>
      </p:sp>
      <p:sp>
        <p:nvSpPr>
          <p:cNvPr id="4" name="Content Placeholder 3"/>
          <p:cNvSpPr>
            <a:spLocks noGrp="1"/>
          </p:cNvSpPr>
          <p:nvPr>
            <p:ph sz="half" idx="2"/>
          </p:nvPr>
        </p:nvSpPr>
        <p:spPr>
          <a:xfrm>
            <a:off x="1983781" y="6575242"/>
            <a:ext cx="12183929" cy="967119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14580215" y="4412664"/>
            <a:ext cx="12243932" cy="2162578"/>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zh-CN" altLang="en-US"/>
              <a:t>单击此处编辑母版文本样式</a:t>
            </a:r>
          </a:p>
        </p:txBody>
      </p:sp>
      <p:sp>
        <p:nvSpPr>
          <p:cNvPr id="6" name="Content Placeholder 5"/>
          <p:cNvSpPr>
            <a:spLocks noGrp="1"/>
          </p:cNvSpPr>
          <p:nvPr>
            <p:ph sz="quarter" idx="4"/>
          </p:nvPr>
        </p:nvSpPr>
        <p:spPr>
          <a:xfrm>
            <a:off x="14580215" y="6575242"/>
            <a:ext cx="12243932" cy="967119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1881853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12143193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4098296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983782" y="1200044"/>
            <a:ext cx="9288886" cy="4200155"/>
          </a:xfrm>
        </p:spPr>
        <p:txBody>
          <a:bodyPr anchor="b"/>
          <a:lstStyle>
            <a:lvl1pPr>
              <a:defRPr sz="7559"/>
            </a:lvl1pPr>
          </a:lstStyle>
          <a:p>
            <a:r>
              <a:rPr lang="zh-CN" altLang="en-US"/>
              <a:t>单击此处编辑母版标题样式</a:t>
            </a:r>
            <a:endParaRPr lang="en-US" dirty="0"/>
          </a:p>
        </p:txBody>
      </p:sp>
      <p:sp>
        <p:nvSpPr>
          <p:cNvPr id="3" name="Content Placeholder 2"/>
          <p:cNvSpPr>
            <a:spLocks noGrp="1"/>
          </p:cNvSpPr>
          <p:nvPr>
            <p:ph idx="1"/>
          </p:nvPr>
        </p:nvSpPr>
        <p:spPr>
          <a:xfrm>
            <a:off x="12243932" y="2591763"/>
            <a:ext cx="14580215" cy="12792138"/>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983782" y="5400199"/>
            <a:ext cx="9288886" cy="10004536"/>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776146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983782" y="1200044"/>
            <a:ext cx="9288886" cy="4200155"/>
          </a:xfrm>
        </p:spPr>
        <p:txBody>
          <a:bodyPr anchor="b"/>
          <a:lstStyle>
            <a:lvl1pPr>
              <a:defRPr sz="7559"/>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243932" y="2591763"/>
            <a:ext cx="14580215" cy="12792138"/>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zh-CN" altLang="en-US"/>
              <a:t>单击图标添加图片</a:t>
            </a:r>
            <a:endParaRPr lang="en-US" dirty="0"/>
          </a:p>
        </p:txBody>
      </p:sp>
      <p:sp>
        <p:nvSpPr>
          <p:cNvPr id="4" name="Text Placeholder 3"/>
          <p:cNvSpPr>
            <a:spLocks noGrp="1"/>
          </p:cNvSpPr>
          <p:nvPr>
            <p:ph type="body" sz="half" idx="2"/>
          </p:nvPr>
        </p:nvSpPr>
        <p:spPr>
          <a:xfrm>
            <a:off x="1983782" y="5400199"/>
            <a:ext cx="9288886" cy="10004536"/>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4222484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208792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0304" y="958369"/>
            <a:ext cx="6210092" cy="1525473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980029" y="958369"/>
            <a:ext cx="18270270" cy="1525473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D2FD6B2-C63A-4444-8A90-A2558E0A77BA}" type="datetimeFigureOut">
              <a:rPr lang="zh-CN" altLang="en-US" smtClean="0"/>
              <a:t>2026/2/7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280332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029" y="958370"/>
            <a:ext cx="24840367" cy="347929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980029" y="4791843"/>
            <a:ext cx="24840367" cy="1142125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980029" y="16683949"/>
            <a:ext cx="6480096" cy="958369"/>
          </a:xfrm>
          <a:prstGeom prst="rect">
            <a:avLst/>
          </a:prstGeom>
        </p:spPr>
        <p:txBody>
          <a:bodyPr vert="horz" lIns="91440" tIns="45720" rIns="91440" bIns="45720" rtlCol="0" anchor="ctr"/>
          <a:lstStyle>
            <a:lvl1pPr algn="l">
              <a:defRPr sz="2835">
                <a:solidFill>
                  <a:schemeClr val="tx1">
                    <a:tint val="75000"/>
                  </a:schemeClr>
                </a:solidFill>
              </a:defRPr>
            </a:lvl1pPr>
          </a:lstStyle>
          <a:p>
            <a:fld id="{9D2FD6B2-C63A-4444-8A90-A2558E0A77BA}" type="datetimeFigureOut">
              <a:rPr lang="zh-CN" altLang="en-US" smtClean="0"/>
              <a:t>2026/2/7</a:t>
            </a:fld>
            <a:endParaRPr lang="zh-CN" altLang="en-US"/>
          </a:p>
        </p:txBody>
      </p:sp>
      <p:sp>
        <p:nvSpPr>
          <p:cNvPr id="5" name="Footer Placeholder 4"/>
          <p:cNvSpPr>
            <a:spLocks noGrp="1"/>
          </p:cNvSpPr>
          <p:nvPr>
            <p:ph type="ftr" sz="quarter" idx="3"/>
          </p:nvPr>
        </p:nvSpPr>
        <p:spPr>
          <a:xfrm>
            <a:off x="9540141" y="16683949"/>
            <a:ext cx="9720143" cy="958369"/>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20340300" y="16683949"/>
            <a:ext cx="6480096" cy="958369"/>
          </a:xfrm>
          <a:prstGeom prst="rect">
            <a:avLst/>
          </a:prstGeom>
        </p:spPr>
        <p:txBody>
          <a:bodyPr vert="horz" lIns="91440" tIns="45720" rIns="91440" bIns="45720" rtlCol="0" anchor="ctr"/>
          <a:lstStyle>
            <a:lvl1pPr algn="r">
              <a:defRPr sz="2835">
                <a:solidFill>
                  <a:schemeClr val="tx1">
                    <a:tint val="75000"/>
                  </a:schemeClr>
                </a:solidFill>
              </a:defRPr>
            </a:lvl1pPr>
          </a:lstStyle>
          <a:p>
            <a:fld id="{0F6AB955-5BC0-42C0-9B8C-65FDE512CA8C}" type="slidenum">
              <a:rPr lang="zh-CN" altLang="en-US" smtClean="0"/>
              <a:t>‹#›</a:t>
            </a:fld>
            <a:endParaRPr lang="zh-CN" altLang="en-US"/>
          </a:p>
        </p:txBody>
      </p:sp>
    </p:spTree>
    <p:extLst>
      <p:ext uri="{BB962C8B-B14F-4D97-AF65-F5344CB8AC3E}">
        <p14:creationId xmlns:p14="http://schemas.microsoft.com/office/powerpoint/2010/main" val="1300531487"/>
      </p:ext>
    </p:extLst>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image" Target="../media/image7.wmf"/><Relationship Id="rId18" Type="http://schemas.openxmlformats.org/officeDocument/2006/relationships/oleObject" Target="../embeddings/oleObject10.bin"/><Relationship Id="rId3" Type="http://schemas.openxmlformats.org/officeDocument/2006/relationships/image" Target="../media/image2.wmf"/><Relationship Id="rId7" Type="http://schemas.openxmlformats.org/officeDocument/2006/relationships/image" Target="../media/image4.wmf"/><Relationship Id="rId12" Type="http://schemas.openxmlformats.org/officeDocument/2006/relationships/oleObject" Target="../embeddings/oleObject7.bin"/><Relationship Id="rId17" Type="http://schemas.openxmlformats.org/officeDocument/2006/relationships/image" Target="../media/image9.wmf"/><Relationship Id="rId2" Type="http://schemas.openxmlformats.org/officeDocument/2006/relationships/oleObject" Target="../embeddings/oleObject2.bin"/><Relationship Id="rId16"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6.wmf"/><Relationship Id="rId5" Type="http://schemas.openxmlformats.org/officeDocument/2006/relationships/image" Target="../media/image3.wmf"/><Relationship Id="rId15" Type="http://schemas.openxmlformats.org/officeDocument/2006/relationships/image" Target="../media/image8.wmf"/><Relationship Id="rId10" Type="http://schemas.openxmlformats.org/officeDocument/2006/relationships/oleObject" Target="../embeddings/oleObject6.bin"/><Relationship Id="rId19" Type="http://schemas.openxmlformats.org/officeDocument/2006/relationships/image" Target="../media/image10.wmf"/><Relationship Id="rId4" Type="http://schemas.openxmlformats.org/officeDocument/2006/relationships/oleObject" Target="../embeddings/oleObject3.bin"/><Relationship Id="rId9" Type="http://schemas.openxmlformats.org/officeDocument/2006/relationships/image" Target="../media/image5.wmf"/><Relationship Id="rId1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7.wmf"/><Relationship Id="rId18" Type="http://schemas.openxmlformats.org/officeDocument/2006/relationships/oleObject" Target="../embeddings/oleObject10.bin"/><Relationship Id="rId3" Type="http://schemas.openxmlformats.org/officeDocument/2006/relationships/image" Target="../media/image2.wmf"/><Relationship Id="rId7" Type="http://schemas.openxmlformats.org/officeDocument/2006/relationships/image" Target="../media/image4.wmf"/><Relationship Id="rId12" Type="http://schemas.openxmlformats.org/officeDocument/2006/relationships/oleObject" Target="../embeddings/oleObject7.bin"/><Relationship Id="rId17" Type="http://schemas.openxmlformats.org/officeDocument/2006/relationships/image" Target="../media/image15.wmf"/><Relationship Id="rId2" Type="http://schemas.openxmlformats.org/officeDocument/2006/relationships/oleObject" Target="../embeddings/oleObject2.bin"/><Relationship Id="rId16"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4.bin"/><Relationship Id="rId11" Type="http://schemas.openxmlformats.org/officeDocument/2006/relationships/image" Target="../media/image13.wmf"/><Relationship Id="rId5" Type="http://schemas.openxmlformats.org/officeDocument/2006/relationships/image" Target="../media/image11.wmf"/><Relationship Id="rId15" Type="http://schemas.openxmlformats.org/officeDocument/2006/relationships/image" Target="../media/image14.wmf"/><Relationship Id="rId10" Type="http://schemas.openxmlformats.org/officeDocument/2006/relationships/oleObject" Target="../embeddings/oleObject13.bin"/><Relationship Id="rId19" Type="http://schemas.openxmlformats.org/officeDocument/2006/relationships/image" Target="../media/image10.wmf"/><Relationship Id="rId4" Type="http://schemas.openxmlformats.org/officeDocument/2006/relationships/oleObject" Target="../embeddings/oleObject11.bin"/><Relationship Id="rId9" Type="http://schemas.openxmlformats.org/officeDocument/2006/relationships/image" Target="../media/image12.wmf"/><Relationship Id="rId14" Type="http://schemas.openxmlformats.org/officeDocument/2006/relationships/oleObject" Target="../embeddings/oleObject14.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18.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1.wmf"/><Relationship Id="rId13"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3.wmf"/><Relationship Id="rId2" Type="http://schemas.openxmlformats.org/officeDocument/2006/relationships/notesSlide" Target="../notesSlides/notesSlide3.xml"/><Relationship Id="rId16" Type="http://schemas.openxmlformats.org/officeDocument/2006/relationships/image" Target="../media/image25.wmf"/><Relationship Id="rId1" Type="http://schemas.openxmlformats.org/officeDocument/2006/relationships/slideLayout" Target="../slideLayouts/slideLayout2.xml"/><Relationship Id="rId6" Type="http://schemas.openxmlformats.org/officeDocument/2006/relationships/image" Target="../media/image20.w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22.wmf"/><Relationship Id="rId4" Type="http://schemas.openxmlformats.org/officeDocument/2006/relationships/image" Target="../media/image19.wmf"/><Relationship Id="rId9" Type="http://schemas.openxmlformats.org/officeDocument/2006/relationships/oleObject" Target="../embeddings/oleObject22.bin"/><Relationship Id="rId14" Type="http://schemas.openxmlformats.org/officeDocument/2006/relationships/image" Target="../media/image24.wmf"/></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jpg"/><Relationship Id="rId7" Type="http://schemas.openxmlformats.org/officeDocument/2006/relationships/image" Target="../media/image3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17.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8.sv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 Id="rId14" Type="http://schemas.openxmlformats.org/officeDocument/2006/relationships/image" Target="../media/image46.svg"/></Relationships>
</file>

<file path=ppt/slides/_rels/slide18.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31.bin"/><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51.wmf"/><Relationship Id="rId2" Type="http://schemas.openxmlformats.org/officeDocument/2006/relationships/notesSlide" Target="../notesSlides/notesSlide6.xml"/><Relationship Id="rId16" Type="http://schemas.openxmlformats.org/officeDocument/2006/relationships/image" Target="../media/image53.wmf"/><Relationship Id="rId1" Type="http://schemas.openxmlformats.org/officeDocument/2006/relationships/slideLayout" Target="../slideLayouts/slideLayout2.xml"/><Relationship Id="rId6" Type="http://schemas.openxmlformats.org/officeDocument/2006/relationships/image" Target="../media/image48.wmf"/><Relationship Id="rId11" Type="http://schemas.openxmlformats.org/officeDocument/2006/relationships/oleObject" Target="../embeddings/oleObject30.bin"/><Relationship Id="rId5" Type="http://schemas.openxmlformats.org/officeDocument/2006/relationships/oleObject" Target="../embeddings/oleObject27.bin"/><Relationship Id="rId15" Type="http://schemas.openxmlformats.org/officeDocument/2006/relationships/oleObject" Target="../embeddings/oleObject32.bin"/><Relationship Id="rId10" Type="http://schemas.openxmlformats.org/officeDocument/2006/relationships/image" Target="../media/image50.wmf"/><Relationship Id="rId4" Type="http://schemas.openxmlformats.org/officeDocument/2006/relationships/image" Target="../media/image47.wmf"/><Relationship Id="rId9" Type="http://schemas.openxmlformats.org/officeDocument/2006/relationships/oleObject" Target="../embeddings/oleObject29.bin"/><Relationship Id="rId14" Type="http://schemas.openxmlformats.org/officeDocument/2006/relationships/image" Target="../media/image5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圆角 55">
            <a:extLst>
              <a:ext uri="{FF2B5EF4-FFF2-40B4-BE49-F238E27FC236}">
                <a16:creationId xmlns:a16="http://schemas.microsoft.com/office/drawing/2014/main" id="{D23F9CC2-0CE2-4180-45C1-0378543A8ABD}"/>
              </a:ext>
            </a:extLst>
          </p:cNvPr>
          <p:cNvSpPr/>
          <p:nvPr/>
        </p:nvSpPr>
        <p:spPr>
          <a:xfrm>
            <a:off x="11743602" y="8601658"/>
            <a:ext cx="1572140" cy="641881"/>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相关系数</a:t>
            </a:r>
            <a:endParaRPr lang="en-US" altLang="zh-CN" sz="1868" b="1" dirty="0"/>
          </a:p>
          <a:p>
            <a:pPr algn="ctr"/>
            <a:r>
              <a:rPr lang="zh-CN" altLang="en-US" sz="1868" b="1" dirty="0"/>
              <a:t> </a:t>
            </a:r>
            <a:r>
              <a:rPr lang="en-US" altLang="zh-CN" sz="1868" b="1" dirty="0">
                <a:latin typeface="Times New Roman" panose="02020603050405020304" pitchFamily="18" charset="0"/>
                <a:cs typeface="Times New Roman" panose="02020603050405020304" pitchFamily="18" charset="0"/>
              </a:rPr>
              <a:t>R</a:t>
            </a:r>
            <a:r>
              <a:rPr lang="en-US" altLang="zh-CN" sz="1868" b="1" baseline="30000" dirty="0">
                <a:latin typeface="Times New Roman" panose="02020603050405020304" pitchFamily="18" charset="0"/>
                <a:cs typeface="Times New Roman" panose="02020603050405020304" pitchFamily="18" charset="0"/>
              </a:rPr>
              <a:t>2</a:t>
            </a:r>
            <a:endParaRPr lang="zh-CN" altLang="en-US" sz="1868" b="1" dirty="0">
              <a:latin typeface="Times New Roman" panose="02020603050405020304" pitchFamily="18" charset="0"/>
              <a:cs typeface="Times New Roman" panose="02020603050405020304" pitchFamily="18" charset="0"/>
            </a:endParaRPr>
          </a:p>
        </p:txBody>
      </p:sp>
      <p:sp>
        <p:nvSpPr>
          <p:cNvPr id="4" name="矩形: 圆角 3">
            <a:extLst>
              <a:ext uri="{FF2B5EF4-FFF2-40B4-BE49-F238E27FC236}">
                <a16:creationId xmlns:a16="http://schemas.microsoft.com/office/drawing/2014/main" id="{48FA9728-AD9F-68F1-AD01-CF7044A419E9}"/>
              </a:ext>
            </a:extLst>
          </p:cNvPr>
          <p:cNvSpPr/>
          <p:nvPr/>
        </p:nvSpPr>
        <p:spPr>
          <a:xfrm>
            <a:off x="12014264" y="5618803"/>
            <a:ext cx="3658806"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蔬菜商品分布规律及相互关系</a:t>
            </a:r>
            <a:endParaRPr lang="zh-CN" altLang="en-US" sz="1868" b="1" dirty="0"/>
          </a:p>
        </p:txBody>
      </p:sp>
      <p:sp>
        <p:nvSpPr>
          <p:cNvPr id="5" name="矩形: 圆角 4">
            <a:extLst>
              <a:ext uri="{FF2B5EF4-FFF2-40B4-BE49-F238E27FC236}">
                <a16:creationId xmlns:a16="http://schemas.microsoft.com/office/drawing/2014/main" id="{C3ACBEAF-9453-CC7D-656B-490A8CAAAD59}"/>
              </a:ext>
            </a:extLst>
          </p:cNvPr>
          <p:cNvSpPr/>
          <p:nvPr/>
        </p:nvSpPr>
        <p:spPr>
          <a:xfrm>
            <a:off x="8487716" y="6623196"/>
            <a:ext cx="2309904"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各品类的分布规律</a:t>
            </a:r>
            <a:endParaRPr lang="zh-CN" altLang="en-US" sz="1868" b="1" dirty="0"/>
          </a:p>
        </p:txBody>
      </p:sp>
      <p:sp>
        <p:nvSpPr>
          <p:cNvPr id="6" name="矩形: 圆角 5">
            <a:extLst>
              <a:ext uri="{FF2B5EF4-FFF2-40B4-BE49-F238E27FC236}">
                <a16:creationId xmlns:a16="http://schemas.microsoft.com/office/drawing/2014/main" id="{86E7EE03-2967-6AE4-8D26-E7CB61712D88}"/>
              </a:ext>
            </a:extLst>
          </p:cNvPr>
          <p:cNvSpPr/>
          <p:nvPr/>
        </p:nvSpPr>
        <p:spPr>
          <a:xfrm>
            <a:off x="11304605" y="6608612"/>
            <a:ext cx="2402683" cy="501532"/>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各品类的相互关系</a:t>
            </a:r>
            <a:endParaRPr lang="zh-CN" altLang="en-US" sz="1868" b="1" dirty="0"/>
          </a:p>
        </p:txBody>
      </p:sp>
      <p:sp>
        <p:nvSpPr>
          <p:cNvPr id="7" name="矩形: 圆角 6">
            <a:extLst>
              <a:ext uri="{FF2B5EF4-FFF2-40B4-BE49-F238E27FC236}">
                <a16:creationId xmlns:a16="http://schemas.microsoft.com/office/drawing/2014/main" id="{B7C2BAFD-D2AD-7E99-1CFE-0ED928FC6554}"/>
              </a:ext>
            </a:extLst>
          </p:cNvPr>
          <p:cNvSpPr/>
          <p:nvPr/>
        </p:nvSpPr>
        <p:spPr>
          <a:xfrm>
            <a:off x="14825929" y="6608600"/>
            <a:ext cx="2481373" cy="501532"/>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各单品的分布规律</a:t>
            </a:r>
            <a:endParaRPr lang="zh-CN" altLang="en-US" sz="1868" b="1" dirty="0"/>
          </a:p>
        </p:txBody>
      </p:sp>
      <p:sp>
        <p:nvSpPr>
          <p:cNvPr id="8" name="矩形: 圆角 7">
            <a:extLst>
              <a:ext uri="{FF2B5EF4-FFF2-40B4-BE49-F238E27FC236}">
                <a16:creationId xmlns:a16="http://schemas.microsoft.com/office/drawing/2014/main" id="{0DA01362-22F1-5706-C1F6-008DA6B6B63A}"/>
              </a:ext>
            </a:extLst>
          </p:cNvPr>
          <p:cNvSpPr/>
          <p:nvPr/>
        </p:nvSpPr>
        <p:spPr>
          <a:xfrm>
            <a:off x="18425959" y="6605351"/>
            <a:ext cx="2222941" cy="508117"/>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t>各单品的相互关系</a:t>
            </a:r>
            <a:endParaRPr lang="zh-CN" altLang="en-US" sz="1868" b="1" dirty="0"/>
          </a:p>
        </p:txBody>
      </p:sp>
      <p:cxnSp>
        <p:nvCxnSpPr>
          <p:cNvPr id="25" name="连接符: 肘形 24">
            <a:extLst>
              <a:ext uri="{FF2B5EF4-FFF2-40B4-BE49-F238E27FC236}">
                <a16:creationId xmlns:a16="http://schemas.microsoft.com/office/drawing/2014/main" id="{FF0628DE-8EB0-ECDF-73CE-2B23B7CD630F}"/>
              </a:ext>
            </a:extLst>
          </p:cNvPr>
          <p:cNvCxnSpPr>
            <a:cxnSpLocks/>
            <a:stCxn id="4" idx="2"/>
            <a:endCxn id="8" idx="0"/>
          </p:cNvCxnSpPr>
          <p:nvPr/>
        </p:nvCxnSpPr>
        <p:spPr>
          <a:xfrm rot="16200000" flipH="1">
            <a:off x="16440958" y="3508832"/>
            <a:ext cx="499220" cy="5693736"/>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27" name="连接符: 肘形 26">
            <a:extLst>
              <a:ext uri="{FF2B5EF4-FFF2-40B4-BE49-F238E27FC236}">
                <a16:creationId xmlns:a16="http://schemas.microsoft.com/office/drawing/2014/main" id="{43F9741B-00D4-0EEC-0457-F06050323C7C}"/>
              </a:ext>
            </a:extLst>
          </p:cNvPr>
          <p:cNvCxnSpPr>
            <a:cxnSpLocks/>
            <a:stCxn id="4" idx="2"/>
            <a:endCxn id="7" idx="0"/>
          </p:cNvCxnSpPr>
          <p:nvPr/>
        </p:nvCxnSpPr>
        <p:spPr>
          <a:xfrm rot="16200000" flipH="1">
            <a:off x="14703882" y="5245873"/>
            <a:ext cx="502511" cy="2222938"/>
          </a:xfrm>
          <a:prstGeom prst="bentConnector3">
            <a:avLst/>
          </a:prstGeom>
          <a:ln>
            <a:tailEnd type="triangle"/>
          </a:ln>
        </p:spPr>
        <p:style>
          <a:lnRef idx="2">
            <a:schemeClr val="dk1"/>
          </a:lnRef>
          <a:fillRef idx="0">
            <a:schemeClr val="dk1"/>
          </a:fillRef>
          <a:effectRef idx="1">
            <a:schemeClr val="dk1"/>
          </a:effectRef>
          <a:fontRef idx="minor">
            <a:schemeClr val="tx1"/>
          </a:fontRef>
        </p:style>
      </p:cxnSp>
      <p:cxnSp>
        <p:nvCxnSpPr>
          <p:cNvPr id="29" name="连接符: 肘形 28">
            <a:extLst>
              <a:ext uri="{FF2B5EF4-FFF2-40B4-BE49-F238E27FC236}">
                <a16:creationId xmlns:a16="http://schemas.microsoft.com/office/drawing/2014/main" id="{A8C44DD2-CA2C-1494-87CA-F2A7F6DF72BA}"/>
              </a:ext>
            </a:extLst>
          </p:cNvPr>
          <p:cNvCxnSpPr>
            <a:cxnSpLocks/>
            <a:stCxn id="4" idx="2"/>
            <a:endCxn id="6" idx="0"/>
          </p:cNvCxnSpPr>
          <p:nvPr/>
        </p:nvCxnSpPr>
        <p:spPr>
          <a:xfrm rot="5400000">
            <a:off x="12923552" y="5688484"/>
            <a:ext cx="502511" cy="1337729"/>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31" name="连接符: 肘形 30">
            <a:extLst>
              <a:ext uri="{FF2B5EF4-FFF2-40B4-BE49-F238E27FC236}">
                <a16:creationId xmlns:a16="http://schemas.microsoft.com/office/drawing/2014/main" id="{C7B8DDC4-0CA1-7E0B-37DE-241629A59134}"/>
              </a:ext>
            </a:extLst>
          </p:cNvPr>
          <p:cNvCxnSpPr>
            <a:cxnSpLocks/>
            <a:endCxn id="5" idx="0"/>
          </p:cNvCxnSpPr>
          <p:nvPr/>
        </p:nvCxnSpPr>
        <p:spPr>
          <a:xfrm rot="10800000" flipV="1">
            <a:off x="9642671" y="6353990"/>
            <a:ext cx="4354274" cy="269211"/>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3" name="直接箭头连接符 32">
            <a:extLst>
              <a:ext uri="{FF2B5EF4-FFF2-40B4-BE49-F238E27FC236}">
                <a16:creationId xmlns:a16="http://schemas.microsoft.com/office/drawing/2014/main" id="{97C58708-3174-5CA5-2FD3-B3AE359C316F}"/>
              </a:ext>
            </a:extLst>
          </p:cNvPr>
          <p:cNvCxnSpPr>
            <a:cxnSpLocks/>
            <a:stCxn id="5" idx="2"/>
            <a:endCxn id="34" idx="0"/>
          </p:cNvCxnSpPr>
          <p:nvPr/>
        </p:nvCxnSpPr>
        <p:spPr>
          <a:xfrm>
            <a:off x="9642660" y="7095570"/>
            <a:ext cx="0" cy="6364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矩形: 圆角 33">
            <a:extLst>
              <a:ext uri="{FF2B5EF4-FFF2-40B4-BE49-F238E27FC236}">
                <a16:creationId xmlns:a16="http://schemas.microsoft.com/office/drawing/2014/main" id="{F37F7DB2-663C-2533-3BF9-C45BDAFEEB06}"/>
              </a:ext>
            </a:extLst>
          </p:cNvPr>
          <p:cNvSpPr/>
          <p:nvPr/>
        </p:nvSpPr>
        <p:spPr>
          <a:xfrm>
            <a:off x="8111963" y="7732065"/>
            <a:ext cx="3061404" cy="1978173"/>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36" name="直接箭头连接符 35">
            <a:extLst>
              <a:ext uri="{FF2B5EF4-FFF2-40B4-BE49-F238E27FC236}">
                <a16:creationId xmlns:a16="http://schemas.microsoft.com/office/drawing/2014/main" id="{976EC1B4-C8E2-9D1E-7BE8-9878F3B69C0E}"/>
              </a:ext>
            </a:extLst>
          </p:cNvPr>
          <p:cNvCxnSpPr>
            <a:cxnSpLocks/>
          </p:cNvCxnSpPr>
          <p:nvPr/>
        </p:nvCxnSpPr>
        <p:spPr>
          <a:xfrm>
            <a:off x="8698025" y="9507017"/>
            <a:ext cx="178159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直接箭头连接符 37">
            <a:extLst>
              <a:ext uri="{FF2B5EF4-FFF2-40B4-BE49-F238E27FC236}">
                <a16:creationId xmlns:a16="http://schemas.microsoft.com/office/drawing/2014/main" id="{2D308E0B-79B9-96C4-D57A-00A42B5A13B7}"/>
              </a:ext>
            </a:extLst>
          </p:cNvPr>
          <p:cNvCxnSpPr>
            <a:cxnSpLocks/>
          </p:cNvCxnSpPr>
          <p:nvPr/>
        </p:nvCxnSpPr>
        <p:spPr>
          <a:xfrm flipV="1">
            <a:off x="8698008" y="8185014"/>
            <a:ext cx="0" cy="13220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文本框 39">
            <a:extLst>
              <a:ext uri="{FF2B5EF4-FFF2-40B4-BE49-F238E27FC236}">
                <a16:creationId xmlns:a16="http://schemas.microsoft.com/office/drawing/2014/main" id="{B8504DD5-5063-453C-0842-7A3004288CC4}"/>
              </a:ext>
            </a:extLst>
          </p:cNvPr>
          <p:cNvSpPr txBox="1"/>
          <p:nvPr/>
        </p:nvSpPr>
        <p:spPr>
          <a:xfrm>
            <a:off x="8420698" y="7863996"/>
            <a:ext cx="1026615"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销量</a:t>
            </a:r>
          </a:p>
        </p:txBody>
      </p:sp>
      <p:sp>
        <p:nvSpPr>
          <p:cNvPr id="41" name="文本框 40">
            <a:extLst>
              <a:ext uri="{FF2B5EF4-FFF2-40B4-BE49-F238E27FC236}">
                <a16:creationId xmlns:a16="http://schemas.microsoft.com/office/drawing/2014/main" id="{E6A44257-5390-ABDE-747E-B229EDAEA614}"/>
              </a:ext>
            </a:extLst>
          </p:cNvPr>
          <p:cNvSpPr txBox="1"/>
          <p:nvPr/>
        </p:nvSpPr>
        <p:spPr>
          <a:xfrm>
            <a:off x="10425118" y="9267641"/>
            <a:ext cx="955789"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时间</a:t>
            </a:r>
          </a:p>
        </p:txBody>
      </p:sp>
      <p:sp>
        <p:nvSpPr>
          <p:cNvPr id="44" name="任意多边形: 形状 43">
            <a:extLst>
              <a:ext uri="{FF2B5EF4-FFF2-40B4-BE49-F238E27FC236}">
                <a16:creationId xmlns:a16="http://schemas.microsoft.com/office/drawing/2014/main" id="{C54F382D-897F-5340-626A-AB3D033F0397}"/>
              </a:ext>
            </a:extLst>
          </p:cNvPr>
          <p:cNvSpPr/>
          <p:nvPr/>
        </p:nvSpPr>
        <p:spPr>
          <a:xfrm>
            <a:off x="8856162" y="8716543"/>
            <a:ext cx="1524628" cy="516189"/>
          </a:xfrm>
          <a:custGeom>
            <a:avLst/>
            <a:gdLst>
              <a:gd name="connsiteX0" fmla="*/ 0 w 1856509"/>
              <a:gd name="connsiteY0" fmla="*/ 280429 h 402366"/>
              <a:gd name="connsiteX1" fmla="*/ 94211 w 1856509"/>
              <a:gd name="connsiteY1" fmla="*/ 108633 h 402366"/>
              <a:gd name="connsiteX2" fmla="*/ 365760 w 1856509"/>
              <a:gd name="connsiteY2" fmla="*/ 258262 h 402366"/>
              <a:gd name="connsiteX3" fmla="*/ 698269 w 1856509"/>
              <a:gd name="connsiteY3" fmla="*/ 3338 h 402366"/>
              <a:gd name="connsiteX4" fmla="*/ 1191491 w 1856509"/>
              <a:gd name="connsiteY4" fmla="*/ 402349 h 402366"/>
              <a:gd name="connsiteX5" fmla="*/ 1640378 w 1856509"/>
              <a:gd name="connsiteY5" fmla="*/ 19964 h 402366"/>
              <a:gd name="connsiteX6" fmla="*/ 1856509 w 1856509"/>
              <a:gd name="connsiteY6" fmla="*/ 47673 h 402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509" h="402366">
                <a:moveTo>
                  <a:pt x="0" y="280429"/>
                </a:moveTo>
                <a:cubicBezTo>
                  <a:pt x="16625" y="196378"/>
                  <a:pt x="33251" y="112327"/>
                  <a:pt x="94211" y="108633"/>
                </a:cubicBezTo>
                <a:cubicBezTo>
                  <a:pt x="155171" y="104939"/>
                  <a:pt x="265084" y="275811"/>
                  <a:pt x="365760" y="258262"/>
                </a:cubicBezTo>
                <a:cubicBezTo>
                  <a:pt x="466436" y="240713"/>
                  <a:pt x="560647" y="-20676"/>
                  <a:pt x="698269" y="3338"/>
                </a:cubicBezTo>
                <a:cubicBezTo>
                  <a:pt x="835891" y="27352"/>
                  <a:pt x="1034473" y="399578"/>
                  <a:pt x="1191491" y="402349"/>
                </a:cubicBezTo>
                <a:cubicBezTo>
                  <a:pt x="1348509" y="405120"/>
                  <a:pt x="1529542" y="79077"/>
                  <a:pt x="1640378" y="19964"/>
                </a:cubicBezTo>
                <a:cubicBezTo>
                  <a:pt x="1751214" y="-39149"/>
                  <a:pt x="1809403" y="52291"/>
                  <a:pt x="1856509" y="4767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46" name="箭头: 右 45">
            <a:extLst>
              <a:ext uri="{FF2B5EF4-FFF2-40B4-BE49-F238E27FC236}">
                <a16:creationId xmlns:a16="http://schemas.microsoft.com/office/drawing/2014/main" id="{8B5721AB-3DBF-14A9-3C15-B1F0FC26BB29}"/>
              </a:ext>
            </a:extLst>
          </p:cNvPr>
          <p:cNvSpPr/>
          <p:nvPr/>
        </p:nvSpPr>
        <p:spPr>
          <a:xfrm>
            <a:off x="11178609" y="8757205"/>
            <a:ext cx="591837" cy="207420"/>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48" name="直接箭头连接符 47">
            <a:extLst>
              <a:ext uri="{FF2B5EF4-FFF2-40B4-BE49-F238E27FC236}">
                <a16:creationId xmlns:a16="http://schemas.microsoft.com/office/drawing/2014/main" id="{F8673E6C-0948-E7D4-78F9-E5321F565809}"/>
              </a:ext>
            </a:extLst>
          </p:cNvPr>
          <p:cNvCxnSpPr>
            <a:cxnSpLocks/>
            <a:stCxn id="7" idx="2"/>
            <a:endCxn id="108" idx="0"/>
          </p:cNvCxnSpPr>
          <p:nvPr/>
        </p:nvCxnSpPr>
        <p:spPr>
          <a:xfrm flipH="1">
            <a:off x="16066649" y="7110188"/>
            <a:ext cx="2" cy="59120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1" name="矩形: 圆角 50">
            <a:extLst>
              <a:ext uri="{FF2B5EF4-FFF2-40B4-BE49-F238E27FC236}">
                <a16:creationId xmlns:a16="http://schemas.microsoft.com/office/drawing/2014/main" id="{CF5B2A3C-4F00-9AEF-1249-C2B16E42BE62}"/>
              </a:ext>
            </a:extLst>
          </p:cNvPr>
          <p:cNvSpPr/>
          <p:nvPr/>
        </p:nvSpPr>
        <p:spPr>
          <a:xfrm>
            <a:off x="10194043" y="10204482"/>
            <a:ext cx="1468696" cy="736254"/>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t>[ 0.7 , 1 ]  </a:t>
            </a:r>
          </a:p>
          <a:p>
            <a:pPr algn="ctr"/>
            <a:r>
              <a:rPr lang="zh-CN" altLang="en-US" sz="1868" b="1" dirty="0"/>
              <a:t>强相关</a:t>
            </a:r>
          </a:p>
        </p:txBody>
      </p:sp>
      <p:sp>
        <p:nvSpPr>
          <p:cNvPr id="54" name="矩形: 圆角 53">
            <a:extLst>
              <a:ext uri="{FF2B5EF4-FFF2-40B4-BE49-F238E27FC236}">
                <a16:creationId xmlns:a16="http://schemas.microsoft.com/office/drawing/2014/main" id="{1E272830-79D4-CCFC-DE13-CFB824163325}"/>
              </a:ext>
            </a:extLst>
          </p:cNvPr>
          <p:cNvSpPr/>
          <p:nvPr/>
        </p:nvSpPr>
        <p:spPr>
          <a:xfrm>
            <a:off x="11770412" y="10230412"/>
            <a:ext cx="1518464" cy="736254"/>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t>[ 0.4 , 0.7) </a:t>
            </a:r>
          </a:p>
          <a:p>
            <a:pPr algn="ctr"/>
            <a:r>
              <a:rPr lang="zh-CN" altLang="en-US" sz="1868" b="1" dirty="0"/>
              <a:t>较强相关</a:t>
            </a:r>
          </a:p>
        </p:txBody>
      </p:sp>
      <p:sp>
        <p:nvSpPr>
          <p:cNvPr id="55" name="矩形: 圆角 54">
            <a:extLst>
              <a:ext uri="{FF2B5EF4-FFF2-40B4-BE49-F238E27FC236}">
                <a16:creationId xmlns:a16="http://schemas.microsoft.com/office/drawing/2014/main" id="{762F83F1-E25C-B0EC-64F3-576B5A1D7AE5}"/>
              </a:ext>
            </a:extLst>
          </p:cNvPr>
          <p:cNvSpPr/>
          <p:nvPr/>
        </p:nvSpPr>
        <p:spPr>
          <a:xfrm>
            <a:off x="13436675" y="10206595"/>
            <a:ext cx="1518464" cy="732046"/>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t>[ 0 , 0.4) </a:t>
            </a:r>
          </a:p>
          <a:p>
            <a:pPr algn="ctr"/>
            <a:r>
              <a:rPr lang="zh-CN" altLang="en-US" sz="1868" b="1" dirty="0"/>
              <a:t>弱相关</a:t>
            </a:r>
          </a:p>
        </p:txBody>
      </p:sp>
      <p:sp>
        <p:nvSpPr>
          <p:cNvPr id="108" name="矩形: 圆角 107">
            <a:extLst>
              <a:ext uri="{FF2B5EF4-FFF2-40B4-BE49-F238E27FC236}">
                <a16:creationId xmlns:a16="http://schemas.microsoft.com/office/drawing/2014/main" id="{4E7E6B4F-08BE-7FAC-C5C2-5D6909721A2F}"/>
              </a:ext>
            </a:extLst>
          </p:cNvPr>
          <p:cNvSpPr/>
          <p:nvPr/>
        </p:nvSpPr>
        <p:spPr>
          <a:xfrm>
            <a:off x="15497899" y="7701345"/>
            <a:ext cx="1137393" cy="529440"/>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季节性</a:t>
            </a:r>
          </a:p>
        </p:txBody>
      </p:sp>
      <p:sp>
        <p:nvSpPr>
          <p:cNvPr id="109" name="矩形: 圆角 108">
            <a:extLst>
              <a:ext uri="{FF2B5EF4-FFF2-40B4-BE49-F238E27FC236}">
                <a16:creationId xmlns:a16="http://schemas.microsoft.com/office/drawing/2014/main" id="{D325B6B6-6637-43DE-D66C-EA99CF6C50AA}"/>
              </a:ext>
            </a:extLst>
          </p:cNvPr>
          <p:cNvSpPr/>
          <p:nvPr/>
        </p:nvSpPr>
        <p:spPr>
          <a:xfrm>
            <a:off x="14140151" y="7673423"/>
            <a:ext cx="1137393" cy="529440"/>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常年性</a:t>
            </a:r>
          </a:p>
        </p:txBody>
      </p:sp>
      <p:sp>
        <p:nvSpPr>
          <p:cNvPr id="110" name="矩形: 圆角 109">
            <a:extLst>
              <a:ext uri="{FF2B5EF4-FFF2-40B4-BE49-F238E27FC236}">
                <a16:creationId xmlns:a16="http://schemas.microsoft.com/office/drawing/2014/main" id="{61CCAF60-6533-83BB-B77A-6E3B8BCD6138}"/>
              </a:ext>
            </a:extLst>
          </p:cNvPr>
          <p:cNvSpPr/>
          <p:nvPr/>
        </p:nvSpPr>
        <p:spPr>
          <a:xfrm>
            <a:off x="16855581" y="7677705"/>
            <a:ext cx="1285467" cy="551480"/>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时令性</a:t>
            </a:r>
          </a:p>
        </p:txBody>
      </p:sp>
      <p:sp>
        <p:nvSpPr>
          <p:cNvPr id="120" name="矩形: 圆角 119">
            <a:extLst>
              <a:ext uri="{FF2B5EF4-FFF2-40B4-BE49-F238E27FC236}">
                <a16:creationId xmlns:a16="http://schemas.microsoft.com/office/drawing/2014/main" id="{6BF04B35-0949-9744-78C4-7EF3DFD797F6}"/>
              </a:ext>
            </a:extLst>
          </p:cNvPr>
          <p:cNvSpPr/>
          <p:nvPr/>
        </p:nvSpPr>
        <p:spPr>
          <a:xfrm>
            <a:off x="13539867" y="8496718"/>
            <a:ext cx="5399008" cy="712194"/>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Times New Roman" panose="02020603050405020304" pitchFamily="18" charset="0"/>
                <a:cs typeface="Times New Roman" panose="02020603050405020304" pitchFamily="18" charset="0"/>
              </a:rPr>
              <a:t>Perennial &amp; Seasonal &amp; Short - Term Veg List.xlsx</a:t>
            </a:r>
            <a:endParaRPr lang="zh-CN" altLang="en-US" sz="1868" b="1" dirty="0">
              <a:latin typeface="Times New Roman" panose="02020603050405020304" pitchFamily="18" charset="0"/>
              <a:cs typeface="Times New Roman" panose="02020603050405020304" pitchFamily="18" charset="0"/>
            </a:endParaRPr>
          </a:p>
        </p:txBody>
      </p:sp>
      <p:cxnSp>
        <p:nvCxnSpPr>
          <p:cNvPr id="63" name="直接箭头连接符 62">
            <a:extLst>
              <a:ext uri="{FF2B5EF4-FFF2-40B4-BE49-F238E27FC236}">
                <a16:creationId xmlns:a16="http://schemas.microsoft.com/office/drawing/2014/main" id="{1232252B-F8AB-4C49-42C3-5834F5F766B8}"/>
              </a:ext>
            </a:extLst>
          </p:cNvPr>
          <p:cNvCxnSpPr>
            <a:cxnSpLocks/>
            <a:stCxn id="56" idx="2"/>
          </p:cNvCxnSpPr>
          <p:nvPr/>
        </p:nvCxnSpPr>
        <p:spPr>
          <a:xfrm>
            <a:off x="12529626" y="9243567"/>
            <a:ext cx="0" cy="9858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5" name="直接箭头连接符 84">
            <a:extLst>
              <a:ext uri="{FF2B5EF4-FFF2-40B4-BE49-F238E27FC236}">
                <a16:creationId xmlns:a16="http://schemas.microsoft.com/office/drawing/2014/main" id="{2A97176D-31E2-C61E-7CF8-D3E6B3ACFDA7}"/>
              </a:ext>
            </a:extLst>
          </p:cNvPr>
          <p:cNvCxnSpPr>
            <a:stCxn id="6" idx="2"/>
            <a:endCxn id="56" idx="0"/>
          </p:cNvCxnSpPr>
          <p:nvPr/>
        </p:nvCxnSpPr>
        <p:spPr>
          <a:xfrm>
            <a:off x="12505947" y="7110141"/>
            <a:ext cx="23703" cy="14914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45" name="矩形: 圆角 144">
            <a:extLst>
              <a:ext uri="{FF2B5EF4-FFF2-40B4-BE49-F238E27FC236}">
                <a16:creationId xmlns:a16="http://schemas.microsoft.com/office/drawing/2014/main" id="{606A2642-4630-F02D-55F1-2BEA5C2E7B5B}"/>
              </a:ext>
            </a:extLst>
          </p:cNvPr>
          <p:cNvSpPr/>
          <p:nvPr/>
        </p:nvSpPr>
        <p:spPr>
          <a:xfrm>
            <a:off x="9518004" y="9890109"/>
            <a:ext cx="6023586" cy="2447157"/>
          </a:xfrm>
          <a:prstGeom prst="round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a:p>
        </p:txBody>
      </p:sp>
      <p:sp>
        <p:nvSpPr>
          <p:cNvPr id="150" name="矩形: 圆角 149">
            <a:extLst>
              <a:ext uri="{FF2B5EF4-FFF2-40B4-BE49-F238E27FC236}">
                <a16:creationId xmlns:a16="http://schemas.microsoft.com/office/drawing/2014/main" id="{DC1EA3A0-DE49-BC7F-97D1-3ECF0C0BA18A}"/>
              </a:ext>
            </a:extLst>
          </p:cNvPr>
          <p:cNvSpPr/>
          <p:nvPr/>
        </p:nvSpPr>
        <p:spPr>
          <a:xfrm>
            <a:off x="10972625" y="11279569"/>
            <a:ext cx="3090380" cy="732046"/>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Times New Roman" panose="02020603050405020304" pitchFamily="18" charset="0"/>
                <a:cs typeface="Times New Roman" panose="02020603050405020304" pitchFamily="18" charset="0"/>
              </a:rPr>
              <a:t>Correlated Categories.xlsx</a:t>
            </a:r>
            <a:endParaRPr lang="zh-CN" altLang="en-US" sz="1868" b="1" dirty="0">
              <a:latin typeface="Times New Roman" panose="02020603050405020304" pitchFamily="18" charset="0"/>
              <a:cs typeface="Times New Roman" panose="02020603050405020304" pitchFamily="18" charset="0"/>
            </a:endParaRPr>
          </a:p>
        </p:txBody>
      </p:sp>
      <p:sp>
        <p:nvSpPr>
          <p:cNvPr id="151" name="矩形: 圆角 150">
            <a:extLst>
              <a:ext uri="{FF2B5EF4-FFF2-40B4-BE49-F238E27FC236}">
                <a16:creationId xmlns:a16="http://schemas.microsoft.com/office/drawing/2014/main" id="{4D9FD1C0-C539-50AF-7C12-4FE79D58B8A8}"/>
              </a:ext>
            </a:extLst>
          </p:cNvPr>
          <p:cNvSpPr/>
          <p:nvPr/>
        </p:nvSpPr>
        <p:spPr>
          <a:xfrm>
            <a:off x="13430921" y="7501154"/>
            <a:ext cx="5621452" cy="1892260"/>
          </a:xfrm>
          <a:prstGeom prst="round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a:p>
        </p:txBody>
      </p:sp>
      <p:cxnSp>
        <p:nvCxnSpPr>
          <p:cNvPr id="9" name="连接符: 肘形 8">
            <a:extLst>
              <a:ext uri="{FF2B5EF4-FFF2-40B4-BE49-F238E27FC236}">
                <a16:creationId xmlns:a16="http://schemas.microsoft.com/office/drawing/2014/main" id="{38CA124C-6F98-4844-9089-1E5F061947C8}"/>
              </a:ext>
            </a:extLst>
          </p:cNvPr>
          <p:cNvCxnSpPr>
            <a:cxnSpLocks/>
            <a:stCxn id="8" idx="2"/>
            <a:endCxn id="145" idx="3"/>
          </p:cNvCxnSpPr>
          <p:nvPr/>
        </p:nvCxnSpPr>
        <p:spPr>
          <a:xfrm rot="5400000">
            <a:off x="15539400" y="7115667"/>
            <a:ext cx="4000227" cy="3995845"/>
          </a:xfrm>
          <a:prstGeom prst="bentConnector2">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47478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FAEE8D2-C5EA-D050-E7D8-21D05A242C0F}"/>
              </a:ext>
            </a:extLst>
          </p:cNvPr>
          <p:cNvSpPr txBox="1"/>
          <p:nvPr/>
        </p:nvSpPr>
        <p:spPr>
          <a:xfrm>
            <a:off x="9008181" y="5811074"/>
            <a:ext cx="5667057" cy="6182142"/>
          </a:xfrm>
          <a:prstGeom prst="rect">
            <a:avLst/>
          </a:prstGeom>
          <a:noFill/>
        </p:spPr>
        <p:txBody>
          <a:bodyPr wrap="square" rtlCol="0">
            <a:spAutoFit/>
          </a:bodyPr>
          <a:lstStyle/>
          <a:p>
            <a:r>
              <a:rPr lang="zh-CN" altLang="zh-CN" sz="1583" dirty="0"/>
              <a:t>需要分析蔬菜商品分布规律及相互关系，商品又分为</a:t>
            </a:r>
            <a:r>
              <a:rPr lang="en-US" altLang="zh-CN" sz="1583" dirty="0"/>
              <a:t>6</a:t>
            </a:r>
            <a:r>
              <a:rPr lang="zh-CN" altLang="zh-CN" sz="1583" dirty="0"/>
              <a:t>个品类，每个品类又细分为各项单品，研究出品类的分布规律和相互关系，则单品只需再次执行步骤即可分析。</a:t>
            </a:r>
          </a:p>
          <a:p>
            <a:pPr lvl="0"/>
            <a:r>
              <a:rPr lang="zh-CN" altLang="zh-CN" sz="1583" dirty="0"/>
              <a:t>首先研究各品类的分布规律及相互关系，需要把附件</a:t>
            </a:r>
            <a:r>
              <a:rPr lang="en-US" altLang="zh-CN" sz="1583" dirty="0"/>
              <a:t>2</a:t>
            </a:r>
            <a:r>
              <a:rPr lang="zh-CN" altLang="zh-CN" sz="1583" dirty="0"/>
              <a:t>中的单品对应附件</a:t>
            </a:r>
            <a:r>
              <a:rPr lang="en-US" altLang="zh-CN" sz="1583" dirty="0"/>
              <a:t>1</a:t>
            </a:r>
            <a:r>
              <a:rPr lang="zh-CN" altLang="zh-CN" sz="1583" dirty="0"/>
              <a:t>中的品类，根据品类合并分析。</a:t>
            </a:r>
            <a:endParaRPr lang="en-US" altLang="zh-CN" sz="1583" dirty="0"/>
          </a:p>
          <a:p>
            <a:pPr lvl="0"/>
            <a:endParaRPr lang="zh-CN" altLang="zh-CN" sz="1583" dirty="0"/>
          </a:p>
          <a:p>
            <a:pPr lvl="0"/>
            <a:r>
              <a:rPr lang="zh-CN" altLang="zh-CN" sz="1583" dirty="0"/>
              <a:t>对于各品类的分布规律，需要整合各品类的销售量，得出各品类销售量的时间序列表格，再进行可视化分析，根据图表得出各品类的分布规律。</a:t>
            </a:r>
            <a:endParaRPr lang="en-US" altLang="zh-CN" sz="1583" dirty="0"/>
          </a:p>
          <a:p>
            <a:pPr lvl="0"/>
            <a:endParaRPr lang="zh-CN" altLang="zh-CN" sz="1583" dirty="0"/>
          </a:p>
          <a:p>
            <a:pPr lvl="0"/>
            <a:r>
              <a:rPr lang="zh-CN" altLang="zh-CN" sz="1583" dirty="0"/>
              <a:t>对于各品类的相互关系，需要根据各品类随时间的销售量求出品类间的相关系数，确定哪些品类间存在强相关或较强相关关系。</a:t>
            </a:r>
            <a:endParaRPr lang="en-US" altLang="zh-CN" sz="1583" dirty="0"/>
          </a:p>
          <a:p>
            <a:pPr lvl="0"/>
            <a:endParaRPr lang="zh-CN" altLang="zh-CN" sz="1583" dirty="0"/>
          </a:p>
          <a:p>
            <a:pPr lvl="0"/>
            <a:r>
              <a:rPr lang="zh-CN" altLang="zh-CN" sz="1583" dirty="0"/>
              <a:t>随后研究各单品的分布规律及相关关系</a:t>
            </a:r>
            <a:endParaRPr lang="en-US" altLang="zh-CN" sz="1583" dirty="0"/>
          </a:p>
          <a:p>
            <a:pPr lvl="0"/>
            <a:endParaRPr lang="zh-CN" altLang="zh-CN" sz="1583" dirty="0"/>
          </a:p>
          <a:p>
            <a:pPr lvl="0"/>
            <a:r>
              <a:rPr lang="zh-CN" altLang="zh-CN" sz="1583" dirty="0"/>
              <a:t>对于各单品的分布规律，需要整合各单品的销售量，得出各单品销售量的时间序列表格，再进行可视化分析，根据图表得出各品类的分布规律。根据售卖时间可将各单品分为常年性蔬菜，时令性蔬菜和季节性蔬菜等。</a:t>
            </a:r>
            <a:endParaRPr lang="en-US" altLang="zh-CN" sz="1583" dirty="0"/>
          </a:p>
          <a:p>
            <a:pPr lvl="0"/>
            <a:endParaRPr lang="zh-CN" altLang="zh-CN" sz="1583" dirty="0"/>
          </a:p>
          <a:p>
            <a:pPr lvl="0"/>
            <a:r>
              <a:rPr lang="zh-CN" altLang="zh-CN" sz="1583" dirty="0"/>
              <a:t>对于各单品的相互关系，需要根据各单品随时间的销售量求出单品间的相关系数，确定哪些单品间存在强相关或较强相关关系。</a:t>
            </a:r>
          </a:p>
          <a:p>
            <a:endParaRPr lang="zh-CN" altLang="en-US" sz="1583" dirty="0"/>
          </a:p>
        </p:txBody>
      </p:sp>
    </p:spTree>
    <p:extLst>
      <p:ext uri="{BB962C8B-B14F-4D97-AF65-F5344CB8AC3E}">
        <p14:creationId xmlns:p14="http://schemas.microsoft.com/office/powerpoint/2010/main" val="280214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A2889297-E62C-001B-28C9-8E00DB3FB486}"/>
              </a:ext>
            </a:extLst>
          </p:cNvPr>
          <p:cNvSpPr/>
          <p:nvPr/>
        </p:nvSpPr>
        <p:spPr>
          <a:xfrm>
            <a:off x="12061415" y="5068669"/>
            <a:ext cx="3658806"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日补货总量和定价策略</a:t>
            </a:r>
          </a:p>
        </p:txBody>
      </p:sp>
      <p:sp>
        <p:nvSpPr>
          <p:cNvPr id="5" name="矩形: 圆角 4">
            <a:extLst>
              <a:ext uri="{FF2B5EF4-FFF2-40B4-BE49-F238E27FC236}">
                <a16:creationId xmlns:a16="http://schemas.microsoft.com/office/drawing/2014/main" id="{5F44B5D4-B689-1570-919A-4FD111EFC516}"/>
              </a:ext>
            </a:extLst>
          </p:cNvPr>
          <p:cNvSpPr/>
          <p:nvPr/>
        </p:nvSpPr>
        <p:spPr>
          <a:xfrm>
            <a:off x="12369763" y="5876349"/>
            <a:ext cx="1521076"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补货</a:t>
            </a: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策</a:t>
            </a:r>
            <a:r>
              <a:rPr lang="zh-CN" altLang="en-US" sz="1868" b="1" dirty="0">
                <a:latin typeface="宋体" panose="02010600030101010101" pitchFamily="2" charset="-122"/>
                <a:ea typeface="宋体" panose="02010600030101010101" pitchFamily="2" charset="-122"/>
              </a:rPr>
              <a:t>略</a:t>
            </a:r>
          </a:p>
        </p:txBody>
      </p:sp>
      <p:sp>
        <p:nvSpPr>
          <p:cNvPr id="6" name="矩形: 圆角 5">
            <a:extLst>
              <a:ext uri="{FF2B5EF4-FFF2-40B4-BE49-F238E27FC236}">
                <a16:creationId xmlns:a16="http://schemas.microsoft.com/office/drawing/2014/main" id="{3342803B-B532-3F00-DEB2-28B58F7C24B8}"/>
              </a:ext>
            </a:extLst>
          </p:cNvPr>
          <p:cNvSpPr/>
          <p:nvPr/>
        </p:nvSpPr>
        <p:spPr>
          <a:xfrm>
            <a:off x="12369734" y="6574832"/>
            <a:ext cx="7840118" cy="6195127"/>
          </a:xfrm>
          <a:prstGeom prst="roundRect">
            <a:avLst>
              <a:gd name="adj" fmla="val 6057"/>
            </a:avLst>
          </a:prstGeom>
          <a:solidFill>
            <a:srgbClr val="D65DB1">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b="1" dirty="0">
              <a:latin typeface="宋体" panose="02010600030101010101" pitchFamily="2" charset="-122"/>
              <a:ea typeface="宋体" panose="02010600030101010101" pitchFamily="2" charset="-122"/>
            </a:endParaRPr>
          </a:p>
        </p:txBody>
      </p:sp>
      <p:sp>
        <p:nvSpPr>
          <p:cNvPr id="7" name="矩形: 圆角 6">
            <a:extLst>
              <a:ext uri="{FF2B5EF4-FFF2-40B4-BE49-F238E27FC236}">
                <a16:creationId xmlns:a16="http://schemas.microsoft.com/office/drawing/2014/main" id="{D53C3A19-659D-081B-4AA1-59818744D512}"/>
              </a:ext>
            </a:extLst>
          </p:cNvPr>
          <p:cNvSpPr/>
          <p:nvPr/>
        </p:nvSpPr>
        <p:spPr>
          <a:xfrm>
            <a:off x="8490562" y="5730554"/>
            <a:ext cx="3061404" cy="2475399"/>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8" name="直接箭头连接符 7">
            <a:extLst>
              <a:ext uri="{FF2B5EF4-FFF2-40B4-BE49-F238E27FC236}">
                <a16:creationId xmlns:a16="http://schemas.microsoft.com/office/drawing/2014/main" id="{D48EB42F-1648-3F2F-2869-BD28FD581047}"/>
              </a:ext>
            </a:extLst>
          </p:cNvPr>
          <p:cNvCxnSpPr>
            <a:cxnSpLocks/>
          </p:cNvCxnSpPr>
          <p:nvPr/>
        </p:nvCxnSpPr>
        <p:spPr>
          <a:xfrm>
            <a:off x="9076623" y="8002767"/>
            <a:ext cx="178159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直接箭头连接符 8">
            <a:extLst>
              <a:ext uri="{FF2B5EF4-FFF2-40B4-BE49-F238E27FC236}">
                <a16:creationId xmlns:a16="http://schemas.microsoft.com/office/drawing/2014/main" id="{90752EB7-71FD-816A-C703-F9F12AD7E42A}"/>
              </a:ext>
            </a:extLst>
          </p:cNvPr>
          <p:cNvCxnSpPr>
            <a:cxnSpLocks/>
          </p:cNvCxnSpPr>
          <p:nvPr/>
        </p:nvCxnSpPr>
        <p:spPr>
          <a:xfrm flipV="1">
            <a:off x="9076606" y="6680766"/>
            <a:ext cx="0" cy="132201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文本框 9">
            <a:extLst>
              <a:ext uri="{FF2B5EF4-FFF2-40B4-BE49-F238E27FC236}">
                <a16:creationId xmlns:a16="http://schemas.microsoft.com/office/drawing/2014/main" id="{70475263-F279-991D-745D-35D9AB606F24}"/>
              </a:ext>
            </a:extLst>
          </p:cNvPr>
          <p:cNvSpPr txBox="1"/>
          <p:nvPr/>
        </p:nvSpPr>
        <p:spPr>
          <a:xfrm>
            <a:off x="8318585" y="6301574"/>
            <a:ext cx="1702715"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各品类销量</a:t>
            </a:r>
          </a:p>
        </p:txBody>
      </p:sp>
      <p:sp>
        <p:nvSpPr>
          <p:cNvPr id="11" name="文本框 10">
            <a:extLst>
              <a:ext uri="{FF2B5EF4-FFF2-40B4-BE49-F238E27FC236}">
                <a16:creationId xmlns:a16="http://schemas.microsoft.com/office/drawing/2014/main" id="{3966E5E5-9A6A-B00D-BAA0-B9A5C03F3004}"/>
              </a:ext>
            </a:extLst>
          </p:cNvPr>
          <p:cNvSpPr txBox="1"/>
          <p:nvPr/>
        </p:nvSpPr>
        <p:spPr>
          <a:xfrm>
            <a:off x="10803724" y="7763400"/>
            <a:ext cx="692719"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时间</a:t>
            </a:r>
          </a:p>
        </p:txBody>
      </p:sp>
      <p:sp>
        <p:nvSpPr>
          <p:cNvPr id="12" name="任意多边形: 形状 11">
            <a:extLst>
              <a:ext uri="{FF2B5EF4-FFF2-40B4-BE49-F238E27FC236}">
                <a16:creationId xmlns:a16="http://schemas.microsoft.com/office/drawing/2014/main" id="{B95DCCAB-384D-C3A4-7DAA-734D0C115101}"/>
              </a:ext>
            </a:extLst>
          </p:cNvPr>
          <p:cNvSpPr/>
          <p:nvPr/>
        </p:nvSpPr>
        <p:spPr>
          <a:xfrm>
            <a:off x="9234756" y="7212291"/>
            <a:ext cx="1524628" cy="516189"/>
          </a:xfrm>
          <a:custGeom>
            <a:avLst/>
            <a:gdLst>
              <a:gd name="connsiteX0" fmla="*/ 0 w 1856509"/>
              <a:gd name="connsiteY0" fmla="*/ 280429 h 402366"/>
              <a:gd name="connsiteX1" fmla="*/ 94211 w 1856509"/>
              <a:gd name="connsiteY1" fmla="*/ 108633 h 402366"/>
              <a:gd name="connsiteX2" fmla="*/ 365760 w 1856509"/>
              <a:gd name="connsiteY2" fmla="*/ 258262 h 402366"/>
              <a:gd name="connsiteX3" fmla="*/ 698269 w 1856509"/>
              <a:gd name="connsiteY3" fmla="*/ 3338 h 402366"/>
              <a:gd name="connsiteX4" fmla="*/ 1191491 w 1856509"/>
              <a:gd name="connsiteY4" fmla="*/ 402349 h 402366"/>
              <a:gd name="connsiteX5" fmla="*/ 1640378 w 1856509"/>
              <a:gd name="connsiteY5" fmla="*/ 19964 h 402366"/>
              <a:gd name="connsiteX6" fmla="*/ 1856509 w 1856509"/>
              <a:gd name="connsiteY6" fmla="*/ 47673 h 402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56509" h="402366">
                <a:moveTo>
                  <a:pt x="0" y="280429"/>
                </a:moveTo>
                <a:cubicBezTo>
                  <a:pt x="16625" y="196378"/>
                  <a:pt x="33251" y="112327"/>
                  <a:pt x="94211" y="108633"/>
                </a:cubicBezTo>
                <a:cubicBezTo>
                  <a:pt x="155171" y="104939"/>
                  <a:pt x="265084" y="275811"/>
                  <a:pt x="365760" y="258262"/>
                </a:cubicBezTo>
                <a:cubicBezTo>
                  <a:pt x="466436" y="240713"/>
                  <a:pt x="560647" y="-20676"/>
                  <a:pt x="698269" y="3338"/>
                </a:cubicBezTo>
                <a:cubicBezTo>
                  <a:pt x="835891" y="27352"/>
                  <a:pt x="1034473" y="399578"/>
                  <a:pt x="1191491" y="402349"/>
                </a:cubicBezTo>
                <a:cubicBezTo>
                  <a:pt x="1348509" y="405120"/>
                  <a:pt x="1529542" y="79077"/>
                  <a:pt x="1640378" y="19964"/>
                </a:cubicBezTo>
                <a:cubicBezTo>
                  <a:pt x="1751214" y="-39149"/>
                  <a:pt x="1809403" y="52291"/>
                  <a:pt x="1856509" y="4767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13" name="文本框 12">
            <a:extLst>
              <a:ext uri="{FF2B5EF4-FFF2-40B4-BE49-F238E27FC236}">
                <a16:creationId xmlns:a16="http://schemas.microsoft.com/office/drawing/2014/main" id="{39CDC56C-75FB-82E2-825A-01568539A573}"/>
              </a:ext>
            </a:extLst>
          </p:cNvPr>
          <p:cNvSpPr txBox="1"/>
          <p:nvPr/>
        </p:nvSpPr>
        <p:spPr>
          <a:xfrm>
            <a:off x="8962848" y="5876339"/>
            <a:ext cx="2009188" cy="379784"/>
          </a:xfrm>
          <a:prstGeom prst="rect">
            <a:avLst/>
          </a:prstGeom>
          <a:noFill/>
        </p:spPr>
        <p:txBody>
          <a:bodyPr wrap="square" rtlCol="0">
            <a:spAutoFit/>
          </a:bodyPr>
          <a:lstStyle/>
          <a:p>
            <a:pPr algn="ctr"/>
            <a:r>
              <a:rPr lang="zh-CN" altLang="en-US" sz="1868" dirty="0">
                <a:latin typeface="宋体" panose="02010600030101010101" pitchFamily="2" charset="-122"/>
                <a:ea typeface="宋体" panose="02010600030101010101" pitchFamily="2" charset="-122"/>
              </a:rPr>
              <a:t>前置数据处理</a:t>
            </a:r>
          </a:p>
        </p:txBody>
      </p:sp>
      <p:sp>
        <p:nvSpPr>
          <p:cNvPr id="15" name="任意多边形: 形状 14">
            <a:extLst>
              <a:ext uri="{FF2B5EF4-FFF2-40B4-BE49-F238E27FC236}">
                <a16:creationId xmlns:a16="http://schemas.microsoft.com/office/drawing/2014/main" id="{BC327CFE-3659-F0FC-F435-7BFCFDA29FB8}"/>
              </a:ext>
            </a:extLst>
          </p:cNvPr>
          <p:cNvSpPr/>
          <p:nvPr/>
        </p:nvSpPr>
        <p:spPr>
          <a:xfrm>
            <a:off x="9214518" y="7109996"/>
            <a:ext cx="1603607" cy="601370"/>
          </a:xfrm>
          <a:custGeom>
            <a:avLst/>
            <a:gdLst>
              <a:gd name="connsiteX0" fmla="*/ 0 w 1546167"/>
              <a:gd name="connsiteY0" fmla="*/ 0 h 579829"/>
              <a:gd name="connsiteX1" fmla="*/ 310342 w 1546167"/>
              <a:gd name="connsiteY1" fmla="*/ 576349 h 579829"/>
              <a:gd name="connsiteX2" fmla="*/ 565265 w 1546167"/>
              <a:gd name="connsiteY2" fmla="*/ 232756 h 579829"/>
              <a:gd name="connsiteX3" fmla="*/ 803564 w 1546167"/>
              <a:gd name="connsiteY3" fmla="*/ 60960 h 579829"/>
              <a:gd name="connsiteX4" fmla="*/ 914400 w 1546167"/>
              <a:gd name="connsiteY4" fmla="*/ 171796 h 579829"/>
              <a:gd name="connsiteX5" fmla="*/ 1136073 w 1546167"/>
              <a:gd name="connsiteY5" fmla="*/ 44335 h 579829"/>
              <a:gd name="connsiteX6" fmla="*/ 1302327 w 1546167"/>
              <a:gd name="connsiteY6" fmla="*/ 443346 h 579829"/>
              <a:gd name="connsiteX7" fmla="*/ 1546167 w 1546167"/>
              <a:gd name="connsiteY7" fmla="*/ 271549 h 579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6167" h="579829">
                <a:moveTo>
                  <a:pt x="0" y="0"/>
                </a:moveTo>
                <a:cubicBezTo>
                  <a:pt x="108065" y="268778"/>
                  <a:pt x="216131" y="537556"/>
                  <a:pt x="310342" y="576349"/>
                </a:cubicBezTo>
                <a:cubicBezTo>
                  <a:pt x="404553" y="615142"/>
                  <a:pt x="483061" y="318654"/>
                  <a:pt x="565265" y="232756"/>
                </a:cubicBezTo>
                <a:cubicBezTo>
                  <a:pt x="647469" y="146858"/>
                  <a:pt x="745375" y="71120"/>
                  <a:pt x="803564" y="60960"/>
                </a:cubicBezTo>
                <a:cubicBezTo>
                  <a:pt x="861753" y="50800"/>
                  <a:pt x="858982" y="174567"/>
                  <a:pt x="914400" y="171796"/>
                </a:cubicBezTo>
                <a:cubicBezTo>
                  <a:pt x="969818" y="169025"/>
                  <a:pt x="1071419" y="-923"/>
                  <a:pt x="1136073" y="44335"/>
                </a:cubicBezTo>
                <a:cubicBezTo>
                  <a:pt x="1200727" y="89593"/>
                  <a:pt x="1233978" y="405477"/>
                  <a:pt x="1302327" y="443346"/>
                </a:cubicBezTo>
                <a:cubicBezTo>
                  <a:pt x="1370676" y="481215"/>
                  <a:pt x="1488902" y="277091"/>
                  <a:pt x="1546167" y="271549"/>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868"/>
          </a:p>
        </p:txBody>
      </p:sp>
      <p:sp>
        <p:nvSpPr>
          <p:cNvPr id="16" name="矩形: 圆角 15">
            <a:extLst>
              <a:ext uri="{FF2B5EF4-FFF2-40B4-BE49-F238E27FC236}">
                <a16:creationId xmlns:a16="http://schemas.microsoft.com/office/drawing/2014/main" id="{E15E57C6-5B45-289B-7E12-753CAFC8549C}"/>
              </a:ext>
            </a:extLst>
          </p:cNvPr>
          <p:cNvSpPr/>
          <p:nvPr/>
        </p:nvSpPr>
        <p:spPr>
          <a:xfrm>
            <a:off x="9017943" y="5834860"/>
            <a:ext cx="1954075" cy="497584"/>
          </a:xfrm>
          <a:prstGeom prst="round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a:p>
        </p:txBody>
      </p:sp>
      <p:sp>
        <p:nvSpPr>
          <p:cNvPr id="17" name="箭头: 右 16">
            <a:extLst>
              <a:ext uri="{FF2B5EF4-FFF2-40B4-BE49-F238E27FC236}">
                <a16:creationId xmlns:a16="http://schemas.microsoft.com/office/drawing/2014/main" id="{515A8501-59CF-A675-4F4E-9771D74C7185}"/>
              </a:ext>
            </a:extLst>
          </p:cNvPr>
          <p:cNvSpPr/>
          <p:nvPr/>
        </p:nvSpPr>
        <p:spPr>
          <a:xfrm>
            <a:off x="11546065" y="6037444"/>
            <a:ext cx="823700"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18" name="箭头: 右 17">
            <a:extLst>
              <a:ext uri="{FF2B5EF4-FFF2-40B4-BE49-F238E27FC236}">
                <a16:creationId xmlns:a16="http://schemas.microsoft.com/office/drawing/2014/main" id="{FFD5C9C7-18A6-3847-5707-A73B71095FC2}"/>
              </a:ext>
            </a:extLst>
          </p:cNvPr>
          <p:cNvSpPr/>
          <p:nvPr/>
        </p:nvSpPr>
        <p:spPr>
          <a:xfrm>
            <a:off x="11536486" y="7629119"/>
            <a:ext cx="823546" cy="164466"/>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21" name="矩形: 圆角 20">
            <a:extLst>
              <a:ext uri="{FF2B5EF4-FFF2-40B4-BE49-F238E27FC236}">
                <a16:creationId xmlns:a16="http://schemas.microsoft.com/office/drawing/2014/main" id="{2E022FC1-DCC8-29AF-3A40-4D3D2D1B6E3C}"/>
              </a:ext>
            </a:extLst>
          </p:cNvPr>
          <p:cNvSpPr/>
          <p:nvPr/>
        </p:nvSpPr>
        <p:spPr>
          <a:xfrm>
            <a:off x="16179064" y="5884173"/>
            <a:ext cx="1868887" cy="479468"/>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Times New Roman" panose="02020603050405020304" pitchFamily="18" charset="0"/>
                <a:cs typeface="Times New Roman" panose="02020603050405020304" pitchFamily="18" charset="0"/>
              </a:rPr>
              <a:t>SARIMA</a:t>
            </a:r>
            <a:r>
              <a:rPr lang="zh-CN" altLang="zh-CN" sz="1868" b="1" dirty="0">
                <a:latin typeface="宋体" panose="02010600030101010101" pitchFamily="2" charset="-122"/>
                <a:ea typeface="宋体" panose="02010600030101010101" pitchFamily="2" charset="-122"/>
              </a:rPr>
              <a:t>模型</a:t>
            </a:r>
            <a:endParaRPr lang="zh-CN" altLang="en-US" sz="1868" b="1" dirty="0">
              <a:latin typeface="宋体" panose="02010600030101010101" pitchFamily="2" charset="-122"/>
              <a:ea typeface="宋体" panose="02010600030101010101" pitchFamily="2" charset="-122"/>
            </a:endParaRPr>
          </a:p>
        </p:txBody>
      </p:sp>
      <p:sp>
        <p:nvSpPr>
          <p:cNvPr id="22" name="矩形: 圆角 21">
            <a:extLst>
              <a:ext uri="{FF2B5EF4-FFF2-40B4-BE49-F238E27FC236}">
                <a16:creationId xmlns:a16="http://schemas.microsoft.com/office/drawing/2014/main" id="{A93187C2-6143-A006-D66D-34236D39CA5C}"/>
              </a:ext>
            </a:extLst>
          </p:cNvPr>
          <p:cNvSpPr/>
          <p:nvPr/>
        </p:nvSpPr>
        <p:spPr>
          <a:xfrm>
            <a:off x="14282867" y="5876338"/>
            <a:ext cx="1504080" cy="487296"/>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cs typeface="Times New Roman" panose="02020603050405020304" pitchFamily="18" charset="0"/>
              </a:rPr>
              <a:t>预测销量</a:t>
            </a:r>
          </a:p>
        </p:txBody>
      </p:sp>
      <p:cxnSp>
        <p:nvCxnSpPr>
          <p:cNvPr id="24" name="直接箭头连接符 23">
            <a:extLst>
              <a:ext uri="{FF2B5EF4-FFF2-40B4-BE49-F238E27FC236}">
                <a16:creationId xmlns:a16="http://schemas.microsoft.com/office/drawing/2014/main" id="{13B88E1C-2669-36B2-1529-06100F06BCA3}"/>
              </a:ext>
            </a:extLst>
          </p:cNvPr>
          <p:cNvCxnSpPr>
            <a:stCxn id="5" idx="3"/>
            <a:endCxn id="22" idx="1"/>
          </p:cNvCxnSpPr>
          <p:nvPr/>
        </p:nvCxnSpPr>
        <p:spPr>
          <a:xfrm>
            <a:off x="13890826" y="6112521"/>
            <a:ext cx="392067" cy="74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5" name="直接箭头连接符 24">
            <a:extLst>
              <a:ext uri="{FF2B5EF4-FFF2-40B4-BE49-F238E27FC236}">
                <a16:creationId xmlns:a16="http://schemas.microsoft.com/office/drawing/2014/main" id="{6B988358-ACDE-2918-1610-78D924A58DA5}"/>
              </a:ext>
            </a:extLst>
          </p:cNvPr>
          <p:cNvCxnSpPr>
            <a:cxnSpLocks/>
            <a:stCxn id="22" idx="3"/>
            <a:endCxn id="21" idx="1"/>
          </p:cNvCxnSpPr>
          <p:nvPr/>
        </p:nvCxnSpPr>
        <p:spPr>
          <a:xfrm>
            <a:off x="15786970" y="6119988"/>
            <a:ext cx="392067" cy="391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矩形: 圆角 33">
            <a:extLst>
              <a:ext uri="{FF2B5EF4-FFF2-40B4-BE49-F238E27FC236}">
                <a16:creationId xmlns:a16="http://schemas.microsoft.com/office/drawing/2014/main" id="{574999C7-B0A7-C796-7053-680670834112}"/>
              </a:ext>
            </a:extLst>
          </p:cNvPr>
          <p:cNvSpPr/>
          <p:nvPr/>
        </p:nvSpPr>
        <p:spPr>
          <a:xfrm>
            <a:off x="14551905" y="7394942"/>
            <a:ext cx="3254294" cy="690733"/>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模拟退火</a:t>
            </a:r>
            <a:endParaRPr lang="en-US" altLang="zh-CN" sz="1868" b="1" dirty="0">
              <a:latin typeface="宋体" panose="02010600030101010101" pitchFamily="2" charset="-122"/>
              <a:ea typeface="宋体" panose="02010600030101010101" pitchFamily="2" charset="-122"/>
            </a:endParaRPr>
          </a:p>
          <a:p>
            <a:pPr algn="ctr"/>
            <a:r>
              <a:rPr lang="zh-CN" altLang="zh-CN" sz="1868" b="1" dirty="0">
                <a:latin typeface="宋体" panose="02010600030101010101" pitchFamily="2" charset="-122"/>
                <a:ea typeface="宋体" panose="02010600030101010101" pitchFamily="2" charset="-122"/>
              </a:rPr>
              <a:t>收益关于定价的函数</a:t>
            </a:r>
            <a:endParaRPr lang="zh-CN" altLang="en-US" sz="1868"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36" name="矩形: 圆角 35">
            <a:extLst>
              <a:ext uri="{FF2B5EF4-FFF2-40B4-BE49-F238E27FC236}">
                <a16:creationId xmlns:a16="http://schemas.microsoft.com/office/drawing/2014/main" id="{247153AD-6C4D-8A9F-9E4C-946594657DBC}"/>
              </a:ext>
            </a:extLst>
          </p:cNvPr>
          <p:cNvSpPr/>
          <p:nvPr/>
        </p:nvSpPr>
        <p:spPr>
          <a:xfrm>
            <a:off x="17316638" y="9343246"/>
            <a:ext cx="2306945" cy="824309"/>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限制条件</a:t>
            </a: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销售量范围</a:t>
            </a: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36">
            <a:extLst>
              <a:ext uri="{FF2B5EF4-FFF2-40B4-BE49-F238E27FC236}">
                <a16:creationId xmlns:a16="http://schemas.microsoft.com/office/drawing/2014/main" id="{8A557AA8-6CD0-D7C8-3D9D-8347CEA42331}"/>
              </a:ext>
            </a:extLst>
          </p:cNvPr>
          <p:cNvSpPr txBox="1"/>
          <p:nvPr/>
        </p:nvSpPr>
        <p:spPr>
          <a:xfrm>
            <a:off x="15492172" y="6803963"/>
            <a:ext cx="1373699" cy="411651"/>
          </a:xfrm>
          <a:prstGeom prst="rect">
            <a:avLst/>
          </a:prstGeom>
          <a:noFill/>
        </p:spPr>
        <p:txBody>
          <a:bodyPr wrap="square" rtlCol="0">
            <a:spAutoFit/>
          </a:bodyPr>
          <a:lstStyle/>
          <a:p>
            <a:r>
              <a:rPr lang="zh-CN" altLang="en-US" sz="2075" dirty="0"/>
              <a:t>定价策略</a:t>
            </a:r>
          </a:p>
        </p:txBody>
      </p:sp>
      <p:sp>
        <p:nvSpPr>
          <p:cNvPr id="38" name="矩形: 圆角 37">
            <a:extLst>
              <a:ext uri="{FF2B5EF4-FFF2-40B4-BE49-F238E27FC236}">
                <a16:creationId xmlns:a16="http://schemas.microsoft.com/office/drawing/2014/main" id="{AF1DB3D7-A6F2-1994-A304-052B4369B961}"/>
              </a:ext>
            </a:extLst>
          </p:cNvPr>
          <p:cNvSpPr/>
          <p:nvPr/>
        </p:nvSpPr>
        <p:spPr>
          <a:xfrm>
            <a:off x="17678750" y="11145180"/>
            <a:ext cx="1582735" cy="566221"/>
          </a:xfrm>
          <a:prstGeom prst="roundRect">
            <a:avLst/>
          </a:prstGeom>
          <a:solidFill>
            <a:srgbClr val="00C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线性回归</a:t>
            </a:r>
            <a:endParaRPr lang="zh-CN" altLang="en-US" sz="1868" b="1" dirty="0">
              <a:latin typeface="宋体" panose="02010600030101010101" pitchFamily="2" charset="-122"/>
              <a:ea typeface="宋体" panose="02010600030101010101" pitchFamily="2" charset="-122"/>
            </a:endParaRPr>
          </a:p>
        </p:txBody>
      </p:sp>
      <p:sp>
        <p:nvSpPr>
          <p:cNvPr id="39" name="矩形: 圆角 38">
            <a:extLst>
              <a:ext uri="{FF2B5EF4-FFF2-40B4-BE49-F238E27FC236}">
                <a16:creationId xmlns:a16="http://schemas.microsoft.com/office/drawing/2014/main" id="{F2FBCF5C-10CE-2444-3B62-BF1E5532E381}"/>
              </a:ext>
            </a:extLst>
          </p:cNvPr>
          <p:cNvSpPr/>
          <p:nvPr/>
        </p:nvSpPr>
        <p:spPr>
          <a:xfrm>
            <a:off x="17356882" y="10352876"/>
            <a:ext cx="2226477" cy="566221"/>
          </a:xfrm>
          <a:prstGeom prst="roundRect">
            <a:avLst/>
          </a:prstGeom>
          <a:solidFill>
            <a:srgbClr val="DD3E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成本加成定价关系</a:t>
            </a:r>
            <a:endParaRPr lang="zh-CN" altLang="en-US" sz="1868" b="1" dirty="0">
              <a:latin typeface="宋体" panose="02010600030101010101" pitchFamily="2" charset="-122"/>
              <a:ea typeface="宋体" panose="02010600030101010101" pitchFamily="2" charset="-122"/>
            </a:endParaRPr>
          </a:p>
        </p:txBody>
      </p:sp>
      <p:sp>
        <p:nvSpPr>
          <p:cNvPr id="40" name="矩形: 圆角 39">
            <a:extLst>
              <a:ext uri="{FF2B5EF4-FFF2-40B4-BE49-F238E27FC236}">
                <a16:creationId xmlns:a16="http://schemas.microsoft.com/office/drawing/2014/main" id="{8A620155-DA56-245C-2063-96ECBA6B49E2}"/>
              </a:ext>
            </a:extLst>
          </p:cNvPr>
          <p:cNvSpPr/>
          <p:nvPr/>
        </p:nvSpPr>
        <p:spPr>
          <a:xfrm>
            <a:off x="12814144" y="9480130"/>
            <a:ext cx="2306945" cy="501560"/>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打折商品</a:t>
            </a: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圆角 43">
            <a:extLst>
              <a:ext uri="{FF2B5EF4-FFF2-40B4-BE49-F238E27FC236}">
                <a16:creationId xmlns:a16="http://schemas.microsoft.com/office/drawing/2014/main" id="{9882BD85-A102-2F46-5E11-8CF2EBDB45DD}"/>
              </a:ext>
            </a:extLst>
          </p:cNvPr>
          <p:cNvSpPr/>
          <p:nvPr/>
        </p:nvSpPr>
        <p:spPr>
          <a:xfrm>
            <a:off x="12854390" y="10352876"/>
            <a:ext cx="2226477" cy="566221"/>
          </a:xfrm>
          <a:prstGeom prst="roundRect">
            <a:avLst/>
          </a:prstGeom>
          <a:solidFill>
            <a:srgbClr val="DD3E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平均折扣</a:t>
            </a:r>
            <a:endParaRPr lang="zh-CN" altLang="en-US" sz="1868" b="1" dirty="0">
              <a:latin typeface="宋体" panose="02010600030101010101" pitchFamily="2" charset="-122"/>
              <a:ea typeface="宋体" panose="02010600030101010101" pitchFamily="2" charset="-122"/>
            </a:endParaRPr>
          </a:p>
        </p:txBody>
      </p:sp>
      <p:sp>
        <p:nvSpPr>
          <p:cNvPr id="45" name="矩形: 圆角 44">
            <a:extLst>
              <a:ext uri="{FF2B5EF4-FFF2-40B4-BE49-F238E27FC236}">
                <a16:creationId xmlns:a16="http://schemas.microsoft.com/office/drawing/2014/main" id="{511C9C8B-7D15-EF4C-8D8F-EE2A30B0EB68}"/>
              </a:ext>
            </a:extLst>
          </p:cNvPr>
          <p:cNvSpPr/>
          <p:nvPr/>
        </p:nvSpPr>
        <p:spPr>
          <a:xfrm>
            <a:off x="12728056" y="11348224"/>
            <a:ext cx="2479112" cy="1161670"/>
          </a:xfrm>
          <a:prstGeom prst="roundRect">
            <a:avLst/>
          </a:prstGeom>
          <a:solidFill>
            <a:srgbClr val="00C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Times New Roman" panose="02020603050405020304" pitchFamily="18" charset="0"/>
                <a:ea typeface="宋体" panose="02010600030101010101" pitchFamily="2" charset="-122"/>
                <a:cs typeface="Times New Roman" panose="02020603050405020304" pitchFamily="18" charset="0"/>
              </a:rPr>
              <a:t>分品类数据处理</a:t>
            </a: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a:p>
            <a:pPr algn="ctr"/>
            <a:endParaRPr lang="en-US" altLang="zh-CN" sz="1868" b="1" dirty="0">
              <a:latin typeface="Times New Roman" panose="02020603050405020304" pitchFamily="18" charset="0"/>
              <a:ea typeface="宋体" panose="02010600030101010101" pitchFamily="2" charset="-122"/>
              <a:cs typeface="Times New Roman" panose="02020603050405020304" pitchFamily="18" charset="0"/>
            </a:endParaRPr>
          </a:p>
          <a:p>
            <a:pPr algn="ctr"/>
            <a:endParaRPr lang="zh-CN" altLang="en-US" sz="1868" b="1" dirty="0">
              <a:latin typeface="宋体" panose="02010600030101010101" pitchFamily="2" charset="-122"/>
              <a:ea typeface="宋体" panose="02010600030101010101" pitchFamily="2" charset="-122"/>
            </a:endParaRPr>
          </a:p>
        </p:txBody>
      </p:sp>
      <p:graphicFrame>
        <p:nvGraphicFramePr>
          <p:cNvPr id="50" name="对象 49">
            <a:extLst>
              <a:ext uri="{FF2B5EF4-FFF2-40B4-BE49-F238E27FC236}">
                <a16:creationId xmlns:a16="http://schemas.microsoft.com/office/drawing/2014/main" id="{3FA29774-1B61-7D88-2FE3-103D7BE659DF}"/>
              </a:ext>
            </a:extLst>
          </p:cNvPr>
          <p:cNvGraphicFramePr>
            <a:graphicFrameLocks noChangeAspect="1"/>
          </p:cNvGraphicFramePr>
          <p:nvPr>
            <p:extLst>
              <p:ext uri="{D42A27DB-BD31-4B8C-83A1-F6EECF244321}">
                <p14:modId xmlns:p14="http://schemas.microsoft.com/office/powerpoint/2010/main" val="2446239698"/>
              </p:ext>
            </p:extLst>
          </p:nvPr>
        </p:nvGraphicFramePr>
        <p:xfrm>
          <a:off x="12986714" y="11871595"/>
          <a:ext cx="2042288" cy="566221"/>
        </p:xfrm>
        <a:graphic>
          <a:graphicData uri="http://schemas.openxmlformats.org/presentationml/2006/ole">
            <mc:AlternateContent xmlns:mc="http://schemas.openxmlformats.org/markup-compatibility/2006">
              <mc:Choice xmlns:v="urn:schemas-microsoft-com:vml" Requires="v">
                <p:oleObj name="AxMath" r:id="rId2" imgW="1500120" imgH="416520" progId="Equation.AxMath">
                  <p:embed/>
                </p:oleObj>
              </mc:Choice>
              <mc:Fallback>
                <p:oleObj name="AxMath" r:id="rId2" imgW="1500120" imgH="416520" progId="Equation.AxMath">
                  <p:embed/>
                  <p:pic>
                    <p:nvPicPr>
                      <p:cNvPr id="0" name=""/>
                      <p:cNvPicPr/>
                      <p:nvPr/>
                    </p:nvPicPr>
                    <p:blipFill>
                      <a:blip r:embed="rId3"/>
                      <a:stretch>
                        <a:fillRect/>
                      </a:stretch>
                    </p:blipFill>
                    <p:spPr>
                      <a:xfrm>
                        <a:off x="12986714" y="11871595"/>
                        <a:ext cx="2042288" cy="566221"/>
                      </a:xfrm>
                      <a:prstGeom prst="rect">
                        <a:avLst/>
                      </a:prstGeom>
                    </p:spPr>
                  </p:pic>
                </p:oleObj>
              </mc:Fallback>
            </mc:AlternateContent>
          </a:graphicData>
        </a:graphic>
      </p:graphicFrame>
      <p:cxnSp>
        <p:nvCxnSpPr>
          <p:cNvPr id="56" name="直接箭头连接符 55">
            <a:extLst>
              <a:ext uri="{FF2B5EF4-FFF2-40B4-BE49-F238E27FC236}">
                <a16:creationId xmlns:a16="http://schemas.microsoft.com/office/drawing/2014/main" id="{8FFCE00F-17B4-E80D-9341-689E959463AF}"/>
              </a:ext>
            </a:extLst>
          </p:cNvPr>
          <p:cNvCxnSpPr>
            <a:stCxn id="38" idx="0"/>
            <a:endCxn id="39" idx="2"/>
          </p:cNvCxnSpPr>
          <p:nvPr/>
        </p:nvCxnSpPr>
        <p:spPr>
          <a:xfrm flipV="1">
            <a:off x="18470148" y="10919093"/>
            <a:ext cx="2" cy="2260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8" name="直接箭头连接符 57">
            <a:extLst>
              <a:ext uri="{FF2B5EF4-FFF2-40B4-BE49-F238E27FC236}">
                <a16:creationId xmlns:a16="http://schemas.microsoft.com/office/drawing/2014/main" id="{827B5A06-68D9-C4B0-E996-A11A6DD222ED}"/>
              </a:ext>
            </a:extLst>
          </p:cNvPr>
          <p:cNvCxnSpPr>
            <a:cxnSpLocks/>
            <a:stCxn id="39" idx="0"/>
            <a:endCxn id="36" idx="2"/>
          </p:cNvCxnSpPr>
          <p:nvPr/>
        </p:nvCxnSpPr>
        <p:spPr>
          <a:xfrm flipV="1">
            <a:off x="18470103" y="10167541"/>
            <a:ext cx="0" cy="1853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3" name="矩形: 圆角 62">
            <a:extLst>
              <a:ext uri="{FF2B5EF4-FFF2-40B4-BE49-F238E27FC236}">
                <a16:creationId xmlns:a16="http://schemas.microsoft.com/office/drawing/2014/main" id="{D15C9DE2-9658-5228-60BE-8E40F8BED398}"/>
              </a:ext>
            </a:extLst>
          </p:cNvPr>
          <p:cNvSpPr/>
          <p:nvPr/>
        </p:nvSpPr>
        <p:spPr>
          <a:xfrm>
            <a:off x="12608434" y="8334025"/>
            <a:ext cx="7362801" cy="824161"/>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含损耗率（附件 </a:t>
            </a:r>
            <a:r>
              <a:rPr lang="en-US" altLang="zh-CN" sz="1868" b="1" dirty="0">
                <a:latin typeface="Times New Roman" panose="02020603050405020304" pitchFamily="18" charset="0"/>
                <a:cs typeface="Times New Roman" panose="02020603050405020304" pitchFamily="18" charset="0"/>
              </a:rPr>
              <a:t>4</a:t>
            </a:r>
            <a:r>
              <a:rPr lang="zh-CN" altLang="en-US" sz="1868" b="1" dirty="0"/>
              <a:t>），销量（预测），成本（附件 </a:t>
            </a:r>
            <a:r>
              <a:rPr lang="en-US" altLang="zh-CN" sz="1868" b="1" dirty="0">
                <a:latin typeface="Times New Roman" panose="02020603050405020304" pitchFamily="18" charset="0"/>
                <a:cs typeface="Times New Roman" panose="02020603050405020304" pitchFamily="18" charset="0"/>
              </a:rPr>
              <a:t>3</a:t>
            </a:r>
            <a:r>
              <a:rPr lang="zh-CN" altLang="en-US" sz="1868" b="1" dirty="0"/>
              <a:t>）</a:t>
            </a:r>
            <a:endParaRPr lang="en-US" altLang="zh-CN" sz="1868" b="1" dirty="0"/>
          </a:p>
          <a:p>
            <a:pPr algn="ctr"/>
            <a:r>
              <a:rPr lang="zh-CN" altLang="en-US" sz="1868" b="1" dirty="0"/>
              <a:t>折扣                                                             成本加成定价</a:t>
            </a:r>
          </a:p>
        </p:txBody>
      </p:sp>
      <p:cxnSp>
        <p:nvCxnSpPr>
          <p:cNvPr id="23" name="直接箭头连接符 22">
            <a:extLst>
              <a:ext uri="{FF2B5EF4-FFF2-40B4-BE49-F238E27FC236}">
                <a16:creationId xmlns:a16="http://schemas.microsoft.com/office/drawing/2014/main" id="{FBB5E3E8-A217-F544-A150-7F9DD9D2FEDF}"/>
              </a:ext>
            </a:extLst>
          </p:cNvPr>
          <p:cNvCxnSpPr>
            <a:stCxn id="36" idx="0"/>
          </p:cNvCxnSpPr>
          <p:nvPr/>
        </p:nvCxnSpPr>
        <p:spPr>
          <a:xfrm flipH="1" flipV="1">
            <a:off x="18470147" y="9063570"/>
            <a:ext cx="2" cy="2796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直接箭头连接符 26">
            <a:extLst>
              <a:ext uri="{FF2B5EF4-FFF2-40B4-BE49-F238E27FC236}">
                <a16:creationId xmlns:a16="http://schemas.microsoft.com/office/drawing/2014/main" id="{E4CB101B-77FE-A575-1B06-DA67E9B495F9}"/>
              </a:ext>
            </a:extLst>
          </p:cNvPr>
          <p:cNvCxnSpPr>
            <a:stCxn id="45" idx="0"/>
            <a:endCxn id="44" idx="2"/>
          </p:cNvCxnSpPr>
          <p:nvPr/>
        </p:nvCxnSpPr>
        <p:spPr>
          <a:xfrm flipV="1">
            <a:off x="13967610" y="10919127"/>
            <a:ext cx="0" cy="4291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接箭头连接符 28">
            <a:extLst>
              <a:ext uri="{FF2B5EF4-FFF2-40B4-BE49-F238E27FC236}">
                <a16:creationId xmlns:a16="http://schemas.microsoft.com/office/drawing/2014/main" id="{39EBC273-266C-FDCA-F422-FE223694941F}"/>
              </a:ext>
            </a:extLst>
          </p:cNvPr>
          <p:cNvCxnSpPr>
            <a:stCxn id="44" idx="0"/>
            <a:endCxn id="40" idx="2"/>
          </p:cNvCxnSpPr>
          <p:nvPr/>
        </p:nvCxnSpPr>
        <p:spPr>
          <a:xfrm flipV="1">
            <a:off x="13967610" y="9981732"/>
            <a:ext cx="0" cy="3711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直接箭头连接符 30">
            <a:extLst>
              <a:ext uri="{FF2B5EF4-FFF2-40B4-BE49-F238E27FC236}">
                <a16:creationId xmlns:a16="http://schemas.microsoft.com/office/drawing/2014/main" id="{F922DEA8-9D4D-C9E9-8F48-A94B0B6109EB}"/>
              </a:ext>
            </a:extLst>
          </p:cNvPr>
          <p:cNvCxnSpPr/>
          <p:nvPr/>
        </p:nvCxnSpPr>
        <p:spPr>
          <a:xfrm flipV="1">
            <a:off x="13967610" y="9063524"/>
            <a:ext cx="0" cy="4165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41151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E657AD2-FB0D-BB75-0ECA-55F465E6FFD3}"/>
              </a:ext>
            </a:extLst>
          </p:cNvPr>
          <p:cNvSpPr txBox="1"/>
          <p:nvPr/>
        </p:nvSpPr>
        <p:spPr>
          <a:xfrm>
            <a:off x="8931154" y="5838132"/>
            <a:ext cx="9443467" cy="4978992"/>
          </a:xfrm>
          <a:prstGeom prst="rect">
            <a:avLst/>
          </a:prstGeom>
          <a:noFill/>
        </p:spPr>
        <p:txBody>
          <a:bodyPr wrap="square" rtlCol="0">
            <a:spAutoFit/>
          </a:bodyPr>
          <a:lstStyle/>
          <a:p>
            <a:r>
              <a:rPr lang="zh-CN" altLang="zh-CN" sz="1868" dirty="0"/>
              <a:t>需要分品类根据往年销售量分析未来</a:t>
            </a:r>
            <a:r>
              <a:rPr lang="en-US" altLang="zh-CN" sz="1868" dirty="0"/>
              <a:t>7</a:t>
            </a:r>
            <a:r>
              <a:rPr lang="zh-CN" altLang="zh-CN" sz="1868" dirty="0"/>
              <a:t>天的销售量以确定日补货总量。另外需要分品类求解销售总量与成本加成定价的关系，进而制定各品类的定价策略。</a:t>
            </a:r>
            <a:endParaRPr lang="en-US" altLang="zh-CN" sz="1868" dirty="0"/>
          </a:p>
          <a:p>
            <a:endParaRPr lang="zh-CN" altLang="zh-CN" sz="1868" dirty="0"/>
          </a:p>
          <a:p>
            <a:r>
              <a:rPr lang="en-US" altLang="zh-CN" sz="1868" dirty="0"/>
              <a:t>Step 1. </a:t>
            </a:r>
            <a:r>
              <a:rPr lang="zh-CN" altLang="zh-CN" sz="1868" dirty="0"/>
              <a:t>分品类预测</a:t>
            </a:r>
            <a:r>
              <a:rPr lang="en-US" altLang="zh-CN" sz="1868" dirty="0"/>
              <a:t>2023</a:t>
            </a:r>
            <a:r>
              <a:rPr lang="zh-CN" altLang="zh-CN" sz="1868" dirty="0"/>
              <a:t>年</a:t>
            </a:r>
            <a:r>
              <a:rPr lang="en-US" altLang="zh-CN" sz="1868" dirty="0"/>
              <a:t>7</a:t>
            </a:r>
            <a:r>
              <a:rPr lang="zh-CN" altLang="zh-CN" sz="1868" dirty="0"/>
              <a:t>月</a:t>
            </a:r>
            <a:r>
              <a:rPr lang="en-US" altLang="zh-CN" sz="1868" dirty="0"/>
              <a:t>1</a:t>
            </a:r>
            <a:r>
              <a:rPr lang="zh-CN" altLang="zh-CN" sz="1868" dirty="0"/>
              <a:t>日至</a:t>
            </a:r>
            <a:r>
              <a:rPr lang="en-US" altLang="zh-CN" sz="1868" dirty="0"/>
              <a:t>2023</a:t>
            </a:r>
            <a:r>
              <a:rPr lang="zh-CN" altLang="zh-CN" sz="1868" dirty="0"/>
              <a:t>年</a:t>
            </a:r>
            <a:r>
              <a:rPr lang="en-US" altLang="zh-CN" sz="1868" dirty="0"/>
              <a:t>7</a:t>
            </a:r>
            <a:r>
              <a:rPr lang="zh-CN" altLang="zh-CN" sz="1868" dirty="0"/>
              <a:t>月</a:t>
            </a:r>
            <a:r>
              <a:rPr lang="en-US" altLang="zh-CN" sz="1868" dirty="0"/>
              <a:t>7</a:t>
            </a:r>
            <a:r>
              <a:rPr lang="zh-CN" altLang="zh-CN" sz="1868" dirty="0"/>
              <a:t>日的销售量。需要以品类为单位统计出</a:t>
            </a:r>
            <a:r>
              <a:rPr lang="en-US" altLang="zh-CN" sz="1868" dirty="0"/>
              <a:t>2020</a:t>
            </a:r>
            <a:r>
              <a:rPr lang="zh-CN" altLang="zh-CN" sz="1868" dirty="0"/>
              <a:t>年</a:t>
            </a:r>
            <a:r>
              <a:rPr lang="en-US" altLang="zh-CN" sz="1868" dirty="0"/>
              <a:t>7</a:t>
            </a:r>
            <a:r>
              <a:rPr lang="zh-CN" altLang="zh-CN" sz="1868" dirty="0"/>
              <a:t>月</a:t>
            </a:r>
            <a:r>
              <a:rPr lang="en-US" altLang="zh-CN" sz="1868" dirty="0"/>
              <a:t>1</a:t>
            </a:r>
            <a:r>
              <a:rPr lang="zh-CN" altLang="zh-CN" sz="1868" dirty="0"/>
              <a:t>日至</a:t>
            </a:r>
            <a:r>
              <a:rPr lang="en-US" altLang="zh-CN" sz="1868" dirty="0"/>
              <a:t>2023</a:t>
            </a:r>
            <a:r>
              <a:rPr lang="zh-CN" altLang="zh-CN" sz="1868" dirty="0"/>
              <a:t>年</a:t>
            </a:r>
            <a:r>
              <a:rPr lang="en-US" altLang="zh-CN" sz="1868" dirty="0"/>
              <a:t>6</a:t>
            </a:r>
            <a:r>
              <a:rPr lang="zh-CN" altLang="zh-CN" sz="1868" dirty="0"/>
              <a:t>月</a:t>
            </a:r>
            <a:r>
              <a:rPr lang="en-US" altLang="zh-CN" sz="1868" dirty="0"/>
              <a:t>30</a:t>
            </a:r>
            <a:r>
              <a:rPr lang="zh-CN" altLang="zh-CN" sz="1868" dirty="0"/>
              <a:t>日的销售量，接下来利用统计数据预测未来</a:t>
            </a:r>
            <a:r>
              <a:rPr lang="en-US" altLang="zh-CN" sz="1868" dirty="0"/>
              <a:t>7</a:t>
            </a:r>
            <a:r>
              <a:rPr lang="zh-CN" altLang="zh-CN" sz="1868" dirty="0"/>
              <a:t>天的销售量，预测销售量可以选用</a:t>
            </a:r>
            <a:r>
              <a:rPr lang="en-US" altLang="zh-CN" sz="1868" b="1" dirty="0"/>
              <a:t>SARIMA</a:t>
            </a:r>
            <a:r>
              <a:rPr lang="zh-CN" altLang="zh-CN" sz="1868" b="1" dirty="0"/>
              <a:t>模型</a:t>
            </a:r>
            <a:r>
              <a:rPr lang="zh-CN" altLang="zh-CN" sz="1868" dirty="0"/>
              <a:t>进行预测。最后根据预测销售量确定各品类日补货总量。</a:t>
            </a:r>
          </a:p>
          <a:p>
            <a:endParaRPr lang="en-US" altLang="zh-CN" sz="1868" dirty="0"/>
          </a:p>
          <a:p>
            <a:r>
              <a:rPr lang="en-US" altLang="zh-CN" sz="1868" dirty="0"/>
              <a:t>Step 2. </a:t>
            </a:r>
            <a:r>
              <a:rPr lang="zh-CN" altLang="zh-CN" sz="1868" dirty="0"/>
              <a:t>分品类制定</a:t>
            </a:r>
            <a:r>
              <a:rPr lang="en-US" altLang="zh-CN" sz="1868" dirty="0"/>
              <a:t>2023</a:t>
            </a:r>
            <a:r>
              <a:rPr lang="zh-CN" altLang="zh-CN" sz="1868" dirty="0"/>
              <a:t>年</a:t>
            </a:r>
            <a:r>
              <a:rPr lang="en-US" altLang="zh-CN" sz="1868" dirty="0"/>
              <a:t>7</a:t>
            </a:r>
            <a:r>
              <a:rPr lang="zh-CN" altLang="zh-CN" sz="1868" dirty="0"/>
              <a:t>月</a:t>
            </a:r>
            <a:r>
              <a:rPr lang="en-US" altLang="zh-CN" sz="1868" dirty="0"/>
              <a:t>1</a:t>
            </a:r>
            <a:r>
              <a:rPr lang="zh-CN" altLang="zh-CN" sz="1868" dirty="0"/>
              <a:t>日至</a:t>
            </a:r>
            <a:r>
              <a:rPr lang="en-US" altLang="zh-CN" sz="1868" dirty="0"/>
              <a:t>2023</a:t>
            </a:r>
            <a:r>
              <a:rPr lang="zh-CN" altLang="zh-CN" sz="1868" dirty="0"/>
              <a:t>年</a:t>
            </a:r>
            <a:r>
              <a:rPr lang="en-US" altLang="zh-CN" sz="1868" dirty="0"/>
              <a:t>7</a:t>
            </a:r>
            <a:r>
              <a:rPr lang="zh-CN" altLang="zh-CN" sz="1868" dirty="0"/>
              <a:t>月</a:t>
            </a:r>
            <a:r>
              <a:rPr lang="en-US" altLang="zh-CN" sz="1868" dirty="0"/>
              <a:t>7</a:t>
            </a:r>
            <a:r>
              <a:rPr lang="zh-CN" altLang="zh-CN" sz="1868" dirty="0"/>
              <a:t>日的定价策略。先列出收益关于定价的函数表达式，分为打折销售商品和原价商品。对打折销售商品需要分品类计算出平均折扣带入表达式。求解平均折扣的方法可以使用分品类统计出原价销售和打折销售的销售价格数据，使用打折销售商品的平均销售价格除以原价销售商品的平均销售价格计算得出。还需使用</a:t>
            </a:r>
            <a:r>
              <a:rPr lang="zh-CN" altLang="zh-CN" sz="1868" b="1" dirty="0"/>
              <a:t>线性回归</a:t>
            </a:r>
            <a:r>
              <a:rPr lang="zh-CN" altLang="zh-CN" sz="1868" dirty="0"/>
              <a:t>算法得出各品类销售总量与成本加成定价的关系，求解销售量的范围，在使用线性回归算法的过程中需要</a:t>
            </a:r>
            <a:r>
              <a:rPr lang="zh-CN" altLang="zh-CN" sz="1868" b="1" dirty="0"/>
              <a:t>清洗数据</a:t>
            </a:r>
            <a:r>
              <a:rPr lang="zh-CN" altLang="zh-CN" sz="1868" dirty="0"/>
              <a:t>使得得出的关系更加精确，最后使用</a:t>
            </a:r>
            <a:r>
              <a:rPr lang="zh-CN" altLang="zh-CN" sz="1868" b="1" dirty="0"/>
              <a:t>决定系数</a:t>
            </a:r>
            <a:r>
              <a:rPr lang="zh-CN" altLang="zh-CN" sz="1868" dirty="0"/>
              <a:t>检验拟合效果。最后以求得的销售总量与成本加成定价关系为约束条件，对收益关于定价的函数表达式使用</a:t>
            </a:r>
            <a:r>
              <a:rPr lang="zh-CN" altLang="zh-CN" sz="1868" b="1" dirty="0"/>
              <a:t>模拟退火</a:t>
            </a:r>
            <a:r>
              <a:rPr lang="zh-CN" altLang="zh-CN" sz="1868" dirty="0"/>
              <a:t>算法，在最大化收益的前提下，即可求解各品类最优的定价，从而制定</a:t>
            </a:r>
            <a:r>
              <a:rPr lang="en-US" altLang="zh-CN" sz="1868" dirty="0"/>
              <a:t>7</a:t>
            </a:r>
            <a:r>
              <a:rPr lang="zh-CN" altLang="zh-CN" sz="1868" dirty="0"/>
              <a:t>天的定价策略。</a:t>
            </a:r>
          </a:p>
          <a:p>
            <a:endParaRPr lang="zh-CN" altLang="en-US" sz="1868" dirty="0"/>
          </a:p>
        </p:txBody>
      </p:sp>
    </p:spTree>
    <p:extLst>
      <p:ext uri="{BB962C8B-B14F-4D97-AF65-F5344CB8AC3E}">
        <p14:creationId xmlns:p14="http://schemas.microsoft.com/office/powerpoint/2010/main" val="2200717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873B73BE-E676-0EE9-4B1C-369682AC9A03}"/>
              </a:ext>
            </a:extLst>
          </p:cNvPr>
          <p:cNvSpPr/>
          <p:nvPr/>
        </p:nvSpPr>
        <p:spPr>
          <a:xfrm>
            <a:off x="10383727" y="-7873497"/>
            <a:ext cx="8033027" cy="6038499"/>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5" name="文本框 4">
            <a:extLst>
              <a:ext uri="{FF2B5EF4-FFF2-40B4-BE49-F238E27FC236}">
                <a16:creationId xmlns:a16="http://schemas.microsoft.com/office/drawing/2014/main" id="{DACAE636-226E-3752-D2E7-D14C98D99B41}"/>
              </a:ext>
            </a:extLst>
          </p:cNvPr>
          <p:cNvSpPr txBox="1"/>
          <p:nvPr/>
        </p:nvSpPr>
        <p:spPr>
          <a:xfrm>
            <a:off x="13367367" y="-7546075"/>
            <a:ext cx="2342308" cy="600164"/>
          </a:xfrm>
          <a:prstGeom prst="rect">
            <a:avLst/>
          </a:prstGeom>
          <a:noFill/>
        </p:spPr>
        <p:txBody>
          <a:bodyPr wrap="none" rtlCol="0">
            <a:spAutoFit/>
          </a:bodyPr>
          <a:lstStyle/>
          <a:p>
            <a:r>
              <a:rPr lang="en-US" altLang="zh-CN" sz="3300" dirty="0">
                <a:latin typeface="Times New Roman" panose="02020603050405020304" pitchFamily="18" charset="0"/>
                <a:cs typeface="Times New Roman" panose="02020603050405020304" pitchFamily="18" charset="0"/>
              </a:rPr>
              <a:t>Initialization</a:t>
            </a:r>
            <a:endParaRPr lang="zh-CN" altLang="en-US" sz="33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圆角 5">
            <a:extLst>
              <a:ext uri="{FF2B5EF4-FFF2-40B4-BE49-F238E27FC236}">
                <a16:creationId xmlns:a16="http://schemas.microsoft.com/office/drawing/2014/main" id="{9937C5DD-CD1E-7EB3-DA55-2C33D30E61F4}"/>
              </a:ext>
            </a:extLst>
          </p:cNvPr>
          <p:cNvSpPr/>
          <p:nvPr/>
        </p:nvSpPr>
        <p:spPr>
          <a:xfrm>
            <a:off x="11874763" y="-6629143"/>
            <a:ext cx="1619450"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初始温度</a:t>
            </a:r>
          </a:p>
        </p:txBody>
      </p:sp>
      <p:sp>
        <p:nvSpPr>
          <p:cNvPr id="9" name="矩形: 圆角 8">
            <a:extLst>
              <a:ext uri="{FF2B5EF4-FFF2-40B4-BE49-F238E27FC236}">
                <a16:creationId xmlns:a16="http://schemas.microsoft.com/office/drawing/2014/main" id="{291C7083-068A-ACE9-5BA4-842B4A4A04D1}"/>
              </a:ext>
            </a:extLst>
          </p:cNvPr>
          <p:cNvSpPr/>
          <p:nvPr/>
        </p:nvSpPr>
        <p:spPr>
          <a:xfrm>
            <a:off x="14985298" y="-6826728"/>
            <a:ext cx="2252905" cy="954756"/>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b="1" dirty="0"/>
          </a:p>
        </p:txBody>
      </p:sp>
      <p:sp>
        <p:nvSpPr>
          <p:cNvPr id="13" name="矩形: 圆角 12">
            <a:extLst>
              <a:ext uri="{FF2B5EF4-FFF2-40B4-BE49-F238E27FC236}">
                <a16:creationId xmlns:a16="http://schemas.microsoft.com/office/drawing/2014/main" id="{A4D25B7D-124A-1964-FE78-FD5A20FBCD70}"/>
              </a:ext>
            </a:extLst>
          </p:cNvPr>
          <p:cNvSpPr/>
          <p:nvPr/>
        </p:nvSpPr>
        <p:spPr>
          <a:xfrm>
            <a:off x="11695304" y="-5544024"/>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温度下降策略</a:t>
            </a:r>
          </a:p>
        </p:txBody>
      </p:sp>
      <p:sp>
        <p:nvSpPr>
          <p:cNvPr id="17" name="Rectangle 6">
            <a:extLst>
              <a:ext uri="{FF2B5EF4-FFF2-40B4-BE49-F238E27FC236}">
                <a16:creationId xmlns:a16="http://schemas.microsoft.com/office/drawing/2014/main" id="{A9552906-FDBF-2473-381E-8C3E6A8E34EA}"/>
              </a:ext>
            </a:extLst>
          </p:cNvPr>
          <p:cNvSpPr>
            <a:spLocks noChangeArrowheads="1"/>
          </p:cNvSpPr>
          <p:nvPr/>
        </p:nvSpPr>
        <p:spPr bwMode="auto">
          <a:xfrm>
            <a:off x="14985316" y="6971984"/>
            <a:ext cx="11632666" cy="394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7629" tIns="48815" rIns="97629" bIns="48815" numCol="1" anchor="ctr" anchorCtr="0" compatLnSpc="1">
            <a:prstTxWarp prst="textNoShape">
              <a:avLst/>
            </a:prstTxWarp>
            <a:spAutoFit/>
          </a:bodyPr>
          <a:lstStyle/>
          <a:p>
            <a:endParaRPr lang="zh-CN" altLang="en-US" sz="1922"/>
          </a:p>
        </p:txBody>
      </p:sp>
      <p:sp>
        <p:nvSpPr>
          <p:cNvPr id="20" name="矩形: 圆角 19">
            <a:extLst>
              <a:ext uri="{FF2B5EF4-FFF2-40B4-BE49-F238E27FC236}">
                <a16:creationId xmlns:a16="http://schemas.microsoft.com/office/drawing/2014/main" id="{8AD40619-508B-3D2F-7DC7-772E4029EE0A}"/>
              </a:ext>
            </a:extLst>
          </p:cNvPr>
          <p:cNvSpPr/>
          <p:nvPr/>
        </p:nvSpPr>
        <p:spPr>
          <a:xfrm>
            <a:off x="11695304" y="-4569474"/>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冷却率</a:t>
            </a:r>
            <a:endParaRPr lang="zh-CN" altLang="en-US" sz="1868" b="1" dirty="0">
              <a:latin typeface="宋体" panose="02010600030101010101" pitchFamily="2" charset="-122"/>
              <a:ea typeface="宋体" panose="02010600030101010101" pitchFamily="2" charset="-122"/>
            </a:endParaRPr>
          </a:p>
        </p:txBody>
      </p:sp>
      <p:sp>
        <p:nvSpPr>
          <p:cNvPr id="21" name="矩形: 圆角 20">
            <a:extLst>
              <a:ext uri="{FF2B5EF4-FFF2-40B4-BE49-F238E27FC236}">
                <a16:creationId xmlns:a16="http://schemas.microsoft.com/office/drawing/2014/main" id="{46904D9B-1769-E25A-4012-8C3372B9B5E1}"/>
              </a:ext>
            </a:extLst>
          </p:cNvPr>
          <p:cNvSpPr/>
          <p:nvPr/>
        </p:nvSpPr>
        <p:spPr>
          <a:xfrm>
            <a:off x="11695302" y="-2696006"/>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迭代次数</a:t>
            </a:r>
            <a:endParaRPr lang="zh-CN" altLang="en-US" sz="1868" b="1" dirty="0">
              <a:latin typeface="宋体" panose="02010600030101010101" pitchFamily="2" charset="-122"/>
              <a:ea typeface="宋体" panose="02010600030101010101" pitchFamily="2" charset="-122"/>
            </a:endParaRPr>
          </a:p>
        </p:txBody>
      </p:sp>
      <p:sp>
        <p:nvSpPr>
          <p:cNvPr id="22" name="矩形: 圆角 21">
            <a:extLst>
              <a:ext uri="{FF2B5EF4-FFF2-40B4-BE49-F238E27FC236}">
                <a16:creationId xmlns:a16="http://schemas.microsoft.com/office/drawing/2014/main" id="{72F41F84-6CAC-7169-0FB9-B1E0280A897D}"/>
              </a:ext>
            </a:extLst>
          </p:cNvPr>
          <p:cNvSpPr/>
          <p:nvPr/>
        </p:nvSpPr>
        <p:spPr>
          <a:xfrm>
            <a:off x="11695298" y="-3656351"/>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终止条件</a:t>
            </a:r>
            <a:endParaRPr lang="zh-CN" altLang="en-US" sz="1868" b="1" dirty="0">
              <a:latin typeface="宋体" panose="02010600030101010101" pitchFamily="2" charset="-122"/>
              <a:ea typeface="宋体" panose="02010600030101010101" pitchFamily="2" charset="-122"/>
            </a:endParaRPr>
          </a:p>
        </p:txBody>
      </p:sp>
      <p:sp>
        <p:nvSpPr>
          <p:cNvPr id="23" name="矩形: 圆角 22">
            <a:extLst>
              <a:ext uri="{FF2B5EF4-FFF2-40B4-BE49-F238E27FC236}">
                <a16:creationId xmlns:a16="http://schemas.microsoft.com/office/drawing/2014/main" id="{9BEC78F6-379A-FDB9-F79E-D16D52D18E32}"/>
              </a:ext>
            </a:extLst>
          </p:cNvPr>
          <p:cNvSpPr/>
          <p:nvPr/>
        </p:nvSpPr>
        <p:spPr>
          <a:xfrm>
            <a:off x="15261875" y="-4547778"/>
            <a:ext cx="1521076"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mj-lt"/>
                <a:ea typeface="宋体" panose="02010600030101010101" pitchFamily="2" charset="-122"/>
              </a:rPr>
              <a:t>0.95</a:t>
            </a:r>
            <a:endParaRPr lang="zh-CN" altLang="en-US" sz="1868" b="1" dirty="0">
              <a:latin typeface="+mj-lt"/>
              <a:ea typeface="宋体" panose="02010600030101010101" pitchFamily="2" charset="-122"/>
            </a:endParaRPr>
          </a:p>
        </p:txBody>
      </p:sp>
      <p:sp>
        <p:nvSpPr>
          <p:cNvPr id="24" name="矩形: 圆角 23">
            <a:extLst>
              <a:ext uri="{FF2B5EF4-FFF2-40B4-BE49-F238E27FC236}">
                <a16:creationId xmlns:a16="http://schemas.microsoft.com/office/drawing/2014/main" id="{E450BF03-9857-69CD-5D12-ED8629F0EAAC}"/>
              </a:ext>
            </a:extLst>
          </p:cNvPr>
          <p:cNvSpPr/>
          <p:nvPr/>
        </p:nvSpPr>
        <p:spPr>
          <a:xfrm>
            <a:off x="15298113" y="-2667340"/>
            <a:ext cx="1521076"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mj-lt"/>
                <a:ea typeface="宋体" panose="02010600030101010101" pitchFamily="2" charset="-122"/>
              </a:rPr>
              <a:t>50</a:t>
            </a:r>
            <a:endParaRPr lang="zh-CN" altLang="en-US" sz="1868" b="1" dirty="0">
              <a:latin typeface="+mj-lt"/>
              <a:ea typeface="宋体" panose="02010600030101010101" pitchFamily="2" charset="-122"/>
            </a:endParaRPr>
          </a:p>
        </p:txBody>
      </p:sp>
      <p:sp>
        <p:nvSpPr>
          <p:cNvPr id="25" name="矩形: 圆角 24">
            <a:extLst>
              <a:ext uri="{FF2B5EF4-FFF2-40B4-BE49-F238E27FC236}">
                <a16:creationId xmlns:a16="http://schemas.microsoft.com/office/drawing/2014/main" id="{0595EE86-9D31-3523-ECC4-6FFB3EA87587}"/>
              </a:ext>
            </a:extLst>
          </p:cNvPr>
          <p:cNvSpPr/>
          <p:nvPr/>
        </p:nvSpPr>
        <p:spPr>
          <a:xfrm>
            <a:off x="14984117" y="-3779749"/>
            <a:ext cx="2076598" cy="624107"/>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931" i="1" dirty="0">
                <a:latin typeface="Times New Roman" panose="02020603050405020304" pitchFamily="18" charset="0"/>
                <a:cs typeface="Times New Roman" panose="02020603050405020304" pitchFamily="18" charset="0"/>
              </a:rPr>
              <a:t>T</a:t>
            </a:r>
            <a:r>
              <a:rPr lang="en-US" altLang="zh-CN" sz="1931" i="1" baseline="-25000" dirty="0">
                <a:latin typeface="Times New Roman" panose="02020603050405020304" pitchFamily="18" charset="0"/>
                <a:cs typeface="Times New Roman" panose="02020603050405020304" pitchFamily="18" charset="0"/>
              </a:rPr>
              <a:t>k</a:t>
            </a:r>
            <a:r>
              <a:rPr lang="en-US" altLang="zh-CN" sz="1931" dirty="0">
                <a:latin typeface="Times New Roman" panose="02020603050405020304" pitchFamily="18" charset="0"/>
                <a:cs typeface="Times New Roman" panose="02020603050405020304" pitchFamily="18" charset="0"/>
              </a:rPr>
              <a:t> &lt; </a:t>
            </a:r>
            <a:r>
              <a:rPr lang="en-US" altLang="zh-CN" sz="1931" i="1" dirty="0" err="1">
                <a:latin typeface="Times New Roman" panose="02020603050405020304" pitchFamily="18" charset="0"/>
                <a:cs typeface="Times New Roman" panose="02020603050405020304" pitchFamily="18" charset="0"/>
              </a:rPr>
              <a:t>T</a:t>
            </a:r>
            <a:r>
              <a:rPr lang="en-US" altLang="zh-CN" sz="1931" i="1" baseline="-25000" dirty="0" err="1">
                <a:latin typeface="Times New Roman" panose="02020603050405020304" pitchFamily="18" charset="0"/>
                <a:cs typeface="Times New Roman" panose="02020603050405020304" pitchFamily="18" charset="0"/>
              </a:rPr>
              <a:t>final</a:t>
            </a:r>
            <a:r>
              <a:rPr lang="en-US" altLang="zh-CN" sz="1931" dirty="0">
                <a:latin typeface="Times New Roman" panose="02020603050405020304" pitchFamily="18" charset="0"/>
                <a:cs typeface="Times New Roman" panose="02020603050405020304" pitchFamily="18" charset="0"/>
              </a:rPr>
              <a:t> </a:t>
            </a:r>
            <a:r>
              <a:rPr lang="en-US" altLang="zh-CN" sz="1922" dirty="0">
                <a:latin typeface="Times New Roman" panose="02020603050405020304" pitchFamily="18" charset="0"/>
                <a:cs typeface="Times New Roman" panose="02020603050405020304" pitchFamily="18" charset="0"/>
              </a:rPr>
              <a:t>= 0.1</a:t>
            </a:r>
            <a:endParaRPr lang="zh-CN" altLang="en-US" sz="1868"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4" name="组合 33">
            <a:extLst>
              <a:ext uri="{FF2B5EF4-FFF2-40B4-BE49-F238E27FC236}">
                <a16:creationId xmlns:a16="http://schemas.microsoft.com/office/drawing/2014/main" id="{C846C4E4-9656-6235-3FE3-96AB3EFE0891}"/>
              </a:ext>
            </a:extLst>
          </p:cNvPr>
          <p:cNvGrpSpPr/>
          <p:nvPr/>
        </p:nvGrpSpPr>
        <p:grpSpPr>
          <a:xfrm>
            <a:off x="14436719" y="-6693537"/>
            <a:ext cx="3243903" cy="1916023"/>
            <a:chOff x="6153973" y="994158"/>
            <a:chExt cx="3038255" cy="1794557"/>
          </a:xfrm>
        </p:grpSpPr>
        <p:sp>
          <p:nvSpPr>
            <p:cNvPr id="15" name="矩形: 圆角 14">
              <a:extLst>
                <a:ext uri="{FF2B5EF4-FFF2-40B4-BE49-F238E27FC236}">
                  <a16:creationId xmlns:a16="http://schemas.microsoft.com/office/drawing/2014/main" id="{A8DC65FF-D05E-6746-DC38-EDD0FB5CADD3}"/>
                </a:ext>
              </a:extLst>
            </p:cNvPr>
            <p:cNvSpPr/>
            <p:nvPr/>
          </p:nvSpPr>
          <p:spPr>
            <a:xfrm>
              <a:off x="6153973" y="2062205"/>
              <a:ext cx="3038255" cy="726510"/>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868" b="1" dirty="0"/>
            </a:p>
          </p:txBody>
        </p:sp>
        <p:graphicFrame>
          <p:nvGraphicFramePr>
            <p:cNvPr id="33" name="对象 32">
              <a:extLst>
                <a:ext uri="{FF2B5EF4-FFF2-40B4-BE49-F238E27FC236}">
                  <a16:creationId xmlns:a16="http://schemas.microsoft.com/office/drawing/2014/main" id="{8223E1B2-C873-7D3B-57DA-1D51427FC475}"/>
                </a:ext>
              </a:extLst>
            </p:cNvPr>
            <p:cNvGraphicFramePr>
              <a:graphicFrameLocks noChangeAspect="1"/>
            </p:cNvGraphicFramePr>
            <p:nvPr>
              <p:extLst>
                <p:ext uri="{D42A27DB-BD31-4B8C-83A1-F6EECF244321}">
                  <p14:modId xmlns:p14="http://schemas.microsoft.com/office/powerpoint/2010/main" val="1437607391"/>
                </p:ext>
              </p:extLst>
            </p:nvPr>
          </p:nvGraphicFramePr>
          <p:xfrm>
            <a:off x="6412177" y="2261206"/>
            <a:ext cx="2579424" cy="363382"/>
          </p:xfrm>
          <a:graphic>
            <a:graphicData uri="http://schemas.openxmlformats.org/presentationml/2006/ole">
              <mc:AlternateContent xmlns:mc="http://schemas.openxmlformats.org/markup-compatibility/2006">
                <mc:Choice xmlns:v="urn:schemas-microsoft-com:vml" Requires="v">
                  <p:oleObj name="AxMath" r:id="rId2" imgW="1613520" imgH="228240" progId="Equation.AxMath">
                    <p:embed/>
                  </p:oleObj>
                </mc:Choice>
                <mc:Fallback>
                  <p:oleObj name="AxMath" r:id="rId2" imgW="1613520" imgH="228240" progId="Equation.AxMath">
                    <p:embed/>
                    <p:pic>
                      <p:nvPicPr>
                        <p:cNvPr id="50" name="对象 49">
                          <a:extLst>
                            <a:ext uri="{FF2B5EF4-FFF2-40B4-BE49-F238E27FC236}">
                              <a16:creationId xmlns:a16="http://schemas.microsoft.com/office/drawing/2014/main" id="{3FA29774-1B61-7D88-2FE3-103D7BE659DF}"/>
                            </a:ext>
                          </a:extLst>
                        </p:cNvPr>
                        <p:cNvPicPr/>
                        <p:nvPr/>
                      </p:nvPicPr>
                      <p:blipFill>
                        <a:blip r:embed="rId3"/>
                        <a:stretch>
                          <a:fillRect/>
                        </a:stretch>
                      </p:blipFill>
                      <p:spPr>
                        <a:xfrm>
                          <a:off x="6412177" y="2261206"/>
                          <a:ext cx="2579424" cy="363382"/>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3DF3E0DB-1B60-2C89-A4C3-A8D98DDBA35B}"/>
                </a:ext>
              </a:extLst>
            </p:cNvPr>
            <p:cNvGraphicFramePr>
              <a:graphicFrameLocks noChangeAspect="1"/>
            </p:cNvGraphicFramePr>
            <p:nvPr>
              <p:extLst>
                <p:ext uri="{D42A27DB-BD31-4B8C-83A1-F6EECF244321}">
                  <p14:modId xmlns:p14="http://schemas.microsoft.com/office/powerpoint/2010/main" val="3870908230"/>
                </p:ext>
              </p:extLst>
            </p:nvPr>
          </p:nvGraphicFramePr>
          <p:xfrm>
            <a:off x="6901982" y="994158"/>
            <a:ext cx="1641675" cy="705901"/>
          </p:xfrm>
          <a:graphic>
            <a:graphicData uri="http://schemas.openxmlformats.org/presentationml/2006/ole">
              <mc:AlternateContent xmlns:mc="http://schemas.openxmlformats.org/markup-compatibility/2006">
                <mc:Choice xmlns:v="urn:schemas-microsoft-com:vml" Requires="v">
                  <p:oleObj name="AxMath" r:id="rId4" imgW="900000" imgH="388440" progId="Equation.AxMath">
                    <p:embed/>
                  </p:oleObj>
                </mc:Choice>
                <mc:Fallback>
                  <p:oleObj name="AxMath" r:id="rId4" imgW="900000" imgH="388440" progId="Equation.AxMath">
                    <p:embed/>
                    <p:pic>
                      <p:nvPicPr>
                        <p:cNvPr id="33" name="对象 32">
                          <a:extLst>
                            <a:ext uri="{FF2B5EF4-FFF2-40B4-BE49-F238E27FC236}">
                              <a16:creationId xmlns:a16="http://schemas.microsoft.com/office/drawing/2014/main" id="{8223E1B2-C873-7D3B-57DA-1D51427FC475}"/>
                            </a:ext>
                          </a:extLst>
                        </p:cNvPr>
                        <p:cNvPicPr/>
                        <p:nvPr/>
                      </p:nvPicPr>
                      <p:blipFill>
                        <a:blip r:embed="rId5"/>
                        <a:stretch>
                          <a:fillRect/>
                        </a:stretch>
                      </p:blipFill>
                      <p:spPr>
                        <a:xfrm>
                          <a:off x="6901982" y="994158"/>
                          <a:ext cx="1641675" cy="705901"/>
                        </a:xfrm>
                        <a:prstGeom prst="rect">
                          <a:avLst/>
                        </a:prstGeom>
                      </p:spPr>
                    </p:pic>
                  </p:oleObj>
                </mc:Fallback>
              </mc:AlternateContent>
            </a:graphicData>
          </a:graphic>
        </p:graphicFrame>
      </p:grpSp>
      <p:sp>
        <p:nvSpPr>
          <p:cNvPr id="36" name="矩形: 圆角 35">
            <a:extLst>
              <a:ext uri="{FF2B5EF4-FFF2-40B4-BE49-F238E27FC236}">
                <a16:creationId xmlns:a16="http://schemas.microsoft.com/office/drawing/2014/main" id="{32FECC2D-83BD-0F30-535F-5F58611248BB}"/>
              </a:ext>
            </a:extLst>
          </p:cNvPr>
          <p:cNvSpPr/>
          <p:nvPr/>
        </p:nvSpPr>
        <p:spPr>
          <a:xfrm>
            <a:off x="10383738" y="2088235"/>
            <a:ext cx="8033027" cy="6038499"/>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37" name="箭头: 右 36">
            <a:extLst>
              <a:ext uri="{FF2B5EF4-FFF2-40B4-BE49-F238E27FC236}">
                <a16:creationId xmlns:a16="http://schemas.microsoft.com/office/drawing/2014/main" id="{0A138F3C-4E54-8FE0-4142-E97C3718D6B7}"/>
              </a:ext>
            </a:extLst>
          </p:cNvPr>
          <p:cNvSpPr/>
          <p:nvPr/>
        </p:nvSpPr>
        <p:spPr>
          <a:xfrm rot="5400000">
            <a:off x="14041447" y="-1560913"/>
            <a:ext cx="823699"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grpSp>
        <p:nvGrpSpPr>
          <p:cNvPr id="41" name="组合 40">
            <a:extLst>
              <a:ext uri="{FF2B5EF4-FFF2-40B4-BE49-F238E27FC236}">
                <a16:creationId xmlns:a16="http://schemas.microsoft.com/office/drawing/2014/main" id="{9E55336E-97E1-AF07-AF46-5AC3B019897E}"/>
              </a:ext>
            </a:extLst>
          </p:cNvPr>
          <p:cNvGrpSpPr/>
          <p:nvPr/>
        </p:nvGrpSpPr>
        <p:grpSpPr>
          <a:xfrm>
            <a:off x="13080710" y="-1167269"/>
            <a:ext cx="2437421" cy="722916"/>
            <a:chOff x="3684858" y="5026059"/>
            <a:chExt cx="832801" cy="366283"/>
          </a:xfrm>
        </p:grpSpPr>
        <p:sp>
          <p:nvSpPr>
            <p:cNvPr id="39" name="文本框 38">
              <a:extLst>
                <a:ext uri="{FF2B5EF4-FFF2-40B4-BE49-F238E27FC236}">
                  <a16:creationId xmlns:a16="http://schemas.microsoft.com/office/drawing/2014/main" id="{223B085B-6F7A-640C-1AE2-896A4D00E7D5}"/>
                </a:ext>
              </a:extLst>
            </p:cNvPr>
            <p:cNvSpPr txBox="1"/>
            <p:nvPr/>
          </p:nvSpPr>
          <p:spPr>
            <a:xfrm>
              <a:off x="3872903" y="5026059"/>
              <a:ext cx="644756" cy="304088"/>
            </a:xfrm>
            <a:prstGeom prst="rect">
              <a:avLst/>
            </a:prstGeom>
            <a:noFill/>
          </p:spPr>
          <p:txBody>
            <a:bodyPr wrap="none" rtlCol="0">
              <a:spAutoFit/>
            </a:bodyPr>
            <a:lstStyle/>
            <a:p>
              <a:r>
                <a:rPr lang="en-US" altLang="zh-CN" sz="3300" dirty="0">
                  <a:latin typeface="Times New Roman" panose="02020603050405020304" pitchFamily="18" charset="0"/>
                  <a:cs typeface="Times New Roman" panose="02020603050405020304" pitchFamily="18" charset="0"/>
                </a:rPr>
                <a:t> Iterations</a:t>
              </a:r>
              <a:endParaRPr lang="zh-CN" altLang="en-US" sz="33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0" name="对象 39">
              <a:extLst>
                <a:ext uri="{FF2B5EF4-FFF2-40B4-BE49-F238E27FC236}">
                  <a16:creationId xmlns:a16="http://schemas.microsoft.com/office/drawing/2014/main" id="{6A1B0B7B-5968-0816-D0A4-1CB35C9A7FDF}"/>
                </a:ext>
              </a:extLst>
            </p:cNvPr>
            <p:cNvGraphicFramePr>
              <a:graphicFrameLocks noChangeAspect="1"/>
            </p:cNvGraphicFramePr>
            <p:nvPr>
              <p:extLst>
                <p:ext uri="{D42A27DB-BD31-4B8C-83A1-F6EECF244321}">
                  <p14:modId xmlns:p14="http://schemas.microsoft.com/office/powerpoint/2010/main" val="3325167442"/>
                </p:ext>
              </p:extLst>
            </p:nvPr>
          </p:nvGraphicFramePr>
          <p:xfrm>
            <a:off x="3684858" y="5026826"/>
            <a:ext cx="216763" cy="365516"/>
          </p:xfrm>
          <a:graphic>
            <a:graphicData uri="http://schemas.openxmlformats.org/presentationml/2006/ole">
              <mc:AlternateContent xmlns:mc="http://schemas.openxmlformats.org/markup-compatibility/2006">
                <mc:Choice xmlns:v="urn:schemas-microsoft-com:vml" Requires="v">
                  <p:oleObj name="AxMath" r:id="rId6" imgW="182520" imgH="228240" progId="Equation.AxMath">
                    <p:embed/>
                  </p:oleObj>
                </mc:Choice>
                <mc:Fallback>
                  <p:oleObj name="AxMath" r:id="rId6" imgW="182520" imgH="228240" progId="Equation.AxMath">
                    <p:embed/>
                    <p:pic>
                      <p:nvPicPr>
                        <p:cNvPr id="0" name=""/>
                        <p:cNvPicPr/>
                        <p:nvPr/>
                      </p:nvPicPr>
                      <p:blipFill>
                        <a:blip r:embed="rId7"/>
                        <a:stretch>
                          <a:fillRect/>
                        </a:stretch>
                      </p:blipFill>
                      <p:spPr>
                        <a:xfrm>
                          <a:off x="3684858" y="5026826"/>
                          <a:ext cx="216763" cy="365516"/>
                        </a:xfrm>
                        <a:prstGeom prst="rect">
                          <a:avLst/>
                        </a:prstGeom>
                      </p:spPr>
                    </p:pic>
                  </p:oleObj>
                </mc:Fallback>
              </mc:AlternateContent>
            </a:graphicData>
          </a:graphic>
        </p:graphicFrame>
      </p:grpSp>
      <p:sp>
        <p:nvSpPr>
          <p:cNvPr id="42" name="矩形: 圆角 41">
            <a:extLst>
              <a:ext uri="{FF2B5EF4-FFF2-40B4-BE49-F238E27FC236}">
                <a16:creationId xmlns:a16="http://schemas.microsoft.com/office/drawing/2014/main" id="{512EAE4E-3A79-9232-4A6C-8E95506FD185}"/>
              </a:ext>
            </a:extLst>
          </p:cNvPr>
          <p:cNvSpPr/>
          <p:nvPr/>
        </p:nvSpPr>
        <p:spPr>
          <a:xfrm>
            <a:off x="11695301" y="3243244"/>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扰动机制</a:t>
            </a:r>
            <a:endParaRPr lang="zh-CN" altLang="en-US" sz="1868" b="1" dirty="0">
              <a:latin typeface="宋体" panose="02010600030101010101" pitchFamily="2" charset="-122"/>
              <a:ea typeface="宋体" panose="02010600030101010101" pitchFamily="2" charset="-122"/>
            </a:endParaRPr>
          </a:p>
        </p:txBody>
      </p:sp>
      <p:sp>
        <p:nvSpPr>
          <p:cNvPr id="43" name="矩形: 圆角 42">
            <a:extLst>
              <a:ext uri="{FF2B5EF4-FFF2-40B4-BE49-F238E27FC236}">
                <a16:creationId xmlns:a16="http://schemas.microsoft.com/office/drawing/2014/main" id="{52EAB831-F63E-2FF5-78EE-913CD6C2CDEC}"/>
              </a:ext>
            </a:extLst>
          </p:cNvPr>
          <p:cNvSpPr/>
          <p:nvPr/>
        </p:nvSpPr>
        <p:spPr>
          <a:xfrm>
            <a:off x="15261896" y="3256140"/>
            <a:ext cx="2648661" cy="459466"/>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15" b="1" dirty="0">
                <a:latin typeface="+mj-lt"/>
                <a:ea typeface="宋体" panose="02010600030101010101" pitchFamily="2" charset="-122"/>
              </a:rPr>
              <a:t> </a:t>
            </a:r>
            <a:r>
              <a:rPr lang="en-US" altLang="zh-CN" sz="1815" dirty="0"/>
              <a:t>New solution</a:t>
            </a:r>
            <a:r>
              <a:rPr lang="zh-CN" altLang="en-US" sz="1815" b="1" dirty="0">
                <a:latin typeface="+mj-lt"/>
                <a:ea typeface="宋体" panose="02010600030101010101" pitchFamily="2" charset="-122"/>
              </a:rPr>
              <a:t> </a:t>
            </a:r>
            <a:r>
              <a:rPr lang="en-US" altLang="zh-CN" sz="1980" i="1" dirty="0" err="1">
                <a:latin typeface="Times New Roman" panose="02020603050405020304" pitchFamily="18" charset="0"/>
                <a:cs typeface="Times New Roman" panose="02020603050405020304" pitchFamily="18" charset="0"/>
              </a:rPr>
              <a:t>S</a:t>
            </a:r>
            <a:r>
              <a:rPr lang="en-US" altLang="zh-CN" sz="1980" i="1" baseline="-25000" dirty="0" err="1">
                <a:latin typeface="Times New Roman" panose="02020603050405020304" pitchFamily="18" charset="0"/>
                <a:cs typeface="Times New Roman" panose="02020603050405020304" pitchFamily="18" charset="0"/>
              </a:rPr>
              <a:t>new</a:t>
            </a:r>
            <a:endParaRPr lang="zh-CN" altLang="en-US" sz="231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圆角 43">
            <a:extLst>
              <a:ext uri="{FF2B5EF4-FFF2-40B4-BE49-F238E27FC236}">
                <a16:creationId xmlns:a16="http://schemas.microsoft.com/office/drawing/2014/main" id="{43385FFD-8F33-9330-CA34-3AD5A35D914C}"/>
              </a:ext>
            </a:extLst>
          </p:cNvPr>
          <p:cNvSpPr/>
          <p:nvPr/>
        </p:nvSpPr>
        <p:spPr>
          <a:xfrm>
            <a:off x="11695302" y="4178360"/>
            <a:ext cx="1978383"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计算能量差</a:t>
            </a:r>
          </a:p>
        </p:txBody>
      </p:sp>
      <p:grpSp>
        <p:nvGrpSpPr>
          <p:cNvPr id="48" name="组合 47">
            <a:extLst>
              <a:ext uri="{FF2B5EF4-FFF2-40B4-BE49-F238E27FC236}">
                <a16:creationId xmlns:a16="http://schemas.microsoft.com/office/drawing/2014/main" id="{0FE23F28-2F75-9DDB-DCEE-D2AF3C653EDD}"/>
              </a:ext>
            </a:extLst>
          </p:cNvPr>
          <p:cNvGrpSpPr/>
          <p:nvPr/>
        </p:nvGrpSpPr>
        <p:grpSpPr>
          <a:xfrm>
            <a:off x="14182436" y="4060473"/>
            <a:ext cx="3954319" cy="684440"/>
            <a:chOff x="3942335" y="6077925"/>
            <a:chExt cx="2396554" cy="414812"/>
          </a:xfrm>
        </p:grpSpPr>
        <p:sp>
          <p:nvSpPr>
            <p:cNvPr id="45" name="矩形: 圆角 44">
              <a:extLst>
                <a:ext uri="{FF2B5EF4-FFF2-40B4-BE49-F238E27FC236}">
                  <a16:creationId xmlns:a16="http://schemas.microsoft.com/office/drawing/2014/main" id="{05F0AB17-5DA9-3A9F-7F4F-B8C875133718}"/>
                </a:ext>
              </a:extLst>
            </p:cNvPr>
            <p:cNvSpPr/>
            <p:nvPr/>
          </p:nvSpPr>
          <p:spPr>
            <a:xfrm>
              <a:off x="3942335" y="6077925"/>
              <a:ext cx="2396554" cy="414812"/>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31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7" name="对象 46">
              <a:extLst>
                <a:ext uri="{FF2B5EF4-FFF2-40B4-BE49-F238E27FC236}">
                  <a16:creationId xmlns:a16="http://schemas.microsoft.com/office/drawing/2014/main" id="{C92D2EE0-8D83-8744-4C68-19858DBB9E59}"/>
                </a:ext>
              </a:extLst>
            </p:cNvPr>
            <p:cNvGraphicFramePr>
              <a:graphicFrameLocks noChangeAspect="1"/>
            </p:cNvGraphicFramePr>
            <p:nvPr>
              <p:extLst>
                <p:ext uri="{D42A27DB-BD31-4B8C-83A1-F6EECF244321}">
                  <p14:modId xmlns:p14="http://schemas.microsoft.com/office/powerpoint/2010/main" val="3377460394"/>
                </p:ext>
              </p:extLst>
            </p:nvPr>
          </p:nvGraphicFramePr>
          <p:xfrm>
            <a:off x="4090988" y="6161088"/>
            <a:ext cx="2125956" cy="277812"/>
          </p:xfrm>
          <a:graphic>
            <a:graphicData uri="http://schemas.openxmlformats.org/presentationml/2006/ole">
              <mc:AlternateContent xmlns:mc="http://schemas.openxmlformats.org/markup-compatibility/2006">
                <mc:Choice xmlns:v="urn:schemas-microsoft-com:vml" Requires="v">
                  <p:oleObj name="AxMath" r:id="rId8" imgW="1805040" imgH="238320" progId="Equation.AxMath">
                    <p:embed/>
                  </p:oleObj>
                </mc:Choice>
                <mc:Fallback>
                  <p:oleObj name="AxMath" r:id="rId8" imgW="1805040" imgH="238320" progId="Equation.AxMath">
                    <p:embed/>
                    <p:pic>
                      <p:nvPicPr>
                        <p:cNvPr id="35" name="对象 34">
                          <a:extLst>
                            <a:ext uri="{FF2B5EF4-FFF2-40B4-BE49-F238E27FC236}">
                              <a16:creationId xmlns:a16="http://schemas.microsoft.com/office/drawing/2014/main" id="{3DF3E0DB-1B60-2C89-A4C3-A8D98DDBA35B}"/>
                            </a:ext>
                          </a:extLst>
                        </p:cNvPr>
                        <p:cNvPicPr/>
                        <p:nvPr/>
                      </p:nvPicPr>
                      <p:blipFill>
                        <a:blip r:embed="rId9"/>
                        <a:stretch>
                          <a:fillRect/>
                        </a:stretch>
                      </p:blipFill>
                      <p:spPr>
                        <a:xfrm>
                          <a:off x="4090988" y="6161088"/>
                          <a:ext cx="2125956" cy="277812"/>
                        </a:xfrm>
                        <a:prstGeom prst="rect">
                          <a:avLst/>
                        </a:prstGeom>
                      </p:spPr>
                    </p:pic>
                  </p:oleObj>
                </mc:Fallback>
              </mc:AlternateContent>
            </a:graphicData>
          </a:graphic>
        </p:graphicFrame>
      </p:grpSp>
      <p:sp>
        <p:nvSpPr>
          <p:cNvPr id="49" name="矩形: 圆角 48">
            <a:extLst>
              <a:ext uri="{FF2B5EF4-FFF2-40B4-BE49-F238E27FC236}">
                <a16:creationId xmlns:a16="http://schemas.microsoft.com/office/drawing/2014/main" id="{0E900BD6-8BE7-E4C5-A2B8-1160679B12D4}"/>
              </a:ext>
            </a:extLst>
          </p:cNvPr>
          <p:cNvSpPr/>
          <p:nvPr/>
        </p:nvSpPr>
        <p:spPr>
          <a:xfrm>
            <a:off x="11452834" y="5611774"/>
            <a:ext cx="2371880" cy="952591"/>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310" b="1" dirty="0">
                <a:latin typeface="宋体" panose="02010600030101010101" pitchFamily="2" charset="-122"/>
                <a:ea typeface="宋体" panose="02010600030101010101" pitchFamily="2" charset="-122"/>
              </a:rPr>
              <a:t>接受新解机制</a:t>
            </a:r>
          </a:p>
        </p:txBody>
      </p:sp>
      <p:grpSp>
        <p:nvGrpSpPr>
          <p:cNvPr id="50" name="组合 49">
            <a:extLst>
              <a:ext uri="{FF2B5EF4-FFF2-40B4-BE49-F238E27FC236}">
                <a16:creationId xmlns:a16="http://schemas.microsoft.com/office/drawing/2014/main" id="{7C6B118A-C5B9-6EED-C473-3340E83103FC}"/>
              </a:ext>
            </a:extLst>
          </p:cNvPr>
          <p:cNvGrpSpPr/>
          <p:nvPr/>
        </p:nvGrpSpPr>
        <p:grpSpPr>
          <a:xfrm>
            <a:off x="14182428" y="5128050"/>
            <a:ext cx="2044808" cy="696720"/>
            <a:chOff x="3942336" y="6077925"/>
            <a:chExt cx="1239276" cy="422254"/>
          </a:xfrm>
        </p:grpSpPr>
        <p:sp>
          <p:nvSpPr>
            <p:cNvPr id="51" name="矩形: 圆角 50">
              <a:extLst>
                <a:ext uri="{FF2B5EF4-FFF2-40B4-BE49-F238E27FC236}">
                  <a16:creationId xmlns:a16="http://schemas.microsoft.com/office/drawing/2014/main" id="{0B70667B-6375-3F50-1A61-84DFA19D918F}"/>
                </a:ext>
              </a:extLst>
            </p:cNvPr>
            <p:cNvSpPr/>
            <p:nvPr/>
          </p:nvSpPr>
          <p:spPr>
            <a:xfrm>
              <a:off x="3942336" y="6077925"/>
              <a:ext cx="1239276" cy="42225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31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2" name="对象 51">
              <a:extLst>
                <a:ext uri="{FF2B5EF4-FFF2-40B4-BE49-F238E27FC236}">
                  <a16:creationId xmlns:a16="http://schemas.microsoft.com/office/drawing/2014/main" id="{BC01919A-4A5E-F9B8-B291-991FB37CDA16}"/>
                </a:ext>
              </a:extLst>
            </p:cNvPr>
            <p:cNvGraphicFramePr>
              <a:graphicFrameLocks noChangeAspect="1"/>
            </p:cNvGraphicFramePr>
            <p:nvPr>
              <p:extLst>
                <p:ext uri="{D42A27DB-BD31-4B8C-83A1-F6EECF244321}">
                  <p14:modId xmlns:p14="http://schemas.microsoft.com/office/powerpoint/2010/main" val="4118226463"/>
                </p:ext>
              </p:extLst>
            </p:nvPr>
          </p:nvGraphicFramePr>
          <p:xfrm>
            <a:off x="4038613" y="6180830"/>
            <a:ext cx="1081087" cy="265113"/>
          </p:xfrm>
          <a:graphic>
            <a:graphicData uri="http://schemas.openxmlformats.org/presentationml/2006/ole">
              <mc:AlternateContent xmlns:mc="http://schemas.openxmlformats.org/markup-compatibility/2006">
                <mc:Choice xmlns:v="urn:schemas-microsoft-com:vml" Requires="v">
                  <p:oleObj name="AxMath" r:id="rId10" imgW="919440" imgH="227160" progId="Equation.AxMath">
                    <p:embed/>
                  </p:oleObj>
                </mc:Choice>
                <mc:Fallback>
                  <p:oleObj name="AxMath" r:id="rId10" imgW="919440" imgH="227160" progId="Equation.AxMath">
                    <p:embed/>
                    <p:pic>
                      <p:nvPicPr>
                        <p:cNvPr id="47" name="对象 46">
                          <a:extLst>
                            <a:ext uri="{FF2B5EF4-FFF2-40B4-BE49-F238E27FC236}">
                              <a16:creationId xmlns:a16="http://schemas.microsoft.com/office/drawing/2014/main" id="{C92D2EE0-8D83-8744-4C68-19858DBB9E59}"/>
                            </a:ext>
                          </a:extLst>
                        </p:cNvPr>
                        <p:cNvPicPr/>
                        <p:nvPr/>
                      </p:nvPicPr>
                      <p:blipFill>
                        <a:blip r:embed="rId11"/>
                        <a:stretch>
                          <a:fillRect/>
                        </a:stretch>
                      </p:blipFill>
                      <p:spPr>
                        <a:xfrm>
                          <a:off x="4038613" y="6180830"/>
                          <a:ext cx="1081087" cy="265113"/>
                        </a:xfrm>
                        <a:prstGeom prst="rect">
                          <a:avLst/>
                        </a:prstGeom>
                      </p:spPr>
                    </p:pic>
                  </p:oleObj>
                </mc:Fallback>
              </mc:AlternateContent>
            </a:graphicData>
          </a:graphic>
        </p:graphicFrame>
      </p:grpSp>
      <p:grpSp>
        <p:nvGrpSpPr>
          <p:cNvPr id="53" name="组合 52">
            <a:extLst>
              <a:ext uri="{FF2B5EF4-FFF2-40B4-BE49-F238E27FC236}">
                <a16:creationId xmlns:a16="http://schemas.microsoft.com/office/drawing/2014/main" id="{64B13145-2F31-D8C0-562D-666FE7A1DFF7}"/>
              </a:ext>
            </a:extLst>
          </p:cNvPr>
          <p:cNvGrpSpPr/>
          <p:nvPr/>
        </p:nvGrpSpPr>
        <p:grpSpPr>
          <a:xfrm>
            <a:off x="14182427" y="6370942"/>
            <a:ext cx="1321860" cy="696720"/>
            <a:chOff x="3942336" y="6077925"/>
            <a:chExt cx="801126" cy="422254"/>
          </a:xfrm>
        </p:grpSpPr>
        <p:sp>
          <p:nvSpPr>
            <p:cNvPr id="54" name="矩形: 圆角 53">
              <a:extLst>
                <a:ext uri="{FF2B5EF4-FFF2-40B4-BE49-F238E27FC236}">
                  <a16:creationId xmlns:a16="http://schemas.microsoft.com/office/drawing/2014/main" id="{331227E3-66AD-ECE9-3114-069E7907F81B}"/>
                </a:ext>
              </a:extLst>
            </p:cNvPr>
            <p:cNvSpPr/>
            <p:nvPr/>
          </p:nvSpPr>
          <p:spPr>
            <a:xfrm>
              <a:off x="3942336" y="6077925"/>
              <a:ext cx="801126" cy="42225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31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5" name="对象 54">
              <a:extLst>
                <a:ext uri="{FF2B5EF4-FFF2-40B4-BE49-F238E27FC236}">
                  <a16:creationId xmlns:a16="http://schemas.microsoft.com/office/drawing/2014/main" id="{B381FFC1-4B2D-E8B3-7058-07B25328C899}"/>
                </a:ext>
              </a:extLst>
            </p:cNvPr>
            <p:cNvGraphicFramePr>
              <a:graphicFrameLocks noChangeAspect="1"/>
            </p:cNvGraphicFramePr>
            <p:nvPr>
              <p:extLst>
                <p:ext uri="{D42A27DB-BD31-4B8C-83A1-F6EECF244321}">
                  <p14:modId xmlns:p14="http://schemas.microsoft.com/office/powerpoint/2010/main" val="2311368743"/>
                </p:ext>
              </p:extLst>
            </p:nvPr>
          </p:nvGraphicFramePr>
          <p:xfrm>
            <a:off x="4038613" y="6170763"/>
            <a:ext cx="635000" cy="265113"/>
          </p:xfrm>
          <a:graphic>
            <a:graphicData uri="http://schemas.openxmlformats.org/presentationml/2006/ole">
              <mc:AlternateContent xmlns:mc="http://schemas.openxmlformats.org/markup-compatibility/2006">
                <mc:Choice xmlns:v="urn:schemas-microsoft-com:vml" Requires="v">
                  <p:oleObj name="AxMath" r:id="rId12" imgW="539640" imgH="227160" progId="Equation.AxMath">
                    <p:embed/>
                  </p:oleObj>
                </mc:Choice>
                <mc:Fallback>
                  <p:oleObj name="AxMath" r:id="rId12" imgW="539640" imgH="227160" progId="Equation.AxMath">
                    <p:embed/>
                    <p:pic>
                      <p:nvPicPr>
                        <p:cNvPr id="52" name="对象 51">
                          <a:extLst>
                            <a:ext uri="{FF2B5EF4-FFF2-40B4-BE49-F238E27FC236}">
                              <a16:creationId xmlns:a16="http://schemas.microsoft.com/office/drawing/2014/main" id="{BC01919A-4A5E-F9B8-B291-991FB37CDA16}"/>
                            </a:ext>
                          </a:extLst>
                        </p:cNvPr>
                        <p:cNvPicPr/>
                        <p:nvPr/>
                      </p:nvPicPr>
                      <p:blipFill>
                        <a:blip r:embed="rId13"/>
                        <a:stretch>
                          <a:fillRect/>
                        </a:stretch>
                      </p:blipFill>
                      <p:spPr>
                        <a:xfrm>
                          <a:off x="4038613" y="6170763"/>
                          <a:ext cx="635000" cy="265113"/>
                        </a:xfrm>
                        <a:prstGeom prst="rect">
                          <a:avLst/>
                        </a:prstGeom>
                      </p:spPr>
                    </p:pic>
                  </p:oleObj>
                </mc:Fallback>
              </mc:AlternateContent>
            </a:graphicData>
          </a:graphic>
        </p:graphicFrame>
      </p:grpSp>
      <p:sp>
        <p:nvSpPr>
          <p:cNvPr id="56" name="矩形: 圆角 55">
            <a:extLst>
              <a:ext uri="{FF2B5EF4-FFF2-40B4-BE49-F238E27FC236}">
                <a16:creationId xmlns:a16="http://schemas.microsoft.com/office/drawing/2014/main" id="{8511FD89-CFBD-0199-B86E-39004B5EF7E9}"/>
              </a:ext>
            </a:extLst>
          </p:cNvPr>
          <p:cNvSpPr/>
          <p:nvPr/>
        </p:nvSpPr>
        <p:spPr>
          <a:xfrm>
            <a:off x="15890739" y="6088071"/>
            <a:ext cx="2128163" cy="59746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868" b="1" dirty="0"/>
          </a:p>
        </p:txBody>
      </p:sp>
      <p:graphicFrame>
        <p:nvGraphicFramePr>
          <p:cNvPr id="60" name="对象 59">
            <a:extLst>
              <a:ext uri="{FF2B5EF4-FFF2-40B4-BE49-F238E27FC236}">
                <a16:creationId xmlns:a16="http://schemas.microsoft.com/office/drawing/2014/main" id="{8FE329BA-D38C-4114-15DC-A41ECE939394}"/>
              </a:ext>
            </a:extLst>
          </p:cNvPr>
          <p:cNvGraphicFramePr>
            <a:graphicFrameLocks noChangeAspect="1"/>
          </p:cNvGraphicFramePr>
          <p:nvPr>
            <p:extLst>
              <p:ext uri="{D42A27DB-BD31-4B8C-83A1-F6EECF244321}">
                <p14:modId xmlns:p14="http://schemas.microsoft.com/office/powerpoint/2010/main" val="1490033222"/>
              </p:ext>
            </p:extLst>
          </p:nvPr>
        </p:nvGraphicFramePr>
        <p:xfrm>
          <a:off x="16173314" y="6191255"/>
          <a:ext cx="1548054" cy="437435"/>
        </p:xfrm>
        <a:graphic>
          <a:graphicData uri="http://schemas.openxmlformats.org/presentationml/2006/ole">
            <mc:AlternateContent xmlns:mc="http://schemas.openxmlformats.org/markup-compatibility/2006">
              <mc:Choice xmlns:v="urn:schemas-microsoft-com:vml" Requires="v">
                <p:oleObj name="AxMath" r:id="rId14" imgW="796680" imgH="227160" progId="Equation.AxMath">
                  <p:embed/>
                </p:oleObj>
              </mc:Choice>
              <mc:Fallback>
                <p:oleObj name="AxMath" r:id="rId14" imgW="796680" imgH="227160" progId="Equation.AxMath">
                  <p:embed/>
                  <p:pic>
                    <p:nvPicPr>
                      <p:cNvPr id="55" name="对象 54">
                        <a:extLst>
                          <a:ext uri="{FF2B5EF4-FFF2-40B4-BE49-F238E27FC236}">
                            <a16:creationId xmlns:a16="http://schemas.microsoft.com/office/drawing/2014/main" id="{B381FFC1-4B2D-E8B3-7058-07B25328C899}"/>
                          </a:ext>
                        </a:extLst>
                      </p:cNvPr>
                      <p:cNvPicPr/>
                      <p:nvPr/>
                    </p:nvPicPr>
                    <p:blipFill>
                      <a:blip r:embed="rId15"/>
                      <a:stretch>
                        <a:fillRect/>
                      </a:stretch>
                    </p:blipFill>
                    <p:spPr>
                      <a:xfrm>
                        <a:off x="16173314" y="6191255"/>
                        <a:ext cx="1548054" cy="437435"/>
                      </a:xfrm>
                      <a:prstGeom prst="rect">
                        <a:avLst/>
                      </a:prstGeom>
                    </p:spPr>
                  </p:pic>
                </p:oleObj>
              </mc:Fallback>
            </mc:AlternateContent>
          </a:graphicData>
        </a:graphic>
      </p:graphicFrame>
      <p:sp>
        <p:nvSpPr>
          <p:cNvPr id="62" name="矩形: 圆角 61">
            <a:extLst>
              <a:ext uri="{FF2B5EF4-FFF2-40B4-BE49-F238E27FC236}">
                <a16:creationId xmlns:a16="http://schemas.microsoft.com/office/drawing/2014/main" id="{0AF2230A-A5CE-BAE6-37CA-E2CBA2AB3EAB}"/>
              </a:ext>
            </a:extLst>
          </p:cNvPr>
          <p:cNvSpPr/>
          <p:nvPr/>
        </p:nvSpPr>
        <p:spPr>
          <a:xfrm>
            <a:off x="15890739" y="6882079"/>
            <a:ext cx="2128163" cy="59746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1868" b="1" dirty="0"/>
          </a:p>
        </p:txBody>
      </p:sp>
      <p:graphicFrame>
        <p:nvGraphicFramePr>
          <p:cNvPr id="63" name="对象 62">
            <a:extLst>
              <a:ext uri="{FF2B5EF4-FFF2-40B4-BE49-F238E27FC236}">
                <a16:creationId xmlns:a16="http://schemas.microsoft.com/office/drawing/2014/main" id="{BFFE9AAF-226D-CE16-35A4-1BCBF80B90DC}"/>
              </a:ext>
            </a:extLst>
          </p:cNvPr>
          <p:cNvGraphicFramePr>
            <a:graphicFrameLocks noChangeAspect="1"/>
          </p:cNvGraphicFramePr>
          <p:nvPr>
            <p:extLst>
              <p:ext uri="{D42A27DB-BD31-4B8C-83A1-F6EECF244321}">
                <p14:modId xmlns:p14="http://schemas.microsoft.com/office/powerpoint/2010/main" val="778449426"/>
              </p:ext>
            </p:extLst>
          </p:nvPr>
        </p:nvGraphicFramePr>
        <p:xfrm>
          <a:off x="16058649" y="6975244"/>
          <a:ext cx="1851900" cy="437437"/>
        </p:xfrm>
        <a:graphic>
          <a:graphicData uri="http://schemas.openxmlformats.org/presentationml/2006/ole">
            <mc:AlternateContent xmlns:mc="http://schemas.openxmlformats.org/markup-compatibility/2006">
              <mc:Choice xmlns:v="urn:schemas-microsoft-com:vml" Requires="v">
                <p:oleObj name="AxMath" r:id="rId16" imgW="952200" imgH="227160" progId="Equation.AxMath">
                  <p:embed/>
                </p:oleObj>
              </mc:Choice>
              <mc:Fallback>
                <p:oleObj name="AxMath" r:id="rId16" imgW="952200" imgH="227160" progId="Equation.AxMath">
                  <p:embed/>
                  <p:pic>
                    <p:nvPicPr>
                      <p:cNvPr id="60" name="对象 59">
                        <a:extLst>
                          <a:ext uri="{FF2B5EF4-FFF2-40B4-BE49-F238E27FC236}">
                            <a16:creationId xmlns:a16="http://schemas.microsoft.com/office/drawing/2014/main" id="{8FE329BA-D38C-4114-15DC-A41ECE939394}"/>
                          </a:ext>
                        </a:extLst>
                      </p:cNvPr>
                      <p:cNvPicPr/>
                      <p:nvPr/>
                    </p:nvPicPr>
                    <p:blipFill>
                      <a:blip r:embed="rId17"/>
                      <a:stretch>
                        <a:fillRect/>
                      </a:stretch>
                    </p:blipFill>
                    <p:spPr>
                      <a:xfrm>
                        <a:off x="16058649" y="6975244"/>
                        <a:ext cx="1851900" cy="437437"/>
                      </a:xfrm>
                      <a:prstGeom prst="rect">
                        <a:avLst/>
                      </a:prstGeom>
                    </p:spPr>
                  </p:pic>
                </p:oleObj>
              </mc:Fallback>
            </mc:AlternateContent>
          </a:graphicData>
        </a:graphic>
      </p:graphicFrame>
      <p:sp>
        <p:nvSpPr>
          <p:cNvPr id="64" name="流程图: 决策 63">
            <a:extLst>
              <a:ext uri="{FF2B5EF4-FFF2-40B4-BE49-F238E27FC236}">
                <a16:creationId xmlns:a16="http://schemas.microsoft.com/office/drawing/2014/main" id="{6F678224-0486-16F3-C643-7A9B661B410C}"/>
              </a:ext>
            </a:extLst>
          </p:cNvPr>
          <p:cNvSpPr/>
          <p:nvPr/>
        </p:nvSpPr>
        <p:spPr>
          <a:xfrm>
            <a:off x="10411195" y="9289990"/>
            <a:ext cx="8033026" cy="4296418"/>
          </a:xfrm>
          <a:prstGeom prst="flowChartDecision">
            <a:avLst/>
          </a:prstGeom>
          <a:solidFill>
            <a:srgbClr val="F9F871">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dirty="0"/>
          </a:p>
        </p:txBody>
      </p:sp>
      <p:sp>
        <p:nvSpPr>
          <p:cNvPr id="65" name="箭头: 右 64">
            <a:extLst>
              <a:ext uri="{FF2B5EF4-FFF2-40B4-BE49-F238E27FC236}">
                <a16:creationId xmlns:a16="http://schemas.microsoft.com/office/drawing/2014/main" id="{318698B4-82A6-161A-69D3-455DF10653F8}"/>
              </a:ext>
            </a:extLst>
          </p:cNvPr>
          <p:cNvSpPr/>
          <p:nvPr/>
        </p:nvSpPr>
        <p:spPr>
          <a:xfrm rot="5400000">
            <a:off x="14041458" y="8626167"/>
            <a:ext cx="823700"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66" name="文本框 65">
            <a:extLst>
              <a:ext uri="{FF2B5EF4-FFF2-40B4-BE49-F238E27FC236}">
                <a16:creationId xmlns:a16="http://schemas.microsoft.com/office/drawing/2014/main" id="{FAB935EA-F50B-9C95-92A0-5834DC3B8CD2}"/>
              </a:ext>
            </a:extLst>
          </p:cNvPr>
          <p:cNvSpPr txBox="1"/>
          <p:nvPr/>
        </p:nvSpPr>
        <p:spPr>
          <a:xfrm>
            <a:off x="13824721" y="9828905"/>
            <a:ext cx="1031051" cy="600164"/>
          </a:xfrm>
          <a:prstGeom prst="rect">
            <a:avLst/>
          </a:prstGeom>
          <a:noFill/>
        </p:spPr>
        <p:txBody>
          <a:bodyPr wrap="none" rtlCol="0">
            <a:spAutoFit/>
          </a:bodyPr>
          <a:lstStyle/>
          <a:p>
            <a:r>
              <a:rPr lang="zh-CN" altLang="en-US" sz="3300" dirty="0">
                <a:latin typeface="宋体" panose="02010600030101010101" pitchFamily="2" charset="-122"/>
                <a:ea typeface="宋体" panose="02010600030101010101" pitchFamily="2" charset="-122"/>
              </a:rPr>
              <a:t>终止</a:t>
            </a:r>
          </a:p>
        </p:txBody>
      </p:sp>
      <p:sp>
        <p:nvSpPr>
          <p:cNvPr id="67" name="矩形: 圆角 66">
            <a:extLst>
              <a:ext uri="{FF2B5EF4-FFF2-40B4-BE49-F238E27FC236}">
                <a16:creationId xmlns:a16="http://schemas.microsoft.com/office/drawing/2014/main" id="{6EE3CD05-B51F-E15D-188D-1737414DF6E4}"/>
              </a:ext>
            </a:extLst>
          </p:cNvPr>
          <p:cNvSpPr/>
          <p:nvPr/>
        </p:nvSpPr>
        <p:spPr>
          <a:xfrm>
            <a:off x="11859434" y="11043878"/>
            <a:ext cx="5328870" cy="756864"/>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970" b="1" i="1" dirty="0">
                <a:latin typeface="Times New Roman" panose="02020603050405020304" pitchFamily="18" charset="0"/>
                <a:cs typeface="Times New Roman" panose="02020603050405020304" pitchFamily="18" charset="0"/>
              </a:rPr>
              <a:t>T</a:t>
            </a:r>
            <a:r>
              <a:rPr lang="en-US" altLang="zh-CN" sz="2970" b="1" i="1" baseline="-25000" dirty="0">
                <a:latin typeface="Times New Roman" panose="02020603050405020304" pitchFamily="18" charset="0"/>
                <a:cs typeface="Times New Roman" panose="02020603050405020304" pitchFamily="18" charset="0"/>
              </a:rPr>
              <a:t>k+1 </a:t>
            </a:r>
            <a:r>
              <a:rPr lang="en-US" altLang="zh-CN" sz="2970" b="1" i="1" dirty="0">
                <a:latin typeface="Times New Roman" panose="02020603050405020304" pitchFamily="18" charset="0"/>
                <a:cs typeface="Times New Roman" panose="02020603050405020304" pitchFamily="18" charset="0"/>
              </a:rPr>
              <a:t>&lt; </a:t>
            </a:r>
            <a:r>
              <a:rPr lang="en-US" altLang="zh-CN" sz="2970" b="1" i="1" dirty="0" err="1">
                <a:latin typeface="Times New Roman" panose="02020603050405020304" pitchFamily="18" charset="0"/>
                <a:cs typeface="Times New Roman" panose="02020603050405020304" pitchFamily="18" charset="0"/>
              </a:rPr>
              <a:t>T</a:t>
            </a:r>
            <a:r>
              <a:rPr lang="en-US" altLang="zh-CN" sz="2970" b="1" i="1" baseline="-25000" dirty="0" err="1">
                <a:latin typeface="Times New Roman" panose="02020603050405020304" pitchFamily="18" charset="0"/>
                <a:cs typeface="Times New Roman" panose="02020603050405020304" pitchFamily="18" charset="0"/>
              </a:rPr>
              <a:t>final</a:t>
            </a:r>
            <a:r>
              <a:rPr lang="en-US" altLang="zh-CN" sz="2970" dirty="0"/>
              <a:t> or </a:t>
            </a:r>
            <a:r>
              <a:rPr lang="zh-CN" altLang="en-US" sz="2970" dirty="0"/>
              <a:t>迭代次数    </a:t>
            </a:r>
            <a:r>
              <a:rPr lang="en-US" altLang="zh-CN" sz="2970" dirty="0"/>
              <a:t>50 </a:t>
            </a:r>
            <a:r>
              <a:rPr lang="zh-CN" altLang="en-US" sz="2970" dirty="0"/>
              <a:t>？</a:t>
            </a:r>
            <a:r>
              <a:rPr lang="en-US" altLang="zh-CN" sz="2970" dirty="0"/>
              <a:t> </a:t>
            </a:r>
            <a:endParaRPr lang="zh-CN" altLang="en-US" sz="1868" b="1"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1" name="连接符: 肘形 70">
            <a:extLst>
              <a:ext uri="{FF2B5EF4-FFF2-40B4-BE49-F238E27FC236}">
                <a16:creationId xmlns:a16="http://schemas.microsoft.com/office/drawing/2014/main" id="{C704F2A5-E3FA-78C1-9EB2-80B5A9A6EE9F}"/>
              </a:ext>
            </a:extLst>
          </p:cNvPr>
          <p:cNvCxnSpPr>
            <a:stCxn id="64" idx="1"/>
            <a:endCxn id="36" idx="1"/>
          </p:cNvCxnSpPr>
          <p:nvPr/>
        </p:nvCxnSpPr>
        <p:spPr>
          <a:xfrm rot="10800000">
            <a:off x="10383748" y="5107508"/>
            <a:ext cx="27484" cy="6330743"/>
          </a:xfrm>
          <a:prstGeom prst="bentConnector3">
            <a:avLst>
              <a:gd name="adj1" fmla="val 1472396"/>
            </a:avLst>
          </a:prstGeom>
          <a:ln>
            <a:tailEnd type="triangle"/>
          </a:ln>
        </p:spPr>
        <p:style>
          <a:lnRef idx="3">
            <a:schemeClr val="dk1"/>
          </a:lnRef>
          <a:fillRef idx="0">
            <a:schemeClr val="dk1"/>
          </a:fillRef>
          <a:effectRef idx="2">
            <a:schemeClr val="dk1"/>
          </a:effectRef>
          <a:fontRef idx="minor">
            <a:schemeClr val="tx1"/>
          </a:fontRef>
        </p:style>
      </p:cxnSp>
      <p:sp>
        <p:nvSpPr>
          <p:cNvPr id="72" name="文本框 71">
            <a:extLst>
              <a:ext uri="{FF2B5EF4-FFF2-40B4-BE49-F238E27FC236}">
                <a16:creationId xmlns:a16="http://schemas.microsoft.com/office/drawing/2014/main" id="{2D751EB2-BE07-ECDB-F97E-88A8AEBA95E8}"/>
              </a:ext>
            </a:extLst>
          </p:cNvPr>
          <p:cNvSpPr txBox="1"/>
          <p:nvPr/>
        </p:nvSpPr>
        <p:spPr>
          <a:xfrm>
            <a:off x="9099599" y="7991812"/>
            <a:ext cx="651140" cy="549381"/>
          </a:xfrm>
          <a:prstGeom prst="rect">
            <a:avLst/>
          </a:prstGeom>
          <a:noFill/>
        </p:spPr>
        <p:txBody>
          <a:bodyPr wrap="none" rtlCol="0">
            <a:spAutoFit/>
          </a:bodyPr>
          <a:lstStyle/>
          <a:p>
            <a:r>
              <a:rPr lang="en-US" altLang="zh-CN" sz="2970" dirty="0">
                <a:latin typeface="Times New Roman" panose="02020603050405020304" pitchFamily="18" charset="0"/>
                <a:cs typeface="Times New Roman" panose="02020603050405020304" pitchFamily="18" charset="0"/>
              </a:rPr>
              <a:t>No</a:t>
            </a:r>
            <a:endParaRPr lang="zh-CN" altLang="en-US" sz="2970" dirty="0">
              <a:latin typeface="Times New Roman" panose="02020603050405020304" pitchFamily="18" charset="0"/>
              <a:cs typeface="Times New Roman" panose="02020603050405020304" pitchFamily="18" charset="0"/>
            </a:endParaRPr>
          </a:p>
        </p:txBody>
      </p:sp>
      <p:sp>
        <p:nvSpPr>
          <p:cNvPr id="73" name="矩形: 圆角 72">
            <a:extLst>
              <a:ext uri="{FF2B5EF4-FFF2-40B4-BE49-F238E27FC236}">
                <a16:creationId xmlns:a16="http://schemas.microsoft.com/office/drawing/2014/main" id="{277B1E51-974B-55A1-60EF-F54A428BAEF3}"/>
              </a:ext>
            </a:extLst>
          </p:cNvPr>
          <p:cNvSpPr/>
          <p:nvPr/>
        </p:nvSpPr>
        <p:spPr>
          <a:xfrm>
            <a:off x="13287036" y="18353661"/>
            <a:ext cx="2281407" cy="756864"/>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3300" b="1" dirty="0">
                <a:latin typeface="Times New Roman" panose="02020603050405020304" pitchFamily="18" charset="0"/>
                <a:ea typeface="宋体" panose="02010600030101010101" pitchFamily="2" charset="-122"/>
                <a:cs typeface="Times New Roman" panose="02020603050405020304" pitchFamily="18" charset="0"/>
              </a:rPr>
              <a:t>优化完成</a:t>
            </a:r>
          </a:p>
        </p:txBody>
      </p:sp>
      <p:cxnSp>
        <p:nvCxnSpPr>
          <p:cNvPr id="76" name="直接箭头连接符 75">
            <a:extLst>
              <a:ext uri="{FF2B5EF4-FFF2-40B4-BE49-F238E27FC236}">
                <a16:creationId xmlns:a16="http://schemas.microsoft.com/office/drawing/2014/main" id="{2FBBA4E1-C23B-DE51-3400-4026E191B412}"/>
              </a:ext>
            </a:extLst>
          </p:cNvPr>
          <p:cNvCxnSpPr>
            <a:stCxn id="64" idx="2"/>
            <a:endCxn id="73" idx="0"/>
          </p:cNvCxnSpPr>
          <p:nvPr/>
        </p:nvCxnSpPr>
        <p:spPr>
          <a:xfrm>
            <a:off x="14427696" y="13586451"/>
            <a:ext cx="0" cy="11667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8" name="文本框 77">
            <a:extLst>
              <a:ext uri="{FF2B5EF4-FFF2-40B4-BE49-F238E27FC236}">
                <a16:creationId xmlns:a16="http://schemas.microsoft.com/office/drawing/2014/main" id="{C4E09EA2-6CA7-5B54-3906-A7EA4120FB39}"/>
              </a:ext>
            </a:extLst>
          </p:cNvPr>
          <p:cNvSpPr txBox="1"/>
          <p:nvPr/>
        </p:nvSpPr>
        <p:spPr>
          <a:xfrm>
            <a:off x="14523912" y="13852410"/>
            <a:ext cx="738023" cy="549381"/>
          </a:xfrm>
          <a:prstGeom prst="rect">
            <a:avLst/>
          </a:prstGeom>
          <a:noFill/>
        </p:spPr>
        <p:txBody>
          <a:bodyPr wrap="none" rtlCol="0">
            <a:spAutoFit/>
          </a:bodyPr>
          <a:lstStyle/>
          <a:p>
            <a:r>
              <a:rPr lang="en-US" altLang="zh-CN" sz="2970" dirty="0">
                <a:latin typeface="Times New Roman" panose="02020603050405020304" pitchFamily="18" charset="0"/>
                <a:cs typeface="Times New Roman" panose="02020603050405020304" pitchFamily="18" charset="0"/>
              </a:rPr>
              <a:t>Yes</a:t>
            </a:r>
            <a:endParaRPr lang="zh-CN" altLang="en-US" sz="2970" dirty="0">
              <a:latin typeface="Times New Roman" panose="02020603050405020304" pitchFamily="18" charset="0"/>
              <a:cs typeface="Times New Roman" panose="02020603050405020304" pitchFamily="18" charset="0"/>
            </a:endParaRPr>
          </a:p>
        </p:txBody>
      </p:sp>
      <p:cxnSp>
        <p:nvCxnSpPr>
          <p:cNvPr id="80" name="连接符: 肘形 79">
            <a:extLst>
              <a:ext uri="{FF2B5EF4-FFF2-40B4-BE49-F238E27FC236}">
                <a16:creationId xmlns:a16="http://schemas.microsoft.com/office/drawing/2014/main" id="{D234E1EF-DEA4-4DA5-FED8-C2194385A0BC}"/>
              </a:ext>
            </a:extLst>
          </p:cNvPr>
          <p:cNvCxnSpPr>
            <a:stCxn id="49" idx="3"/>
            <a:endCxn id="51" idx="1"/>
          </p:cNvCxnSpPr>
          <p:nvPr/>
        </p:nvCxnSpPr>
        <p:spPr>
          <a:xfrm flipV="1">
            <a:off x="13824705" y="5476414"/>
            <a:ext cx="357752" cy="611619"/>
          </a:xfrm>
          <a:prstGeom prst="bentConnector3">
            <a:avLst/>
          </a:prstGeom>
        </p:spPr>
        <p:style>
          <a:lnRef idx="2">
            <a:schemeClr val="dk1"/>
          </a:lnRef>
          <a:fillRef idx="0">
            <a:schemeClr val="dk1"/>
          </a:fillRef>
          <a:effectRef idx="1">
            <a:schemeClr val="dk1"/>
          </a:effectRef>
          <a:fontRef idx="minor">
            <a:schemeClr val="tx1"/>
          </a:fontRef>
        </p:style>
      </p:cxnSp>
      <p:cxnSp>
        <p:nvCxnSpPr>
          <p:cNvPr id="82" name="连接符: 肘形 81">
            <a:extLst>
              <a:ext uri="{FF2B5EF4-FFF2-40B4-BE49-F238E27FC236}">
                <a16:creationId xmlns:a16="http://schemas.microsoft.com/office/drawing/2014/main" id="{CE644B5C-0C97-CF77-DAC4-6B294B920487}"/>
              </a:ext>
            </a:extLst>
          </p:cNvPr>
          <p:cNvCxnSpPr>
            <a:stCxn id="49" idx="3"/>
            <a:endCxn id="54" idx="1"/>
          </p:cNvCxnSpPr>
          <p:nvPr/>
        </p:nvCxnSpPr>
        <p:spPr>
          <a:xfrm>
            <a:off x="13824683" y="6088062"/>
            <a:ext cx="357751" cy="631276"/>
          </a:xfrm>
          <a:prstGeom prst="bentConnector3">
            <a:avLst/>
          </a:prstGeom>
        </p:spPr>
        <p:style>
          <a:lnRef idx="2">
            <a:schemeClr val="dk1"/>
          </a:lnRef>
          <a:fillRef idx="0">
            <a:schemeClr val="dk1"/>
          </a:fillRef>
          <a:effectRef idx="1">
            <a:schemeClr val="dk1"/>
          </a:effectRef>
          <a:fontRef idx="minor">
            <a:schemeClr val="tx1"/>
          </a:fontRef>
        </p:style>
      </p:cxnSp>
      <p:cxnSp>
        <p:nvCxnSpPr>
          <p:cNvPr id="88" name="连接符: 肘形 87">
            <a:extLst>
              <a:ext uri="{FF2B5EF4-FFF2-40B4-BE49-F238E27FC236}">
                <a16:creationId xmlns:a16="http://schemas.microsoft.com/office/drawing/2014/main" id="{49A252D0-9210-5C7E-F2C2-6BEC00089351}"/>
              </a:ext>
            </a:extLst>
          </p:cNvPr>
          <p:cNvCxnSpPr>
            <a:stCxn id="54" idx="3"/>
            <a:endCxn id="56" idx="1"/>
          </p:cNvCxnSpPr>
          <p:nvPr/>
        </p:nvCxnSpPr>
        <p:spPr>
          <a:xfrm flipV="1">
            <a:off x="15504324" y="6386760"/>
            <a:ext cx="386442" cy="332544"/>
          </a:xfrm>
          <a:prstGeom prst="bentConnector3">
            <a:avLst/>
          </a:prstGeom>
        </p:spPr>
        <p:style>
          <a:lnRef idx="2">
            <a:schemeClr val="dk1"/>
          </a:lnRef>
          <a:fillRef idx="0">
            <a:schemeClr val="dk1"/>
          </a:fillRef>
          <a:effectRef idx="1">
            <a:schemeClr val="dk1"/>
          </a:effectRef>
          <a:fontRef idx="minor">
            <a:schemeClr val="tx1"/>
          </a:fontRef>
        </p:style>
      </p:cxnSp>
      <p:cxnSp>
        <p:nvCxnSpPr>
          <p:cNvPr id="90" name="连接符: 肘形 89">
            <a:extLst>
              <a:ext uri="{FF2B5EF4-FFF2-40B4-BE49-F238E27FC236}">
                <a16:creationId xmlns:a16="http://schemas.microsoft.com/office/drawing/2014/main" id="{E0BC6FD9-8F07-8422-31AE-8299A81C54CB}"/>
              </a:ext>
            </a:extLst>
          </p:cNvPr>
          <p:cNvCxnSpPr>
            <a:stCxn id="54" idx="3"/>
            <a:endCxn id="62" idx="1"/>
          </p:cNvCxnSpPr>
          <p:nvPr/>
        </p:nvCxnSpPr>
        <p:spPr>
          <a:xfrm>
            <a:off x="15504324" y="6719320"/>
            <a:ext cx="386442" cy="461465"/>
          </a:xfrm>
          <a:prstGeom prst="bentConnector3">
            <a:avLst/>
          </a:prstGeom>
        </p:spPr>
        <p:style>
          <a:lnRef idx="2">
            <a:schemeClr val="dk1"/>
          </a:lnRef>
          <a:fillRef idx="0">
            <a:schemeClr val="dk1"/>
          </a:fillRef>
          <a:effectRef idx="1">
            <a:schemeClr val="dk1"/>
          </a:effectRef>
          <a:fontRef idx="minor">
            <a:schemeClr val="tx1"/>
          </a:fontRef>
        </p:style>
      </p:cxnSp>
      <p:graphicFrame>
        <p:nvGraphicFramePr>
          <p:cNvPr id="3" name="对象 2">
            <a:extLst>
              <a:ext uri="{FF2B5EF4-FFF2-40B4-BE49-F238E27FC236}">
                <a16:creationId xmlns:a16="http://schemas.microsoft.com/office/drawing/2014/main" id="{2F157D86-2914-B14C-FB85-E07AF7035FD2}"/>
              </a:ext>
            </a:extLst>
          </p:cNvPr>
          <p:cNvGraphicFramePr>
            <a:graphicFrameLocks noChangeAspect="1"/>
          </p:cNvGraphicFramePr>
          <p:nvPr>
            <p:extLst>
              <p:ext uri="{D42A27DB-BD31-4B8C-83A1-F6EECF244321}">
                <p14:modId xmlns:p14="http://schemas.microsoft.com/office/powerpoint/2010/main" val="1562939773"/>
              </p:ext>
            </p:extLst>
          </p:nvPr>
        </p:nvGraphicFramePr>
        <p:xfrm>
          <a:off x="15792693" y="11234073"/>
          <a:ext cx="324802" cy="437435"/>
        </p:xfrm>
        <a:graphic>
          <a:graphicData uri="http://schemas.openxmlformats.org/presentationml/2006/ole">
            <mc:AlternateContent xmlns:mc="http://schemas.openxmlformats.org/markup-compatibility/2006">
              <mc:Choice xmlns:v="urn:schemas-microsoft-com:vml" Requires="v">
                <p:oleObj name="AxMath" r:id="rId18" imgW="166680" imgH="227160" progId="Equation.AxMath">
                  <p:embed/>
                </p:oleObj>
              </mc:Choice>
              <mc:Fallback>
                <p:oleObj name="AxMath" r:id="rId18" imgW="166680" imgH="227160" progId="Equation.AxMath">
                  <p:embed/>
                  <p:pic>
                    <p:nvPicPr>
                      <p:cNvPr id="63" name="对象 62">
                        <a:extLst>
                          <a:ext uri="{FF2B5EF4-FFF2-40B4-BE49-F238E27FC236}">
                            <a16:creationId xmlns:a16="http://schemas.microsoft.com/office/drawing/2014/main" id="{BFFE9AAF-226D-CE16-35A4-1BCBF80B90DC}"/>
                          </a:ext>
                        </a:extLst>
                      </p:cNvPr>
                      <p:cNvPicPr/>
                      <p:nvPr/>
                    </p:nvPicPr>
                    <p:blipFill>
                      <a:blip r:embed="rId19"/>
                      <a:stretch>
                        <a:fillRect/>
                      </a:stretch>
                    </p:blipFill>
                    <p:spPr>
                      <a:xfrm>
                        <a:off x="15792693" y="11234073"/>
                        <a:ext cx="324802" cy="437435"/>
                      </a:xfrm>
                      <a:prstGeom prst="rect">
                        <a:avLst/>
                      </a:prstGeom>
                    </p:spPr>
                  </p:pic>
                </p:oleObj>
              </mc:Fallback>
            </mc:AlternateContent>
          </a:graphicData>
        </a:graphic>
      </p:graphicFrame>
    </p:spTree>
    <p:extLst>
      <p:ext uri="{BB962C8B-B14F-4D97-AF65-F5344CB8AC3E}">
        <p14:creationId xmlns:p14="http://schemas.microsoft.com/office/powerpoint/2010/main" val="319692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060D9-3D7C-8C5D-55F5-394C5691ED1A}"/>
            </a:ext>
          </a:extLst>
        </p:cNvPr>
        <p:cNvGrpSpPr/>
        <p:nvPr/>
      </p:nvGrpSpPr>
      <p:grpSpPr>
        <a:xfrm>
          <a:off x="0" y="0"/>
          <a:ext cx="0" cy="0"/>
          <a:chOff x="0" y="0"/>
          <a:chExt cx="0" cy="0"/>
        </a:xfrm>
      </p:grpSpPr>
      <p:sp>
        <p:nvSpPr>
          <p:cNvPr id="4" name="矩形: 圆角 3">
            <a:extLst>
              <a:ext uri="{FF2B5EF4-FFF2-40B4-BE49-F238E27FC236}">
                <a16:creationId xmlns:a16="http://schemas.microsoft.com/office/drawing/2014/main" id="{2A86E3EE-2465-F9D3-9988-2607B7BA5F67}"/>
              </a:ext>
            </a:extLst>
          </p:cNvPr>
          <p:cNvSpPr/>
          <p:nvPr/>
        </p:nvSpPr>
        <p:spPr>
          <a:xfrm>
            <a:off x="1678255" y="2231196"/>
            <a:ext cx="10363390" cy="7787260"/>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077E5333-CA8B-4216-6049-CECF13140C6C}"/>
              </a:ext>
            </a:extLst>
          </p:cNvPr>
          <p:cNvSpPr txBox="1"/>
          <p:nvPr/>
        </p:nvSpPr>
        <p:spPr>
          <a:xfrm>
            <a:off x="5374873" y="2707022"/>
            <a:ext cx="3331361" cy="830997"/>
          </a:xfrm>
          <a:prstGeom prst="rect">
            <a:avLst/>
          </a:prstGeom>
          <a:noFill/>
        </p:spPr>
        <p:txBody>
          <a:bodyPr wrap="none" rtlCol="0">
            <a:spAutoFit/>
          </a:bodyPr>
          <a:lstStyle/>
          <a:p>
            <a:r>
              <a:rPr lang="en-US" altLang="zh-CN" sz="4800" dirty="0">
                <a:latin typeface="Times New Roman" panose="02020603050405020304" pitchFamily="18" charset="0"/>
                <a:ea typeface="宋体" panose="02010600030101010101" pitchFamily="2" charset="-122"/>
                <a:cs typeface="Times New Roman" panose="02020603050405020304" pitchFamily="18" charset="0"/>
              </a:rPr>
              <a:t>Initialization</a:t>
            </a:r>
            <a:endParaRPr lang="zh-CN" altLang="en-US" sz="4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矩形: 圆角 5">
            <a:extLst>
              <a:ext uri="{FF2B5EF4-FFF2-40B4-BE49-F238E27FC236}">
                <a16:creationId xmlns:a16="http://schemas.microsoft.com/office/drawing/2014/main" id="{FAFE907F-CD7E-BA63-FA21-54976F85E983}"/>
              </a:ext>
            </a:extLst>
          </p:cNvPr>
          <p:cNvSpPr/>
          <p:nvPr/>
        </p:nvSpPr>
        <p:spPr>
          <a:xfrm>
            <a:off x="2681004" y="4165204"/>
            <a:ext cx="3967685" cy="704449"/>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Initial temperature</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矩形: 圆角 8">
            <a:extLst>
              <a:ext uri="{FF2B5EF4-FFF2-40B4-BE49-F238E27FC236}">
                <a16:creationId xmlns:a16="http://schemas.microsoft.com/office/drawing/2014/main" id="{191F618F-3DDF-D491-284B-385974301759}"/>
              </a:ext>
            </a:extLst>
          </p:cNvPr>
          <p:cNvSpPr/>
          <p:nvPr/>
        </p:nvSpPr>
        <p:spPr>
          <a:xfrm>
            <a:off x="8164610" y="3917605"/>
            <a:ext cx="3182943" cy="1161222"/>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圆角 12">
            <a:extLst>
              <a:ext uri="{FF2B5EF4-FFF2-40B4-BE49-F238E27FC236}">
                <a16:creationId xmlns:a16="http://schemas.microsoft.com/office/drawing/2014/main" id="{800387E4-CF6C-9C0C-CEA4-F190259D8C6D}"/>
              </a:ext>
            </a:extLst>
          </p:cNvPr>
          <p:cNvSpPr/>
          <p:nvPr/>
        </p:nvSpPr>
        <p:spPr>
          <a:xfrm>
            <a:off x="2028528" y="5136047"/>
            <a:ext cx="5457804" cy="901574"/>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ea typeface="宋体" panose="02010600030101010101" pitchFamily="2" charset="-122"/>
                <a:cs typeface="Times New Roman" panose="02020603050405020304" pitchFamily="18" charset="0"/>
              </a:rPr>
              <a:t>Temperature reduction strategy</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矩形: 圆角 19">
            <a:extLst>
              <a:ext uri="{FF2B5EF4-FFF2-40B4-BE49-F238E27FC236}">
                <a16:creationId xmlns:a16="http://schemas.microsoft.com/office/drawing/2014/main" id="{8A77119C-AF67-4E00-DF0B-1492F003B92D}"/>
              </a:ext>
            </a:extLst>
          </p:cNvPr>
          <p:cNvSpPr/>
          <p:nvPr/>
        </p:nvSpPr>
        <p:spPr>
          <a:xfrm>
            <a:off x="2912507" y="6224871"/>
            <a:ext cx="3365451" cy="695810"/>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Cooling rate</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矩形: 圆角 20">
            <a:extLst>
              <a:ext uri="{FF2B5EF4-FFF2-40B4-BE49-F238E27FC236}">
                <a16:creationId xmlns:a16="http://schemas.microsoft.com/office/drawing/2014/main" id="{7795EDD1-4B49-EF5C-96BB-BF333CB123CD}"/>
              </a:ext>
            </a:extLst>
          </p:cNvPr>
          <p:cNvSpPr/>
          <p:nvPr/>
        </p:nvSpPr>
        <p:spPr>
          <a:xfrm>
            <a:off x="2292982" y="8113654"/>
            <a:ext cx="4977066" cy="775685"/>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Number of iterations</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矩形: 圆角 21">
            <a:extLst>
              <a:ext uri="{FF2B5EF4-FFF2-40B4-BE49-F238E27FC236}">
                <a16:creationId xmlns:a16="http://schemas.microsoft.com/office/drawing/2014/main" id="{D3F3F4A1-A325-254E-B896-B4EC6B89760A}"/>
              </a:ext>
            </a:extLst>
          </p:cNvPr>
          <p:cNvSpPr/>
          <p:nvPr/>
        </p:nvSpPr>
        <p:spPr>
          <a:xfrm>
            <a:off x="2457945" y="7090554"/>
            <a:ext cx="4748377" cy="776492"/>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Termination condition</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矩形: 圆角 22">
            <a:extLst>
              <a:ext uri="{FF2B5EF4-FFF2-40B4-BE49-F238E27FC236}">
                <a16:creationId xmlns:a16="http://schemas.microsoft.com/office/drawing/2014/main" id="{0C816E8D-3A1F-A7A6-05E2-84AD3C6E83AD}"/>
              </a:ext>
            </a:extLst>
          </p:cNvPr>
          <p:cNvSpPr/>
          <p:nvPr/>
        </p:nvSpPr>
        <p:spPr>
          <a:xfrm>
            <a:off x="8995542" y="6202119"/>
            <a:ext cx="1521076" cy="627301"/>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700" b="1" dirty="0">
                <a:latin typeface="Times New Roman" panose="02020603050405020304" pitchFamily="18" charset="0"/>
                <a:ea typeface="宋体" panose="02010600030101010101" pitchFamily="2" charset="-122"/>
                <a:cs typeface="Times New Roman" panose="02020603050405020304" pitchFamily="18" charset="0"/>
              </a:rPr>
              <a:t>0.95</a:t>
            </a:r>
            <a:endParaRPr lang="zh-CN" altLang="en-US" sz="27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矩形: 圆角 23">
            <a:extLst>
              <a:ext uri="{FF2B5EF4-FFF2-40B4-BE49-F238E27FC236}">
                <a16:creationId xmlns:a16="http://schemas.microsoft.com/office/drawing/2014/main" id="{1BC53B74-C81C-37B5-31BD-9041C456C862}"/>
              </a:ext>
            </a:extLst>
          </p:cNvPr>
          <p:cNvSpPr/>
          <p:nvPr/>
        </p:nvSpPr>
        <p:spPr>
          <a:xfrm>
            <a:off x="9030064" y="8234340"/>
            <a:ext cx="1521076" cy="69019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700" b="1" dirty="0">
                <a:latin typeface="Times New Roman" panose="02020603050405020304" pitchFamily="18" charset="0"/>
                <a:ea typeface="宋体" panose="02010600030101010101" pitchFamily="2" charset="-122"/>
                <a:cs typeface="Times New Roman" panose="02020603050405020304" pitchFamily="18" charset="0"/>
              </a:rPr>
              <a:t>50</a:t>
            </a:r>
            <a:endParaRPr lang="zh-CN" altLang="en-US" sz="27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矩形: 圆角 24">
            <a:extLst>
              <a:ext uri="{FF2B5EF4-FFF2-40B4-BE49-F238E27FC236}">
                <a16:creationId xmlns:a16="http://schemas.microsoft.com/office/drawing/2014/main" id="{7673AFC6-AD0A-953C-5792-88B92487B517}"/>
              </a:ext>
            </a:extLst>
          </p:cNvPr>
          <p:cNvSpPr/>
          <p:nvPr/>
        </p:nvSpPr>
        <p:spPr>
          <a:xfrm>
            <a:off x="8203854" y="7054847"/>
            <a:ext cx="3229869" cy="88466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3600" i="1" baseline="-25000"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 &lt; </a:t>
            </a:r>
            <a:r>
              <a:rPr lang="en-US" altLang="zh-CN" sz="3600" i="1"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3600" i="1" baseline="-25000" dirty="0" err="1">
                <a:latin typeface="Times New Roman" panose="02020603050405020304" pitchFamily="18" charset="0"/>
                <a:ea typeface="宋体" panose="02010600030101010101" pitchFamily="2" charset="-122"/>
                <a:cs typeface="Times New Roman" panose="02020603050405020304" pitchFamily="18" charset="0"/>
              </a:rPr>
              <a:t>final</a:t>
            </a:r>
            <a:r>
              <a:rPr lang="en-US" altLang="zh-CN" sz="3600" dirty="0">
                <a:latin typeface="Times New Roman" panose="02020603050405020304" pitchFamily="18" charset="0"/>
                <a:ea typeface="宋体" panose="02010600030101010101" pitchFamily="2" charset="-122"/>
                <a:cs typeface="Times New Roman" panose="02020603050405020304" pitchFamily="18" charset="0"/>
              </a:rPr>
              <a:t> = 0.1</a:t>
            </a:r>
            <a:endParaRPr lang="zh-CN" altLang="en-US" sz="3600"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4" name="组合 33">
            <a:extLst>
              <a:ext uri="{FF2B5EF4-FFF2-40B4-BE49-F238E27FC236}">
                <a16:creationId xmlns:a16="http://schemas.microsoft.com/office/drawing/2014/main" id="{E978E74E-D20B-D9A8-BCF5-259D5BDABD66}"/>
              </a:ext>
            </a:extLst>
          </p:cNvPr>
          <p:cNvGrpSpPr/>
          <p:nvPr/>
        </p:nvGrpSpPr>
        <p:grpSpPr>
          <a:xfrm>
            <a:off x="7724495" y="3930829"/>
            <a:ext cx="4276624" cy="2034545"/>
            <a:chOff x="5770306" y="834957"/>
            <a:chExt cx="4005506" cy="1905564"/>
          </a:xfrm>
        </p:grpSpPr>
        <p:sp>
          <p:nvSpPr>
            <p:cNvPr id="15" name="矩形: 圆角 14">
              <a:extLst>
                <a:ext uri="{FF2B5EF4-FFF2-40B4-BE49-F238E27FC236}">
                  <a16:creationId xmlns:a16="http://schemas.microsoft.com/office/drawing/2014/main" id="{DF67BF5B-3D73-B48B-F1FF-CAB73DA664C0}"/>
                </a:ext>
              </a:extLst>
            </p:cNvPr>
            <p:cNvSpPr/>
            <p:nvPr/>
          </p:nvSpPr>
          <p:spPr>
            <a:xfrm>
              <a:off x="5770306" y="2014011"/>
              <a:ext cx="4005506" cy="726510"/>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7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33" name="对象 32">
              <a:extLst>
                <a:ext uri="{FF2B5EF4-FFF2-40B4-BE49-F238E27FC236}">
                  <a16:creationId xmlns:a16="http://schemas.microsoft.com/office/drawing/2014/main" id="{31641262-BC3C-69FE-E277-8DC6A2285242}"/>
                </a:ext>
              </a:extLst>
            </p:cNvPr>
            <p:cNvGraphicFramePr>
              <a:graphicFrameLocks noChangeAspect="1"/>
            </p:cNvGraphicFramePr>
            <p:nvPr>
              <p:extLst>
                <p:ext uri="{D42A27DB-BD31-4B8C-83A1-F6EECF244321}">
                  <p14:modId xmlns:p14="http://schemas.microsoft.com/office/powerpoint/2010/main" val="1420293748"/>
                </p:ext>
              </p:extLst>
            </p:nvPr>
          </p:nvGraphicFramePr>
          <p:xfrm>
            <a:off x="5894568" y="2171774"/>
            <a:ext cx="3705202" cy="521978"/>
          </p:xfrm>
          <a:graphic>
            <a:graphicData uri="http://schemas.openxmlformats.org/presentationml/2006/ole">
              <mc:AlternateContent xmlns:mc="http://schemas.openxmlformats.org/markup-compatibility/2006">
                <mc:Choice xmlns:v="urn:schemas-microsoft-com:vml" Requires="v">
                  <p:oleObj name="AxMath" r:id="rId2" imgW="1613520" imgH="228240" progId="Equation.AxMath">
                    <p:embed/>
                  </p:oleObj>
                </mc:Choice>
                <mc:Fallback>
                  <p:oleObj name="AxMath" r:id="rId2" imgW="1613520" imgH="228240" progId="Equation.AxMath">
                    <p:embed/>
                    <p:pic>
                      <p:nvPicPr>
                        <p:cNvPr id="33" name="对象 32">
                          <a:extLst>
                            <a:ext uri="{FF2B5EF4-FFF2-40B4-BE49-F238E27FC236}">
                              <a16:creationId xmlns:a16="http://schemas.microsoft.com/office/drawing/2014/main" id="{8223E1B2-C873-7D3B-57DA-1D51427FC475}"/>
                            </a:ext>
                          </a:extLst>
                        </p:cNvPr>
                        <p:cNvPicPr/>
                        <p:nvPr/>
                      </p:nvPicPr>
                      <p:blipFill>
                        <a:blip r:embed="rId3"/>
                        <a:stretch>
                          <a:fillRect/>
                        </a:stretch>
                      </p:blipFill>
                      <p:spPr>
                        <a:xfrm>
                          <a:off x="5894568" y="2171774"/>
                          <a:ext cx="3705202" cy="521978"/>
                        </a:xfrm>
                        <a:prstGeom prst="rect">
                          <a:avLst/>
                        </a:prstGeom>
                      </p:spPr>
                    </p:pic>
                  </p:oleObj>
                </mc:Fallback>
              </mc:AlternateContent>
            </a:graphicData>
          </a:graphic>
        </p:graphicFrame>
        <p:graphicFrame>
          <p:nvGraphicFramePr>
            <p:cNvPr id="35" name="对象 34">
              <a:extLst>
                <a:ext uri="{FF2B5EF4-FFF2-40B4-BE49-F238E27FC236}">
                  <a16:creationId xmlns:a16="http://schemas.microsoft.com/office/drawing/2014/main" id="{8EEA4366-8C9A-9873-211C-EF01F25AC6DD}"/>
                </a:ext>
              </a:extLst>
            </p:cNvPr>
            <p:cNvGraphicFramePr>
              <a:graphicFrameLocks noChangeAspect="1"/>
            </p:cNvGraphicFramePr>
            <p:nvPr>
              <p:extLst>
                <p:ext uri="{D42A27DB-BD31-4B8C-83A1-F6EECF244321}">
                  <p14:modId xmlns:p14="http://schemas.microsoft.com/office/powerpoint/2010/main" val="1889565519"/>
                </p:ext>
              </p:extLst>
            </p:nvPr>
          </p:nvGraphicFramePr>
          <p:xfrm>
            <a:off x="6508368" y="834957"/>
            <a:ext cx="2529381" cy="1087604"/>
          </p:xfrm>
          <a:graphic>
            <a:graphicData uri="http://schemas.openxmlformats.org/presentationml/2006/ole">
              <mc:AlternateContent xmlns:mc="http://schemas.openxmlformats.org/markup-compatibility/2006">
                <mc:Choice xmlns:v="urn:schemas-microsoft-com:vml" Requires="v">
                  <p:oleObj name="AxMath" r:id="rId4" imgW="900000" imgH="388440" progId="Equation.AxMath">
                    <p:embed/>
                  </p:oleObj>
                </mc:Choice>
                <mc:Fallback>
                  <p:oleObj name="AxMath" r:id="rId4" imgW="900000" imgH="388440" progId="Equation.AxMath">
                    <p:embed/>
                    <p:pic>
                      <p:nvPicPr>
                        <p:cNvPr id="35" name="对象 34">
                          <a:extLst>
                            <a:ext uri="{FF2B5EF4-FFF2-40B4-BE49-F238E27FC236}">
                              <a16:creationId xmlns:a16="http://schemas.microsoft.com/office/drawing/2014/main" id="{3DF3E0DB-1B60-2C89-A4C3-A8D98DDBA35B}"/>
                            </a:ext>
                          </a:extLst>
                        </p:cNvPr>
                        <p:cNvPicPr/>
                        <p:nvPr/>
                      </p:nvPicPr>
                      <p:blipFill>
                        <a:blip r:embed="rId5"/>
                        <a:stretch>
                          <a:fillRect/>
                        </a:stretch>
                      </p:blipFill>
                      <p:spPr>
                        <a:xfrm>
                          <a:off x="6508368" y="834957"/>
                          <a:ext cx="2529381" cy="1087604"/>
                        </a:xfrm>
                        <a:prstGeom prst="rect">
                          <a:avLst/>
                        </a:prstGeom>
                      </p:spPr>
                    </p:pic>
                  </p:oleObj>
                </mc:Fallback>
              </mc:AlternateContent>
            </a:graphicData>
          </a:graphic>
        </p:graphicFrame>
      </p:grpSp>
      <p:sp>
        <p:nvSpPr>
          <p:cNvPr id="36" name="矩形: 圆角 35">
            <a:extLst>
              <a:ext uri="{FF2B5EF4-FFF2-40B4-BE49-F238E27FC236}">
                <a16:creationId xmlns:a16="http://schemas.microsoft.com/office/drawing/2014/main" id="{CC9ADE6D-E672-8FB2-D1E2-94796A70C4AA}"/>
              </a:ext>
            </a:extLst>
          </p:cNvPr>
          <p:cNvSpPr/>
          <p:nvPr/>
        </p:nvSpPr>
        <p:spPr>
          <a:xfrm>
            <a:off x="12680104" y="2285727"/>
            <a:ext cx="14912823" cy="7932868"/>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箭头: 右 36">
            <a:extLst>
              <a:ext uri="{FF2B5EF4-FFF2-40B4-BE49-F238E27FC236}">
                <a16:creationId xmlns:a16="http://schemas.microsoft.com/office/drawing/2014/main" id="{2ECBD45C-EC4B-36FE-1D52-BD88241CE079}"/>
              </a:ext>
            </a:extLst>
          </p:cNvPr>
          <p:cNvSpPr/>
          <p:nvPr/>
        </p:nvSpPr>
        <p:spPr>
          <a:xfrm>
            <a:off x="12125611" y="5960693"/>
            <a:ext cx="506232"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1" name="组合 40">
            <a:extLst>
              <a:ext uri="{FF2B5EF4-FFF2-40B4-BE49-F238E27FC236}">
                <a16:creationId xmlns:a16="http://schemas.microsoft.com/office/drawing/2014/main" id="{450B1339-CAA3-2DBA-C4CA-5F11168D93EE}"/>
              </a:ext>
            </a:extLst>
          </p:cNvPr>
          <p:cNvGrpSpPr/>
          <p:nvPr/>
        </p:nvGrpSpPr>
        <p:grpSpPr>
          <a:xfrm>
            <a:off x="17738864" y="2575521"/>
            <a:ext cx="3302273" cy="1021047"/>
            <a:chOff x="3750331" y="4987502"/>
            <a:chExt cx="1047919" cy="517338"/>
          </a:xfrm>
        </p:grpSpPr>
        <p:sp>
          <p:nvSpPr>
            <p:cNvPr id="39" name="文本框 38">
              <a:extLst>
                <a:ext uri="{FF2B5EF4-FFF2-40B4-BE49-F238E27FC236}">
                  <a16:creationId xmlns:a16="http://schemas.microsoft.com/office/drawing/2014/main" id="{3B3BAAEF-CEE6-EF56-F9AD-87BF6CB467B8}"/>
                </a:ext>
              </a:extLst>
            </p:cNvPr>
            <p:cNvSpPr txBox="1"/>
            <p:nvPr/>
          </p:nvSpPr>
          <p:spPr>
            <a:xfrm>
              <a:off x="3953222" y="4987502"/>
              <a:ext cx="845028" cy="421044"/>
            </a:xfrm>
            <a:prstGeom prst="rect">
              <a:avLst/>
            </a:prstGeom>
            <a:noFill/>
          </p:spPr>
          <p:txBody>
            <a:bodyPr wrap="none" rtlCol="0">
              <a:spAutoFit/>
            </a:bodyPr>
            <a:lstStyle/>
            <a:p>
              <a:r>
                <a:rPr lang="en-US" altLang="zh-CN" sz="4800" dirty="0">
                  <a:latin typeface="Times New Roman" panose="02020603050405020304" pitchFamily="18" charset="0"/>
                  <a:ea typeface="宋体" panose="02010600030101010101" pitchFamily="2" charset="-122"/>
                  <a:cs typeface="Times New Roman" panose="02020603050405020304" pitchFamily="18" charset="0"/>
                </a:rPr>
                <a:t> Iterations</a:t>
              </a:r>
              <a:endParaRPr lang="zh-CN" altLang="en-US" sz="4800"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0" name="对象 39">
              <a:extLst>
                <a:ext uri="{FF2B5EF4-FFF2-40B4-BE49-F238E27FC236}">
                  <a16:creationId xmlns:a16="http://schemas.microsoft.com/office/drawing/2014/main" id="{18FAFB22-FEA3-61FE-65A9-374F85486BE9}"/>
                </a:ext>
              </a:extLst>
            </p:cNvPr>
            <p:cNvGraphicFramePr>
              <a:graphicFrameLocks noChangeAspect="1"/>
            </p:cNvGraphicFramePr>
            <p:nvPr>
              <p:extLst>
                <p:ext uri="{D42A27DB-BD31-4B8C-83A1-F6EECF244321}">
                  <p14:modId xmlns:p14="http://schemas.microsoft.com/office/powerpoint/2010/main" val="1350460009"/>
                </p:ext>
              </p:extLst>
            </p:nvPr>
          </p:nvGraphicFramePr>
          <p:xfrm>
            <a:off x="3750331" y="5026826"/>
            <a:ext cx="260097" cy="478014"/>
          </p:xfrm>
          <a:graphic>
            <a:graphicData uri="http://schemas.openxmlformats.org/presentationml/2006/ole">
              <mc:AlternateContent xmlns:mc="http://schemas.openxmlformats.org/markup-compatibility/2006">
                <mc:Choice xmlns:v="urn:schemas-microsoft-com:vml" Requires="v">
                  <p:oleObj name="AxMath" r:id="rId6" imgW="182520" imgH="228240" progId="Equation.AxMath">
                    <p:embed/>
                  </p:oleObj>
                </mc:Choice>
                <mc:Fallback>
                  <p:oleObj name="AxMath" r:id="rId6" imgW="182520" imgH="228240" progId="Equation.AxMath">
                    <p:embed/>
                    <p:pic>
                      <p:nvPicPr>
                        <p:cNvPr id="40" name="对象 39">
                          <a:extLst>
                            <a:ext uri="{FF2B5EF4-FFF2-40B4-BE49-F238E27FC236}">
                              <a16:creationId xmlns:a16="http://schemas.microsoft.com/office/drawing/2014/main" id="{6A1B0B7B-5968-0816-D0A4-1CB35C9A7FDF}"/>
                            </a:ext>
                          </a:extLst>
                        </p:cNvPr>
                        <p:cNvPicPr/>
                        <p:nvPr/>
                      </p:nvPicPr>
                      <p:blipFill>
                        <a:blip r:embed="rId7"/>
                        <a:stretch>
                          <a:fillRect/>
                        </a:stretch>
                      </p:blipFill>
                      <p:spPr>
                        <a:xfrm>
                          <a:off x="3750331" y="5026826"/>
                          <a:ext cx="260097" cy="478014"/>
                        </a:xfrm>
                        <a:prstGeom prst="rect">
                          <a:avLst/>
                        </a:prstGeom>
                      </p:spPr>
                    </p:pic>
                  </p:oleObj>
                </mc:Fallback>
              </mc:AlternateContent>
            </a:graphicData>
          </a:graphic>
        </p:graphicFrame>
      </p:grpSp>
      <p:sp>
        <p:nvSpPr>
          <p:cNvPr id="42" name="矩形: 圆角 41">
            <a:extLst>
              <a:ext uri="{FF2B5EF4-FFF2-40B4-BE49-F238E27FC236}">
                <a16:creationId xmlns:a16="http://schemas.microsoft.com/office/drawing/2014/main" id="{7A8672EE-3D1A-CD35-6EE1-4E93A48EC71D}"/>
              </a:ext>
            </a:extLst>
          </p:cNvPr>
          <p:cNvSpPr/>
          <p:nvPr/>
        </p:nvSpPr>
        <p:spPr>
          <a:xfrm>
            <a:off x="13285921" y="4086779"/>
            <a:ext cx="4856574" cy="643061"/>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Perturbation mechanism</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矩形: 圆角 42">
            <a:extLst>
              <a:ext uri="{FF2B5EF4-FFF2-40B4-BE49-F238E27FC236}">
                <a16:creationId xmlns:a16="http://schemas.microsoft.com/office/drawing/2014/main" id="{70CF09FE-AFB3-35EC-B0C2-32F948A15B40}"/>
              </a:ext>
            </a:extLst>
          </p:cNvPr>
          <p:cNvSpPr/>
          <p:nvPr/>
        </p:nvSpPr>
        <p:spPr>
          <a:xfrm>
            <a:off x="18821478" y="3831093"/>
            <a:ext cx="5871333" cy="923613"/>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4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4200" dirty="0">
                <a:latin typeface="Times New Roman" panose="02020603050405020304" pitchFamily="18" charset="0"/>
                <a:ea typeface="宋体" panose="02010600030101010101" pitchFamily="2" charset="-122"/>
                <a:cs typeface="Times New Roman" panose="02020603050405020304" pitchFamily="18" charset="0"/>
              </a:rPr>
              <a:t>New solution</a:t>
            </a:r>
            <a:r>
              <a:rPr lang="zh-CN" altLang="en-US" sz="42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4200" i="1" dirty="0" err="1">
                <a:latin typeface="Times New Roman" panose="02020603050405020304" pitchFamily="18" charset="0"/>
                <a:ea typeface="宋体" panose="02010600030101010101" pitchFamily="2" charset="-122"/>
                <a:cs typeface="Times New Roman" panose="02020603050405020304" pitchFamily="18" charset="0"/>
              </a:rPr>
              <a:t>S</a:t>
            </a:r>
            <a:r>
              <a:rPr lang="en-US" altLang="zh-CN" sz="4200" i="1" baseline="-25000" dirty="0" err="1">
                <a:latin typeface="Times New Roman" panose="02020603050405020304" pitchFamily="18" charset="0"/>
                <a:ea typeface="宋体" panose="02010600030101010101" pitchFamily="2" charset="-122"/>
                <a:cs typeface="Times New Roman" panose="02020603050405020304" pitchFamily="18" charset="0"/>
              </a:rPr>
              <a:t>new</a:t>
            </a:r>
            <a:endParaRPr lang="zh-CN" altLang="en-US" sz="48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圆角 43">
            <a:extLst>
              <a:ext uri="{FF2B5EF4-FFF2-40B4-BE49-F238E27FC236}">
                <a16:creationId xmlns:a16="http://schemas.microsoft.com/office/drawing/2014/main" id="{2FBFAA99-1542-048C-62CB-EB4A0067AE51}"/>
              </a:ext>
            </a:extLst>
          </p:cNvPr>
          <p:cNvSpPr/>
          <p:nvPr/>
        </p:nvSpPr>
        <p:spPr>
          <a:xfrm>
            <a:off x="13285921" y="4989292"/>
            <a:ext cx="4856574" cy="919770"/>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Times New Roman" panose="02020603050405020304" pitchFamily="18" charset="0"/>
                <a:cs typeface="Times New Roman" panose="02020603050405020304" pitchFamily="18" charset="0"/>
              </a:rPr>
              <a:t>Calculate energy difference</a:t>
            </a:r>
            <a:endParaRPr lang="zh-CN" altLang="en-US" sz="3200"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48" name="组合 47">
            <a:extLst>
              <a:ext uri="{FF2B5EF4-FFF2-40B4-BE49-F238E27FC236}">
                <a16:creationId xmlns:a16="http://schemas.microsoft.com/office/drawing/2014/main" id="{480688BC-E6FF-F2C7-18B3-12E5A741F99B}"/>
              </a:ext>
            </a:extLst>
          </p:cNvPr>
          <p:cNvGrpSpPr/>
          <p:nvPr/>
        </p:nvGrpSpPr>
        <p:grpSpPr>
          <a:xfrm>
            <a:off x="18821478" y="4959336"/>
            <a:ext cx="5871333" cy="1101750"/>
            <a:chOff x="4522664" y="5978977"/>
            <a:chExt cx="3558380" cy="667726"/>
          </a:xfrm>
        </p:grpSpPr>
        <p:sp>
          <p:nvSpPr>
            <p:cNvPr id="45" name="矩形: 圆角 44">
              <a:extLst>
                <a:ext uri="{FF2B5EF4-FFF2-40B4-BE49-F238E27FC236}">
                  <a16:creationId xmlns:a16="http://schemas.microsoft.com/office/drawing/2014/main" id="{D70E440E-D66D-721A-2CB5-17EF81262477}"/>
                </a:ext>
              </a:extLst>
            </p:cNvPr>
            <p:cNvSpPr/>
            <p:nvPr/>
          </p:nvSpPr>
          <p:spPr>
            <a:xfrm>
              <a:off x="4522664" y="5978977"/>
              <a:ext cx="3558380" cy="667726"/>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7" name="对象 46">
              <a:extLst>
                <a:ext uri="{FF2B5EF4-FFF2-40B4-BE49-F238E27FC236}">
                  <a16:creationId xmlns:a16="http://schemas.microsoft.com/office/drawing/2014/main" id="{1E11405C-C506-53AB-0F52-1DA8BAF202CB}"/>
                </a:ext>
              </a:extLst>
            </p:cNvPr>
            <p:cNvGraphicFramePr>
              <a:graphicFrameLocks noChangeAspect="1"/>
            </p:cNvGraphicFramePr>
            <p:nvPr>
              <p:extLst>
                <p:ext uri="{D42A27DB-BD31-4B8C-83A1-F6EECF244321}">
                  <p14:modId xmlns:p14="http://schemas.microsoft.com/office/powerpoint/2010/main" val="1281041193"/>
                </p:ext>
              </p:extLst>
            </p:nvPr>
          </p:nvGraphicFramePr>
          <p:xfrm>
            <a:off x="4682859" y="6133213"/>
            <a:ext cx="3333107" cy="435558"/>
          </p:xfrm>
          <a:graphic>
            <a:graphicData uri="http://schemas.openxmlformats.org/presentationml/2006/ole">
              <mc:AlternateContent xmlns:mc="http://schemas.openxmlformats.org/markup-compatibility/2006">
                <mc:Choice xmlns:v="urn:schemas-microsoft-com:vml" Requires="v">
                  <p:oleObj name="AxMath" r:id="rId8" imgW="1805040" imgH="238320" progId="Equation.AxMath">
                    <p:embed/>
                  </p:oleObj>
                </mc:Choice>
                <mc:Fallback>
                  <p:oleObj name="AxMath" r:id="rId8" imgW="1805040" imgH="238320" progId="Equation.AxMath">
                    <p:embed/>
                    <p:pic>
                      <p:nvPicPr>
                        <p:cNvPr id="47" name="对象 46">
                          <a:extLst>
                            <a:ext uri="{FF2B5EF4-FFF2-40B4-BE49-F238E27FC236}">
                              <a16:creationId xmlns:a16="http://schemas.microsoft.com/office/drawing/2014/main" id="{C92D2EE0-8D83-8744-4C68-19858DBB9E59}"/>
                            </a:ext>
                          </a:extLst>
                        </p:cNvPr>
                        <p:cNvPicPr/>
                        <p:nvPr/>
                      </p:nvPicPr>
                      <p:blipFill>
                        <a:blip r:embed="rId9"/>
                        <a:stretch>
                          <a:fillRect/>
                        </a:stretch>
                      </p:blipFill>
                      <p:spPr>
                        <a:xfrm>
                          <a:off x="4682859" y="6133213"/>
                          <a:ext cx="3333107" cy="435558"/>
                        </a:xfrm>
                        <a:prstGeom prst="rect">
                          <a:avLst/>
                        </a:prstGeom>
                      </p:spPr>
                    </p:pic>
                  </p:oleObj>
                </mc:Fallback>
              </mc:AlternateContent>
            </a:graphicData>
          </a:graphic>
        </p:graphicFrame>
      </p:grpSp>
      <p:sp>
        <p:nvSpPr>
          <p:cNvPr id="49" name="矩形: 圆角 48">
            <a:extLst>
              <a:ext uri="{FF2B5EF4-FFF2-40B4-BE49-F238E27FC236}">
                <a16:creationId xmlns:a16="http://schemas.microsoft.com/office/drawing/2014/main" id="{E0F512FB-8B51-83DC-02EC-5AFBCAD9F18C}"/>
              </a:ext>
            </a:extLst>
          </p:cNvPr>
          <p:cNvSpPr/>
          <p:nvPr/>
        </p:nvSpPr>
        <p:spPr>
          <a:xfrm>
            <a:off x="13297548" y="7262719"/>
            <a:ext cx="4856574" cy="1258087"/>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Times New Roman" panose="02020603050405020304" pitchFamily="18" charset="0"/>
                <a:cs typeface="Times New Roman" panose="02020603050405020304" pitchFamily="18" charset="0"/>
              </a:rPr>
              <a:t>Acceptance mechanism for new solutions</a:t>
            </a:r>
            <a:endParaRPr lang="zh-CN" altLang="en-US" sz="3600" b="1" dirty="0">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0" name="组合 49">
            <a:extLst>
              <a:ext uri="{FF2B5EF4-FFF2-40B4-BE49-F238E27FC236}">
                <a16:creationId xmlns:a16="http://schemas.microsoft.com/office/drawing/2014/main" id="{E0C7CD39-FDD7-6478-C855-C29CF25C06FA}"/>
              </a:ext>
            </a:extLst>
          </p:cNvPr>
          <p:cNvGrpSpPr/>
          <p:nvPr/>
        </p:nvGrpSpPr>
        <p:grpSpPr>
          <a:xfrm>
            <a:off x="19238499" y="6340933"/>
            <a:ext cx="4207902" cy="910396"/>
            <a:chOff x="4430220" y="6004921"/>
            <a:chExt cx="2550239" cy="551754"/>
          </a:xfrm>
        </p:grpSpPr>
        <p:sp>
          <p:nvSpPr>
            <p:cNvPr id="51" name="矩形: 圆角 50">
              <a:extLst>
                <a:ext uri="{FF2B5EF4-FFF2-40B4-BE49-F238E27FC236}">
                  <a16:creationId xmlns:a16="http://schemas.microsoft.com/office/drawing/2014/main" id="{0AEAB67E-52D6-F27C-3741-FD3799511743}"/>
                </a:ext>
              </a:extLst>
            </p:cNvPr>
            <p:cNvSpPr/>
            <p:nvPr/>
          </p:nvSpPr>
          <p:spPr>
            <a:xfrm>
              <a:off x="4430220" y="6004921"/>
              <a:ext cx="2550239" cy="55175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2" name="对象 51">
              <a:extLst>
                <a:ext uri="{FF2B5EF4-FFF2-40B4-BE49-F238E27FC236}">
                  <a16:creationId xmlns:a16="http://schemas.microsoft.com/office/drawing/2014/main" id="{197FDE4D-4159-290D-8549-8A6E41BF56FF}"/>
                </a:ext>
              </a:extLst>
            </p:cNvPr>
            <p:cNvGraphicFramePr>
              <a:graphicFrameLocks noChangeAspect="1"/>
            </p:cNvGraphicFramePr>
            <p:nvPr>
              <p:extLst>
                <p:ext uri="{D42A27DB-BD31-4B8C-83A1-F6EECF244321}">
                  <p14:modId xmlns:p14="http://schemas.microsoft.com/office/powerpoint/2010/main" val="756224149"/>
                </p:ext>
              </p:extLst>
            </p:nvPr>
          </p:nvGraphicFramePr>
          <p:xfrm>
            <a:off x="4485853" y="6102180"/>
            <a:ext cx="2438974" cy="417560"/>
          </p:xfrm>
          <a:graphic>
            <a:graphicData uri="http://schemas.openxmlformats.org/presentationml/2006/ole">
              <mc:AlternateContent xmlns:mc="http://schemas.openxmlformats.org/markup-compatibility/2006">
                <mc:Choice xmlns:v="urn:schemas-microsoft-com:vml" Requires="v">
                  <p:oleObj name="AxMath" r:id="rId10" imgW="1319400" imgH="227160" progId="Equation.AxMath">
                    <p:embed/>
                  </p:oleObj>
                </mc:Choice>
                <mc:Fallback>
                  <p:oleObj name="AxMath" r:id="rId10" imgW="1319400" imgH="227160" progId="Equation.AxMath">
                    <p:embed/>
                    <p:pic>
                      <p:nvPicPr>
                        <p:cNvPr id="52" name="对象 51">
                          <a:extLst>
                            <a:ext uri="{FF2B5EF4-FFF2-40B4-BE49-F238E27FC236}">
                              <a16:creationId xmlns:a16="http://schemas.microsoft.com/office/drawing/2014/main" id="{BC01919A-4A5E-F9B8-B291-991FB37CDA16}"/>
                            </a:ext>
                          </a:extLst>
                        </p:cNvPr>
                        <p:cNvPicPr/>
                        <p:nvPr/>
                      </p:nvPicPr>
                      <p:blipFill>
                        <a:blip r:embed="rId11"/>
                        <a:stretch>
                          <a:fillRect/>
                        </a:stretch>
                      </p:blipFill>
                      <p:spPr>
                        <a:xfrm>
                          <a:off x="4485853" y="6102180"/>
                          <a:ext cx="2438974" cy="417560"/>
                        </a:xfrm>
                        <a:prstGeom prst="rect">
                          <a:avLst/>
                        </a:prstGeom>
                      </p:spPr>
                    </p:pic>
                  </p:oleObj>
                </mc:Fallback>
              </mc:AlternateContent>
            </a:graphicData>
          </a:graphic>
        </p:graphicFrame>
      </p:grpSp>
      <p:grpSp>
        <p:nvGrpSpPr>
          <p:cNvPr id="53" name="组合 52">
            <a:extLst>
              <a:ext uri="{FF2B5EF4-FFF2-40B4-BE49-F238E27FC236}">
                <a16:creationId xmlns:a16="http://schemas.microsoft.com/office/drawing/2014/main" id="{AD2DF928-5DAE-68F4-9147-D0CA8F467216}"/>
              </a:ext>
            </a:extLst>
          </p:cNvPr>
          <p:cNvGrpSpPr/>
          <p:nvPr/>
        </p:nvGrpSpPr>
        <p:grpSpPr>
          <a:xfrm>
            <a:off x="19238500" y="8361559"/>
            <a:ext cx="1868876" cy="1161180"/>
            <a:chOff x="3942336" y="6077925"/>
            <a:chExt cx="801126" cy="422254"/>
          </a:xfrm>
        </p:grpSpPr>
        <p:sp>
          <p:nvSpPr>
            <p:cNvPr id="54" name="矩形: 圆角 53">
              <a:extLst>
                <a:ext uri="{FF2B5EF4-FFF2-40B4-BE49-F238E27FC236}">
                  <a16:creationId xmlns:a16="http://schemas.microsoft.com/office/drawing/2014/main" id="{B1559F2D-366B-817E-B928-8BFA27935489}"/>
                </a:ext>
              </a:extLst>
            </p:cNvPr>
            <p:cNvSpPr/>
            <p:nvPr/>
          </p:nvSpPr>
          <p:spPr>
            <a:xfrm>
              <a:off x="3942336" y="6077925"/>
              <a:ext cx="801126" cy="422254"/>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0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55" name="对象 54">
              <a:extLst>
                <a:ext uri="{FF2B5EF4-FFF2-40B4-BE49-F238E27FC236}">
                  <a16:creationId xmlns:a16="http://schemas.microsoft.com/office/drawing/2014/main" id="{C4A0AB22-AD03-3DB0-5D42-A7BD208807B7}"/>
                </a:ext>
              </a:extLst>
            </p:cNvPr>
            <p:cNvGraphicFramePr>
              <a:graphicFrameLocks noChangeAspect="1"/>
            </p:cNvGraphicFramePr>
            <p:nvPr/>
          </p:nvGraphicFramePr>
          <p:xfrm>
            <a:off x="4038613" y="6170763"/>
            <a:ext cx="635000" cy="265113"/>
          </p:xfrm>
          <a:graphic>
            <a:graphicData uri="http://schemas.openxmlformats.org/presentationml/2006/ole">
              <mc:AlternateContent xmlns:mc="http://schemas.openxmlformats.org/markup-compatibility/2006">
                <mc:Choice xmlns:v="urn:schemas-microsoft-com:vml" Requires="v">
                  <p:oleObj name="AxMath" r:id="rId12" imgW="539640" imgH="227160" progId="Equation.AxMath">
                    <p:embed/>
                  </p:oleObj>
                </mc:Choice>
                <mc:Fallback>
                  <p:oleObj name="AxMath" r:id="rId12" imgW="539640" imgH="227160" progId="Equation.AxMath">
                    <p:embed/>
                    <p:pic>
                      <p:nvPicPr>
                        <p:cNvPr id="55" name="对象 54">
                          <a:extLst>
                            <a:ext uri="{FF2B5EF4-FFF2-40B4-BE49-F238E27FC236}">
                              <a16:creationId xmlns:a16="http://schemas.microsoft.com/office/drawing/2014/main" id="{B381FFC1-4B2D-E8B3-7058-07B25328C899}"/>
                            </a:ext>
                          </a:extLst>
                        </p:cNvPr>
                        <p:cNvPicPr/>
                        <p:nvPr/>
                      </p:nvPicPr>
                      <p:blipFill>
                        <a:blip r:embed="rId13"/>
                        <a:stretch>
                          <a:fillRect/>
                        </a:stretch>
                      </p:blipFill>
                      <p:spPr>
                        <a:xfrm>
                          <a:off x="4038613" y="6170763"/>
                          <a:ext cx="635000" cy="265113"/>
                        </a:xfrm>
                        <a:prstGeom prst="rect">
                          <a:avLst/>
                        </a:prstGeom>
                      </p:spPr>
                    </p:pic>
                  </p:oleObj>
                </mc:Fallback>
              </mc:AlternateContent>
            </a:graphicData>
          </a:graphic>
        </p:graphicFrame>
      </p:grpSp>
      <p:sp>
        <p:nvSpPr>
          <p:cNvPr id="56" name="矩形: 圆角 55">
            <a:extLst>
              <a:ext uri="{FF2B5EF4-FFF2-40B4-BE49-F238E27FC236}">
                <a16:creationId xmlns:a16="http://schemas.microsoft.com/office/drawing/2014/main" id="{DE431E39-8942-EAE1-01D5-6A8948B0A9DE}"/>
              </a:ext>
            </a:extLst>
          </p:cNvPr>
          <p:cNvSpPr/>
          <p:nvPr/>
        </p:nvSpPr>
        <p:spPr>
          <a:xfrm>
            <a:off x="22482830" y="7601006"/>
            <a:ext cx="3548426" cy="1009462"/>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7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0" name="对象 59">
            <a:extLst>
              <a:ext uri="{FF2B5EF4-FFF2-40B4-BE49-F238E27FC236}">
                <a16:creationId xmlns:a16="http://schemas.microsoft.com/office/drawing/2014/main" id="{50BC3C07-D5F7-3A2D-F66A-208C98177CDA}"/>
              </a:ext>
            </a:extLst>
          </p:cNvPr>
          <p:cNvGraphicFramePr>
            <a:graphicFrameLocks noChangeAspect="1"/>
          </p:cNvGraphicFramePr>
          <p:nvPr>
            <p:extLst>
              <p:ext uri="{D42A27DB-BD31-4B8C-83A1-F6EECF244321}">
                <p14:modId xmlns:p14="http://schemas.microsoft.com/office/powerpoint/2010/main" val="3242796397"/>
              </p:ext>
            </p:extLst>
          </p:nvPr>
        </p:nvGraphicFramePr>
        <p:xfrm>
          <a:off x="22738266" y="7804970"/>
          <a:ext cx="3198655" cy="642811"/>
        </p:xfrm>
        <a:graphic>
          <a:graphicData uri="http://schemas.openxmlformats.org/presentationml/2006/ole">
            <mc:AlternateContent xmlns:mc="http://schemas.openxmlformats.org/markup-compatibility/2006">
              <mc:Choice xmlns:v="urn:schemas-microsoft-com:vml" Requires="v">
                <p:oleObj name="AxMath" r:id="rId14" imgW="1131120" imgH="227160" progId="Equation.AxMath">
                  <p:embed/>
                </p:oleObj>
              </mc:Choice>
              <mc:Fallback>
                <p:oleObj name="AxMath" r:id="rId14" imgW="1131120" imgH="227160" progId="Equation.AxMath">
                  <p:embed/>
                  <p:pic>
                    <p:nvPicPr>
                      <p:cNvPr id="60" name="对象 59">
                        <a:extLst>
                          <a:ext uri="{FF2B5EF4-FFF2-40B4-BE49-F238E27FC236}">
                            <a16:creationId xmlns:a16="http://schemas.microsoft.com/office/drawing/2014/main" id="{8FE329BA-D38C-4114-15DC-A41ECE939394}"/>
                          </a:ext>
                        </a:extLst>
                      </p:cNvPr>
                      <p:cNvPicPr/>
                      <p:nvPr/>
                    </p:nvPicPr>
                    <p:blipFill>
                      <a:blip r:embed="rId15"/>
                      <a:stretch>
                        <a:fillRect/>
                      </a:stretch>
                    </p:blipFill>
                    <p:spPr>
                      <a:xfrm>
                        <a:off x="22738266" y="7804970"/>
                        <a:ext cx="3198655" cy="642811"/>
                      </a:xfrm>
                      <a:prstGeom prst="rect">
                        <a:avLst/>
                      </a:prstGeom>
                    </p:spPr>
                  </p:pic>
                </p:oleObj>
              </mc:Fallback>
            </mc:AlternateContent>
          </a:graphicData>
        </a:graphic>
      </p:graphicFrame>
      <p:sp>
        <p:nvSpPr>
          <p:cNvPr id="62" name="矩形: 圆角 61">
            <a:extLst>
              <a:ext uri="{FF2B5EF4-FFF2-40B4-BE49-F238E27FC236}">
                <a16:creationId xmlns:a16="http://schemas.microsoft.com/office/drawing/2014/main" id="{8DC836B9-2F73-E1AF-84BA-412012AAE434}"/>
              </a:ext>
            </a:extLst>
          </p:cNvPr>
          <p:cNvSpPr/>
          <p:nvPr/>
        </p:nvSpPr>
        <p:spPr>
          <a:xfrm>
            <a:off x="22482828" y="9009802"/>
            <a:ext cx="3548428" cy="1009462"/>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sz="2700" b="1" dirty="0">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63" name="对象 62">
            <a:extLst>
              <a:ext uri="{FF2B5EF4-FFF2-40B4-BE49-F238E27FC236}">
                <a16:creationId xmlns:a16="http://schemas.microsoft.com/office/drawing/2014/main" id="{A2056AC2-8DD7-C09A-BA1A-5F1E0151B3C3}"/>
              </a:ext>
            </a:extLst>
          </p:cNvPr>
          <p:cNvGraphicFramePr>
            <a:graphicFrameLocks noChangeAspect="1"/>
          </p:cNvGraphicFramePr>
          <p:nvPr>
            <p:extLst>
              <p:ext uri="{D42A27DB-BD31-4B8C-83A1-F6EECF244321}">
                <p14:modId xmlns:p14="http://schemas.microsoft.com/office/powerpoint/2010/main" val="143671951"/>
              </p:ext>
            </p:extLst>
          </p:nvPr>
        </p:nvGraphicFramePr>
        <p:xfrm>
          <a:off x="22725288" y="9219815"/>
          <a:ext cx="3305968" cy="663578"/>
        </p:xfrm>
        <a:graphic>
          <a:graphicData uri="http://schemas.openxmlformats.org/presentationml/2006/ole">
            <mc:AlternateContent xmlns:mc="http://schemas.openxmlformats.org/markup-compatibility/2006">
              <mc:Choice xmlns:v="urn:schemas-microsoft-com:vml" Requires="v">
                <p:oleObj name="AxMath" r:id="rId16" imgW="1120680" imgH="227160" progId="Equation.AxMath">
                  <p:embed/>
                </p:oleObj>
              </mc:Choice>
              <mc:Fallback>
                <p:oleObj name="AxMath" r:id="rId16" imgW="1120680" imgH="227160" progId="Equation.AxMath">
                  <p:embed/>
                  <p:pic>
                    <p:nvPicPr>
                      <p:cNvPr id="63" name="对象 62">
                        <a:extLst>
                          <a:ext uri="{FF2B5EF4-FFF2-40B4-BE49-F238E27FC236}">
                            <a16:creationId xmlns:a16="http://schemas.microsoft.com/office/drawing/2014/main" id="{BFFE9AAF-226D-CE16-35A4-1BCBF80B90DC}"/>
                          </a:ext>
                        </a:extLst>
                      </p:cNvPr>
                      <p:cNvPicPr/>
                      <p:nvPr/>
                    </p:nvPicPr>
                    <p:blipFill>
                      <a:blip r:embed="rId17"/>
                      <a:stretch>
                        <a:fillRect/>
                      </a:stretch>
                    </p:blipFill>
                    <p:spPr>
                      <a:xfrm>
                        <a:off x="22725288" y="9219815"/>
                        <a:ext cx="3305968" cy="663578"/>
                      </a:xfrm>
                      <a:prstGeom prst="rect">
                        <a:avLst/>
                      </a:prstGeom>
                    </p:spPr>
                  </p:pic>
                </p:oleObj>
              </mc:Fallback>
            </mc:AlternateContent>
          </a:graphicData>
        </a:graphic>
      </p:graphicFrame>
      <p:sp>
        <p:nvSpPr>
          <p:cNvPr id="64" name="流程图: 决策 63">
            <a:extLst>
              <a:ext uri="{FF2B5EF4-FFF2-40B4-BE49-F238E27FC236}">
                <a16:creationId xmlns:a16="http://schemas.microsoft.com/office/drawing/2014/main" id="{64033256-6976-2A7F-E8FA-591A8AC0F618}"/>
              </a:ext>
            </a:extLst>
          </p:cNvPr>
          <p:cNvSpPr/>
          <p:nvPr/>
        </p:nvSpPr>
        <p:spPr>
          <a:xfrm>
            <a:off x="16360595" y="10816177"/>
            <a:ext cx="8642878" cy="4882292"/>
          </a:xfrm>
          <a:prstGeom prst="flowChartDecision">
            <a:avLst/>
          </a:prstGeom>
          <a:solidFill>
            <a:srgbClr val="F9F871">
              <a:alpha val="41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箭头: 右 64">
            <a:extLst>
              <a:ext uri="{FF2B5EF4-FFF2-40B4-BE49-F238E27FC236}">
                <a16:creationId xmlns:a16="http://schemas.microsoft.com/office/drawing/2014/main" id="{F7D49730-3553-212C-D7B4-CDABA7D9217C}"/>
              </a:ext>
            </a:extLst>
          </p:cNvPr>
          <p:cNvSpPr/>
          <p:nvPr/>
        </p:nvSpPr>
        <p:spPr>
          <a:xfrm rot="5400000">
            <a:off x="20390259" y="10419073"/>
            <a:ext cx="583534"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文本框 65">
            <a:extLst>
              <a:ext uri="{FF2B5EF4-FFF2-40B4-BE49-F238E27FC236}">
                <a16:creationId xmlns:a16="http://schemas.microsoft.com/office/drawing/2014/main" id="{90DC7E4E-FD14-F62C-2081-215A6CBC6F49}"/>
              </a:ext>
            </a:extLst>
          </p:cNvPr>
          <p:cNvSpPr txBox="1"/>
          <p:nvPr/>
        </p:nvSpPr>
        <p:spPr>
          <a:xfrm>
            <a:off x="18571104" y="12084130"/>
            <a:ext cx="4407108" cy="646331"/>
          </a:xfrm>
          <a:prstGeom prst="rect">
            <a:avLst/>
          </a:prstGeom>
          <a:noFill/>
        </p:spPr>
        <p:txBody>
          <a:bodyPr wrap="square" rtlCol="0">
            <a:spAutoFit/>
          </a:bodyPr>
          <a:lstStyle/>
          <a:p>
            <a:r>
              <a:rPr lang="en-US" altLang="zh-CN" sz="3600" dirty="0">
                <a:latin typeface="Times New Roman" panose="02020603050405020304" pitchFamily="18" charset="0"/>
                <a:cs typeface="Times New Roman" panose="02020603050405020304" pitchFamily="18" charset="0"/>
              </a:rPr>
              <a:t>Termination condition</a:t>
            </a:r>
            <a:endParaRPr lang="zh-CN" altLang="en-US" sz="33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矩形: 圆角 66">
            <a:extLst>
              <a:ext uri="{FF2B5EF4-FFF2-40B4-BE49-F238E27FC236}">
                <a16:creationId xmlns:a16="http://schemas.microsoft.com/office/drawing/2014/main" id="{8CABF311-1AFD-D143-0246-76E70435DBFC}"/>
              </a:ext>
            </a:extLst>
          </p:cNvPr>
          <p:cNvSpPr/>
          <p:nvPr/>
        </p:nvSpPr>
        <p:spPr>
          <a:xfrm>
            <a:off x="17403010" y="12938059"/>
            <a:ext cx="6647541" cy="756864"/>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970" b="1" i="1" dirty="0">
                <a:latin typeface="Times New Roman" panose="02020603050405020304" pitchFamily="18" charset="0"/>
                <a:ea typeface="宋体" panose="02010600030101010101" pitchFamily="2" charset="-122"/>
                <a:cs typeface="Times New Roman" panose="02020603050405020304" pitchFamily="18" charset="0"/>
              </a:rPr>
              <a:t>T</a:t>
            </a:r>
            <a:r>
              <a:rPr lang="en-US" altLang="zh-CN" sz="2970" b="1" i="1" baseline="-25000" dirty="0">
                <a:latin typeface="Times New Roman" panose="02020603050405020304" pitchFamily="18" charset="0"/>
                <a:ea typeface="宋体" panose="02010600030101010101" pitchFamily="2" charset="-122"/>
                <a:cs typeface="Times New Roman" panose="02020603050405020304" pitchFamily="18" charset="0"/>
              </a:rPr>
              <a:t>k+1 </a:t>
            </a:r>
            <a:r>
              <a:rPr lang="en-US" altLang="zh-CN" sz="2970" b="1" i="1" dirty="0">
                <a:latin typeface="Times New Roman" panose="02020603050405020304" pitchFamily="18" charset="0"/>
                <a:ea typeface="宋体" panose="02010600030101010101" pitchFamily="2" charset="-122"/>
                <a:cs typeface="Times New Roman" panose="02020603050405020304" pitchFamily="18" charset="0"/>
              </a:rPr>
              <a:t>&lt; </a:t>
            </a:r>
            <a:r>
              <a:rPr lang="en-US" altLang="zh-CN" sz="2970" b="1" i="1" dirty="0" err="1">
                <a:latin typeface="Times New Roman" panose="02020603050405020304" pitchFamily="18" charset="0"/>
                <a:ea typeface="宋体" panose="02010600030101010101" pitchFamily="2" charset="-122"/>
                <a:cs typeface="Times New Roman" panose="02020603050405020304" pitchFamily="18" charset="0"/>
              </a:rPr>
              <a:t>T</a:t>
            </a:r>
            <a:r>
              <a:rPr lang="en-US" altLang="zh-CN" sz="2970" b="1" i="1" baseline="-25000" dirty="0" err="1">
                <a:latin typeface="Times New Roman" panose="02020603050405020304" pitchFamily="18" charset="0"/>
                <a:ea typeface="宋体" panose="02010600030101010101" pitchFamily="2" charset="-122"/>
                <a:cs typeface="Times New Roman" panose="02020603050405020304" pitchFamily="18" charset="0"/>
              </a:rPr>
              <a:t>final</a:t>
            </a:r>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 or </a:t>
            </a:r>
            <a:r>
              <a:rPr lang="en-US" altLang="zh-CN" sz="2970" dirty="0">
                <a:latin typeface="Times New Roman" panose="02020603050405020304" pitchFamily="18" charset="0"/>
                <a:cs typeface="Times New Roman" panose="02020603050405020304" pitchFamily="18" charset="0"/>
              </a:rPr>
              <a:t>Number of iterations    </a:t>
            </a:r>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50 </a:t>
            </a:r>
            <a:r>
              <a:rPr lang="zh-CN" altLang="en-US" sz="297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868" b="1"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1" name="连接符: 肘形 70">
            <a:extLst>
              <a:ext uri="{FF2B5EF4-FFF2-40B4-BE49-F238E27FC236}">
                <a16:creationId xmlns:a16="http://schemas.microsoft.com/office/drawing/2014/main" id="{20C6F72B-F750-F725-342C-F40002E2BB1B}"/>
              </a:ext>
            </a:extLst>
          </p:cNvPr>
          <p:cNvCxnSpPr>
            <a:cxnSpLocks/>
            <a:stCxn id="64" idx="3"/>
            <a:endCxn id="36" idx="3"/>
          </p:cNvCxnSpPr>
          <p:nvPr/>
        </p:nvCxnSpPr>
        <p:spPr>
          <a:xfrm flipV="1">
            <a:off x="25003474" y="6252161"/>
            <a:ext cx="2589453" cy="7005162"/>
          </a:xfrm>
          <a:prstGeom prst="bentConnector3">
            <a:avLst>
              <a:gd name="adj1" fmla="val 114433"/>
            </a:avLst>
          </a:prstGeom>
          <a:ln>
            <a:tailEnd type="triangle"/>
          </a:ln>
        </p:spPr>
        <p:style>
          <a:lnRef idx="3">
            <a:schemeClr val="dk1"/>
          </a:lnRef>
          <a:fillRef idx="0">
            <a:schemeClr val="dk1"/>
          </a:fillRef>
          <a:effectRef idx="2">
            <a:schemeClr val="dk1"/>
          </a:effectRef>
          <a:fontRef idx="minor">
            <a:schemeClr val="tx1"/>
          </a:fontRef>
        </p:style>
      </p:cxnSp>
      <p:sp>
        <p:nvSpPr>
          <p:cNvPr id="72" name="文本框 71">
            <a:extLst>
              <a:ext uri="{FF2B5EF4-FFF2-40B4-BE49-F238E27FC236}">
                <a16:creationId xmlns:a16="http://schemas.microsoft.com/office/drawing/2014/main" id="{41DFDB92-D9BE-E406-BD64-A750009432E2}"/>
              </a:ext>
            </a:extLst>
          </p:cNvPr>
          <p:cNvSpPr txBox="1"/>
          <p:nvPr/>
        </p:nvSpPr>
        <p:spPr>
          <a:xfrm>
            <a:off x="28112126" y="9334012"/>
            <a:ext cx="741123" cy="549381"/>
          </a:xfrm>
          <a:prstGeom prst="rect">
            <a:avLst/>
          </a:prstGeom>
          <a:noFill/>
        </p:spPr>
        <p:txBody>
          <a:bodyPr wrap="square" rtlCol="0">
            <a:spAutoFit/>
          </a:bodyPr>
          <a:lstStyle/>
          <a:p>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No</a:t>
            </a:r>
            <a:endParaRPr lang="zh-CN" altLang="en-US" sz="297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矩形: 圆角 72">
            <a:extLst>
              <a:ext uri="{FF2B5EF4-FFF2-40B4-BE49-F238E27FC236}">
                <a16:creationId xmlns:a16="http://schemas.microsoft.com/office/drawing/2014/main" id="{19E4DAEF-A6A2-BB7F-C882-1F53687EC749}"/>
              </a:ext>
            </a:extLst>
          </p:cNvPr>
          <p:cNvSpPr/>
          <p:nvPr/>
        </p:nvSpPr>
        <p:spPr>
          <a:xfrm>
            <a:off x="19045165" y="16381019"/>
            <a:ext cx="3273725" cy="1439333"/>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latin typeface="Times New Roman" panose="02020603050405020304" pitchFamily="18" charset="0"/>
                <a:cs typeface="Times New Roman" panose="02020603050405020304" pitchFamily="18" charset="0"/>
              </a:rPr>
              <a:t>Optimization completed</a:t>
            </a:r>
            <a:endParaRPr lang="zh-CN" altLang="en-US" sz="3300" b="1"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76" name="直接箭头连接符 75">
            <a:extLst>
              <a:ext uri="{FF2B5EF4-FFF2-40B4-BE49-F238E27FC236}">
                <a16:creationId xmlns:a16="http://schemas.microsoft.com/office/drawing/2014/main" id="{26BE6EE1-7F9C-B66B-E884-C432B7EAFB92}"/>
              </a:ext>
            </a:extLst>
          </p:cNvPr>
          <p:cNvCxnSpPr>
            <a:cxnSpLocks/>
            <a:stCxn id="64" idx="2"/>
            <a:endCxn id="73" idx="0"/>
          </p:cNvCxnSpPr>
          <p:nvPr/>
        </p:nvCxnSpPr>
        <p:spPr>
          <a:xfrm flipH="1">
            <a:off x="20682028" y="15698470"/>
            <a:ext cx="7" cy="6825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8" name="文本框 77">
            <a:extLst>
              <a:ext uri="{FF2B5EF4-FFF2-40B4-BE49-F238E27FC236}">
                <a16:creationId xmlns:a16="http://schemas.microsoft.com/office/drawing/2014/main" id="{4EAF5731-A0B0-D35B-719A-B4DE967F5226}"/>
              </a:ext>
            </a:extLst>
          </p:cNvPr>
          <p:cNvSpPr txBox="1"/>
          <p:nvPr/>
        </p:nvSpPr>
        <p:spPr>
          <a:xfrm>
            <a:off x="20715259" y="15816806"/>
            <a:ext cx="830481" cy="549381"/>
          </a:xfrm>
          <a:prstGeom prst="rect">
            <a:avLst/>
          </a:prstGeom>
          <a:noFill/>
        </p:spPr>
        <p:txBody>
          <a:bodyPr wrap="square" rtlCol="0">
            <a:spAutoFit/>
          </a:bodyPr>
          <a:lstStyle/>
          <a:p>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Yes</a:t>
            </a:r>
            <a:endParaRPr lang="zh-CN" altLang="en-US" sz="2970" dirty="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80" name="连接符: 肘形 79">
            <a:extLst>
              <a:ext uri="{FF2B5EF4-FFF2-40B4-BE49-F238E27FC236}">
                <a16:creationId xmlns:a16="http://schemas.microsoft.com/office/drawing/2014/main" id="{0D10BBC8-9372-E271-6494-460909E7B301}"/>
              </a:ext>
            </a:extLst>
          </p:cNvPr>
          <p:cNvCxnSpPr>
            <a:cxnSpLocks/>
            <a:stCxn id="49" idx="3"/>
            <a:endCxn id="51" idx="1"/>
          </p:cNvCxnSpPr>
          <p:nvPr/>
        </p:nvCxnSpPr>
        <p:spPr>
          <a:xfrm flipV="1">
            <a:off x="18154122" y="6796131"/>
            <a:ext cx="1084377" cy="1095632"/>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82" name="连接符: 肘形 81">
            <a:extLst>
              <a:ext uri="{FF2B5EF4-FFF2-40B4-BE49-F238E27FC236}">
                <a16:creationId xmlns:a16="http://schemas.microsoft.com/office/drawing/2014/main" id="{AAEC51E2-7761-14C3-9276-A4BBFBF7E143}"/>
              </a:ext>
            </a:extLst>
          </p:cNvPr>
          <p:cNvCxnSpPr>
            <a:cxnSpLocks/>
            <a:stCxn id="49" idx="3"/>
            <a:endCxn id="54" idx="1"/>
          </p:cNvCxnSpPr>
          <p:nvPr/>
        </p:nvCxnSpPr>
        <p:spPr>
          <a:xfrm>
            <a:off x="18154122" y="7891763"/>
            <a:ext cx="1084378" cy="1050387"/>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88" name="连接符: 肘形 87">
            <a:extLst>
              <a:ext uri="{FF2B5EF4-FFF2-40B4-BE49-F238E27FC236}">
                <a16:creationId xmlns:a16="http://schemas.microsoft.com/office/drawing/2014/main" id="{D19EC89C-E628-A3A4-E018-7BC9B0BA3F60}"/>
              </a:ext>
            </a:extLst>
          </p:cNvPr>
          <p:cNvCxnSpPr>
            <a:cxnSpLocks/>
            <a:endCxn id="56" idx="1"/>
          </p:cNvCxnSpPr>
          <p:nvPr/>
        </p:nvCxnSpPr>
        <p:spPr>
          <a:xfrm flipV="1">
            <a:off x="21102326" y="8105737"/>
            <a:ext cx="1380504" cy="863630"/>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cxnSp>
        <p:nvCxnSpPr>
          <p:cNvPr id="90" name="连接符: 肘形 89">
            <a:extLst>
              <a:ext uri="{FF2B5EF4-FFF2-40B4-BE49-F238E27FC236}">
                <a16:creationId xmlns:a16="http://schemas.microsoft.com/office/drawing/2014/main" id="{1037A937-7A3D-FA9E-B408-A1BEF3B65038}"/>
              </a:ext>
            </a:extLst>
          </p:cNvPr>
          <p:cNvCxnSpPr>
            <a:cxnSpLocks/>
            <a:endCxn id="62" idx="1"/>
          </p:cNvCxnSpPr>
          <p:nvPr/>
        </p:nvCxnSpPr>
        <p:spPr>
          <a:xfrm>
            <a:off x="21102326" y="8969367"/>
            <a:ext cx="1380502" cy="545166"/>
          </a:xfrm>
          <a:prstGeom prst="bentConnector3">
            <a:avLst>
              <a:gd name="adj1" fmla="val 50000"/>
            </a:avLst>
          </a:prstGeom>
        </p:spPr>
        <p:style>
          <a:lnRef idx="2">
            <a:schemeClr val="dk1"/>
          </a:lnRef>
          <a:fillRef idx="0">
            <a:schemeClr val="dk1"/>
          </a:fillRef>
          <a:effectRef idx="1">
            <a:schemeClr val="dk1"/>
          </a:effectRef>
          <a:fontRef idx="minor">
            <a:schemeClr val="tx1"/>
          </a:fontRef>
        </p:style>
      </p:cxnSp>
      <p:graphicFrame>
        <p:nvGraphicFramePr>
          <p:cNvPr id="3" name="对象 2">
            <a:extLst>
              <a:ext uri="{FF2B5EF4-FFF2-40B4-BE49-F238E27FC236}">
                <a16:creationId xmlns:a16="http://schemas.microsoft.com/office/drawing/2014/main" id="{044A9E1E-2BD5-AB7F-8FD1-A4E9E27FDBEB}"/>
              </a:ext>
            </a:extLst>
          </p:cNvPr>
          <p:cNvGraphicFramePr>
            <a:graphicFrameLocks noChangeAspect="1"/>
          </p:cNvGraphicFramePr>
          <p:nvPr>
            <p:extLst>
              <p:ext uri="{D42A27DB-BD31-4B8C-83A1-F6EECF244321}">
                <p14:modId xmlns:p14="http://schemas.microsoft.com/office/powerpoint/2010/main" val="4107252816"/>
              </p:ext>
            </p:extLst>
          </p:nvPr>
        </p:nvGraphicFramePr>
        <p:xfrm>
          <a:off x="22842600" y="13148442"/>
          <a:ext cx="324802" cy="437435"/>
        </p:xfrm>
        <a:graphic>
          <a:graphicData uri="http://schemas.openxmlformats.org/presentationml/2006/ole">
            <mc:AlternateContent xmlns:mc="http://schemas.openxmlformats.org/markup-compatibility/2006">
              <mc:Choice xmlns:v="urn:schemas-microsoft-com:vml" Requires="v">
                <p:oleObj name="AxMath" r:id="rId18" imgW="166680" imgH="227160" progId="Equation.AxMath">
                  <p:embed/>
                </p:oleObj>
              </mc:Choice>
              <mc:Fallback>
                <p:oleObj name="AxMath" r:id="rId18" imgW="166680" imgH="227160" progId="Equation.AxMath">
                  <p:embed/>
                  <p:pic>
                    <p:nvPicPr>
                      <p:cNvPr id="3" name="对象 2">
                        <a:extLst>
                          <a:ext uri="{FF2B5EF4-FFF2-40B4-BE49-F238E27FC236}">
                            <a16:creationId xmlns:a16="http://schemas.microsoft.com/office/drawing/2014/main" id="{2F157D86-2914-B14C-FB85-E07AF7035FD2}"/>
                          </a:ext>
                        </a:extLst>
                      </p:cNvPr>
                      <p:cNvPicPr/>
                      <p:nvPr/>
                    </p:nvPicPr>
                    <p:blipFill>
                      <a:blip r:embed="rId19"/>
                      <a:stretch>
                        <a:fillRect/>
                      </a:stretch>
                    </p:blipFill>
                    <p:spPr>
                      <a:xfrm>
                        <a:off x="22842600" y="13148442"/>
                        <a:ext cx="324802" cy="437435"/>
                      </a:xfrm>
                      <a:prstGeom prst="rect">
                        <a:avLst/>
                      </a:prstGeom>
                    </p:spPr>
                  </p:pic>
                </p:oleObj>
              </mc:Fallback>
            </mc:AlternateContent>
          </a:graphicData>
        </a:graphic>
      </p:graphicFrame>
    </p:spTree>
    <p:extLst>
      <p:ext uri="{BB962C8B-B14F-4D97-AF65-F5344CB8AC3E}">
        <p14:creationId xmlns:p14="http://schemas.microsoft.com/office/powerpoint/2010/main" val="235081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id="{962E39C8-45DC-F3B9-69C6-6AD6917B7016}"/>
              </a:ext>
            </a:extLst>
          </p:cNvPr>
          <p:cNvSpPr/>
          <p:nvPr/>
        </p:nvSpPr>
        <p:spPr>
          <a:xfrm>
            <a:off x="12271431" y="-671787"/>
            <a:ext cx="3658808" cy="487296"/>
          </a:xfrm>
          <a:prstGeom prst="roundRect">
            <a:avLst/>
          </a:prstGeom>
          <a:solidFill>
            <a:srgbClr val="845E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指标间的</a:t>
            </a:r>
            <a:r>
              <a:rPr lang="zh-CN" altLang="zh-CN" sz="1868" b="1" dirty="0">
                <a:latin typeface="宋体" panose="02010600030101010101" pitchFamily="2" charset="-122"/>
                <a:ea typeface="宋体" panose="02010600030101010101" pitchFamily="2" charset="-122"/>
              </a:rPr>
              <a:t>关系</a:t>
            </a:r>
            <a:r>
              <a:rPr lang="zh-CN" altLang="en-US" sz="1868" b="1" dirty="0">
                <a:latin typeface="宋体" panose="02010600030101010101" pitchFamily="2" charset="-122"/>
                <a:ea typeface="宋体" panose="02010600030101010101" pitchFamily="2" charset="-122"/>
              </a:rPr>
              <a:t>模型</a:t>
            </a:r>
          </a:p>
        </p:txBody>
      </p:sp>
      <p:sp>
        <p:nvSpPr>
          <p:cNvPr id="7" name="矩形: 圆角 6">
            <a:extLst>
              <a:ext uri="{FF2B5EF4-FFF2-40B4-BE49-F238E27FC236}">
                <a16:creationId xmlns:a16="http://schemas.microsoft.com/office/drawing/2014/main" id="{4A1FFCD8-C7D8-1B09-DDB3-B6D991580DFE}"/>
              </a:ext>
            </a:extLst>
          </p:cNvPr>
          <p:cNvSpPr/>
          <p:nvPr/>
        </p:nvSpPr>
        <p:spPr>
          <a:xfrm>
            <a:off x="9062095" y="-972566"/>
            <a:ext cx="4187645"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分析指标间的相关性并检验显著性</a:t>
            </a:r>
            <a:endParaRPr lang="zh-CN" altLang="en-US" sz="1868" b="1" dirty="0">
              <a:latin typeface="宋体" panose="02010600030101010101" pitchFamily="2" charset="-122"/>
              <a:ea typeface="宋体" panose="02010600030101010101" pitchFamily="2" charset="-122"/>
            </a:endParaRPr>
          </a:p>
        </p:txBody>
      </p:sp>
      <p:sp>
        <p:nvSpPr>
          <p:cNvPr id="8" name="矩形: 圆角 7">
            <a:extLst>
              <a:ext uri="{FF2B5EF4-FFF2-40B4-BE49-F238E27FC236}">
                <a16:creationId xmlns:a16="http://schemas.microsoft.com/office/drawing/2014/main" id="{0B951C5B-E811-BB21-5DED-B6F8DBE63560}"/>
              </a:ext>
            </a:extLst>
          </p:cNvPr>
          <p:cNvSpPr/>
          <p:nvPr/>
        </p:nvSpPr>
        <p:spPr>
          <a:xfrm>
            <a:off x="15062836" y="-972566"/>
            <a:ext cx="4187643" cy="472365"/>
          </a:xfrm>
          <a:prstGeom prst="roundRect">
            <a:avLst/>
          </a:prstGeom>
          <a:solidFill>
            <a:srgbClr val="D65DB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通过合适的回归方式求解关系方程</a:t>
            </a:r>
            <a:endParaRPr lang="zh-CN" altLang="en-US" sz="1868" b="1" dirty="0">
              <a:latin typeface="宋体" panose="02010600030101010101" pitchFamily="2" charset="-122"/>
              <a:ea typeface="宋体" panose="02010600030101010101" pitchFamily="2" charset="-122"/>
            </a:endParaRPr>
          </a:p>
        </p:txBody>
      </p:sp>
      <p:sp>
        <p:nvSpPr>
          <p:cNvPr id="10" name="矩形: 圆角 9">
            <a:extLst>
              <a:ext uri="{FF2B5EF4-FFF2-40B4-BE49-F238E27FC236}">
                <a16:creationId xmlns:a16="http://schemas.microsoft.com/office/drawing/2014/main" id="{1FD60377-09D3-71C1-E2B5-04C2AFC2BD9C}"/>
              </a:ext>
            </a:extLst>
          </p:cNvPr>
          <p:cNvSpPr/>
          <p:nvPr/>
        </p:nvSpPr>
        <p:spPr>
          <a:xfrm>
            <a:off x="10557942" y="3194185"/>
            <a:ext cx="2691768" cy="472365"/>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8" b="1" dirty="0">
                <a:latin typeface="Times New Roman" panose="02020603050405020304" pitchFamily="18" charset="0"/>
                <a:ea typeface="宋体" panose="02010600030101010101" pitchFamily="2" charset="-122"/>
                <a:cs typeface="Times New Roman" panose="02020603050405020304" pitchFamily="18" charset="0"/>
              </a:rPr>
              <a:t>Pearson</a:t>
            </a:r>
            <a:r>
              <a:rPr lang="zh-CN" altLang="zh-CN" sz="1868" b="1" dirty="0">
                <a:latin typeface="宋体" panose="02010600030101010101" pitchFamily="2" charset="-122"/>
                <a:ea typeface="宋体" panose="02010600030101010101" pitchFamily="2" charset="-122"/>
              </a:rPr>
              <a:t>相关系数矩阵</a:t>
            </a:r>
            <a:endParaRPr lang="zh-CN" altLang="en-US" sz="1868" b="1" dirty="0">
              <a:latin typeface="宋体" panose="02010600030101010101" pitchFamily="2" charset="-122"/>
              <a:ea typeface="宋体" panose="02010600030101010101" pitchFamily="2" charset="-122"/>
            </a:endParaRPr>
          </a:p>
        </p:txBody>
      </p:sp>
      <p:sp>
        <p:nvSpPr>
          <p:cNvPr id="12" name="矩形: 圆角 11">
            <a:extLst>
              <a:ext uri="{FF2B5EF4-FFF2-40B4-BE49-F238E27FC236}">
                <a16:creationId xmlns:a16="http://schemas.microsoft.com/office/drawing/2014/main" id="{A28D084C-4FC3-945F-C210-2CAAC78A9FC4}"/>
              </a:ext>
            </a:extLst>
          </p:cNvPr>
          <p:cNvSpPr/>
          <p:nvPr/>
        </p:nvSpPr>
        <p:spPr>
          <a:xfrm>
            <a:off x="15671513" y="3194185"/>
            <a:ext cx="2970349" cy="472365"/>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线性回归</a:t>
            </a:r>
          </a:p>
        </p:txBody>
      </p:sp>
      <p:sp>
        <p:nvSpPr>
          <p:cNvPr id="14" name="矩形: 圆角 13">
            <a:extLst>
              <a:ext uri="{FF2B5EF4-FFF2-40B4-BE49-F238E27FC236}">
                <a16:creationId xmlns:a16="http://schemas.microsoft.com/office/drawing/2014/main" id="{3E227F7E-D06B-74BD-7FDC-892B33B9E51F}"/>
              </a:ext>
            </a:extLst>
          </p:cNvPr>
          <p:cNvSpPr/>
          <p:nvPr/>
        </p:nvSpPr>
        <p:spPr>
          <a:xfrm>
            <a:off x="10557944" y="4300047"/>
            <a:ext cx="2691768" cy="472365"/>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865" b="1" dirty="0">
                <a:latin typeface="Times New Roman" panose="02020603050405020304" pitchFamily="18" charset="0"/>
                <a:ea typeface="宋体" panose="02010600030101010101" pitchFamily="2" charset="-122"/>
                <a:cs typeface="Times New Roman" panose="02020603050405020304" pitchFamily="18" charset="0"/>
              </a:rPr>
              <a:t>Pearson</a:t>
            </a:r>
            <a:r>
              <a:rPr lang="zh-CN" altLang="en-US" sz="1868" b="1" dirty="0">
                <a:latin typeface="宋体" panose="02010600030101010101" pitchFamily="2" charset="-122"/>
                <a:ea typeface="宋体" panose="02010600030101010101" pitchFamily="2" charset="-122"/>
              </a:rPr>
              <a:t>相关系数检验</a:t>
            </a:r>
          </a:p>
        </p:txBody>
      </p:sp>
      <p:sp>
        <p:nvSpPr>
          <p:cNvPr id="17" name="矩形: 圆角 16">
            <a:extLst>
              <a:ext uri="{FF2B5EF4-FFF2-40B4-BE49-F238E27FC236}">
                <a16:creationId xmlns:a16="http://schemas.microsoft.com/office/drawing/2014/main" id="{1021BAF8-2196-0E28-5510-2FA5701D6408}"/>
              </a:ext>
            </a:extLst>
          </p:cNvPr>
          <p:cNvSpPr/>
          <p:nvPr/>
        </p:nvSpPr>
        <p:spPr>
          <a:xfrm>
            <a:off x="9062071" y="3194185"/>
            <a:ext cx="1096542" cy="472365"/>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相关性</a:t>
            </a:r>
          </a:p>
        </p:txBody>
      </p:sp>
      <p:sp>
        <p:nvSpPr>
          <p:cNvPr id="18" name="矩形: 圆角 17">
            <a:extLst>
              <a:ext uri="{FF2B5EF4-FFF2-40B4-BE49-F238E27FC236}">
                <a16:creationId xmlns:a16="http://schemas.microsoft.com/office/drawing/2014/main" id="{6FE3A090-123C-92FD-2842-5C0C2941DACA}"/>
              </a:ext>
            </a:extLst>
          </p:cNvPr>
          <p:cNvSpPr/>
          <p:nvPr/>
        </p:nvSpPr>
        <p:spPr>
          <a:xfrm>
            <a:off x="9062072" y="4300047"/>
            <a:ext cx="1096542" cy="472365"/>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latin typeface="宋体" panose="02010600030101010101" pitchFamily="2" charset="-122"/>
                <a:ea typeface="宋体" panose="02010600030101010101" pitchFamily="2" charset="-122"/>
              </a:rPr>
              <a:t>显著性</a:t>
            </a:r>
          </a:p>
        </p:txBody>
      </p:sp>
      <p:sp>
        <p:nvSpPr>
          <p:cNvPr id="19" name="箭头: 右 18">
            <a:extLst>
              <a:ext uri="{FF2B5EF4-FFF2-40B4-BE49-F238E27FC236}">
                <a16:creationId xmlns:a16="http://schemas.microsoft.com/office/drawing/2014/main" id="{DE73FF8E-4922-0131-D9EE-43F85E93EEFA}"/>
              </a:ext>
            </a:extLst>
          </p:cNvPr>
          <p:cNvSpPr/>
          <p:nvPr/>
        </p:nvSpPr>
        <p:spPr>
          <a:xfrm rot="5400000">
            <a:off x="9374165" y="-798174"/>
            <a:ext cx="472365" cy="150359"/>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20" name="箭头: 右 19">
            <a:extLst>
              <a:ext uri="{FF2B5EF4-FFF2-40B4-BE49-F238E27FC236}">
                <a16:creationId xmlns:a16="http://schemas.microsoft.com/office/drawing/2014/main" id="{BE50A3BD-F3D7-3927-AB5B-D1B1FC7E0678}"/>
              </a:ext>
            </a:extLst>
          </p:cNvPr>
          <p:cNvSpPr/>
          <p:nvPr/>
        </p:nvSpPr>
        <p:spPr>
          <a:xfrm rot="5400000">
            <a:off x="9374168" y="3908139"/>
            <a:ext cx="472365" cy="150359"/>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22" name="直接连接符 21">
            <a:extLst>
              <a:ext uri="{FF2B5EF4-FFF2-40B4-BE49-F238E27FC236}">
                <a16:creationId xmlns:a16="http://schemas.microsoft.com/office/drawing/2014/main" id="{7F1AB5E3-E10D-FB0A-7DE6-B0FC950E2F93}"/>
              </a:ext>
            </a:extLst>
          </p:cNvPr>
          <p:cNvCxnSpPr>
            <a:stCxn id="17" idx="3"/>
            <a:endCxn id="10" idx="1"/>
          </p:cNvCxnSpPr>
          <p:nvPr/>
        </p:nvCxnSpPr>
        <p:spPr>
          <a:xfrm>
            <a:off x="10158616" y="-170092"/>
            <a:ext cx="399334" cy="0"/>
          </a:xfrm>
          <a:prstGeom prst="line">
            <a:avLst/>
          </a:prstGeom>
        </p:spPr>
        <p:style>
          <a:lnRef idx="2">
            <a:schemeClr val="dk1"/>
          </a:lnRef>
          <a:fillRef idx="0">
            <a:schemeClr val="dk1"/>
          </a:fillRef>
          <a:effectRef idx="1">
            <a:schemeClr val="dk1"/>
          </a:effectRef>
          <a:fontRef idx="minor">
            <a:schemeClr val="tx1"/>
          </a:fontRef>
        </p:style>
      </p:cxnSp>
      <p:cxnSp>
        <p:nvCxnSpPr>
          <p:cNvPr id="24" name="直接连接符 23">
            <a:extLst>
              <a:ext uri="{FF2B5EF4-FFF2-40B4-BE49-F238E27FC236}">
                <a16:creationId xmlns:a16="http://schemas.microsoft.com/office/drawing/2014/main" id="{556627F0-F975-DB42-B8D8-3279A6AA3E92}"/>
              </a:ext>
            </a:extLst>
          </p:cNvPr>
          <p:cNvCxnSpPr>
            <a:stCxn id="18" idx="3"/>
            <a:endCxn id="14" idx="1"/>
          </p:cNvCxnSpPr>
          <p:nvPr/>
        </p:nvCxnSpPr>
        <p:spPr>
          <a:xfrm>
            <a:off x="10158621" y="4536214"/>
            <a:ext cx="399334" cy="0"/>
          </a:xfrm>
          <a:prstGeom prst="line">
            <a:avLst/>
          </a:prstGeom>
        </p:spPr>
        <p:style>
          <a:lnRef idx="2">
            <a:schemeClr val="dk1"/>
          </a:lnRef>
          <a:fillRef idx="0">
            <a:schemeClr val="dk1"/>
          </a:fillRef>
          <a:effectRef idx="1">
            <a:schemeClr val="dk1"/>
          </a:effectRef>
          <a:fontRef idx="minor">
            <a:schemeClr val="tx1"/>
          </a:fontRef>
        </p:style>
      </p:cxnSp>
      <p:sp>
        <p:nvSpPr>
          <p:cNvPr id="25" name="矩形: 圆角 24">
            <a:extLst>
              <a:ext uri="{FF2B5EF4-FFF2-40B4-BE49-F238E27FC236}">
                <a16:creationId xmlns:a16="http://schemas.microsoft.com/office/drawing/2014/main" id="{48773EB4-D665-3BC3-050A-D562A6688C4B}"/>
              </a:ext>
            </a:extLst>
          </p:cNvPr>
          <p:cNvSpPr/>
          <p:nvPr/>
        </p:nvSpPr>
        <p:spPr>
          <a:xfrm>
            <a:off x="15671513" y="4300062"/>
            <a:ext cx="2970349" cy="1191169"/>
          </a:xfrm>
          <a:prstGeom prst="roundRect">
            <a:avLst/>
          </a:prstGeom>
          <a:solidFill>
            <a:srgbClr val="007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1868" b="1" dirty="0">
                <a:latin typeface="宋体" panose="02010600030101010101" pitchFamily="2" charset="-122"/>
                <a:ea typeface="宋体" panose="02010600030101010101" pitchFamily="2" charset="-122"/>
              </a:rPr>
              <a:t>非线性拟合</a:t>
            </a:r>
            <a:endParaRPr lang="en-US" altLang="zh-CN" sz="1868" b="1" dirty="0">
              <a:latin typeface="宋体" panose="02010600030101010101" pitchFamily="2" charset="-122"/>
              <a:ea typeface="宋体" panose="02010600030101010101" pitchFamily="2" charset="-122"/>
            </a:endParaRPr>
          </a:p>
          <a:p>
            <a:pPr algn="ctr"/>
            <a:r>
              <a:rPr lang="zh-CN" altLang="zh-CN" sz="1868" b="1" dirty="0">
                <a:latin typeface="宋体" panose="02010600030101010101" pitchFamily="2" charset="-122"/>
                <a:ea typeface="宋体" panose="02010600030101010101" pitchFamily="2" charset="-122"/>
              </a:rPr>
              <a:t>多项式回归</a:t>
            </a:r>
            <a:endParaRPr lang="en-US" altLang="zh-CN" sz="1868" b="1" dirty="0">
              <a:latin typeface="宋体" panose="02010600030101010101" pitchFamily="2" charset="-122"/>
              <a:ea typeface="宋体" panose="02010600030101010101" pitchFamily="2" charset="-122"/>
            </a:endParaRPr>
          </a:p>
          <a:p>
            <a:pPr algn="ctr"/>
            <a:r>
              <a:rPr lang="zh-CN" altLang="zh-CN" sz="1868" b="1" dirty="0">
                <a:latin typeface="宋体" panose="02010600030101010101" pitchFamily="2" charset="-122"/>
                <a:ea typeface="宋体" panose="02010600030101010101" pitchFamily="2" charset="-122"/>
              </a:rPr>
              <a:t>指数回归</a:t>
            </a:r>
            <a:endParaRPr lang="zh-CN" altLang="en-US" sz="1868" b="1" dirty="0">
              <a:latin typeface="宋体" panose="02010600030101010101" pitchFamily="2" charset="-122"/>
              <a:ea typeface="宋体" panose="02010600030101010101" pitchFamily="2" charset="-122"/>
            </a:endParaRPr>
          </a:p>
        </p:txBody>
      </p:sp>
      <p:sp>
        <p:nvSpPr>
          <p:cNvPr id="26" name="箭头: 右 25">
            <a:extLst>
              <a:ext uri="{FF2B5EF4-FFF2-40B4-BE49-F238E27FC236}">
                <a16:creationId xmlns:a16="http://schemas.microsoft.com/office/drawing/2014/main" id="{2AEADF22-8207-33F1-8BDF-175C663DC8F6}"/>
              </a:ext>
            </a:extLst>
          </p:cNvPr>
          <p:cNvSpPr/>
          <p:nvPr/>
        </p:nvSpPr>
        <p:spPr>
          <a:xfrm rot="5400000">
            <a:off x="16920473" y="-798174"/>
            <a:ext cx="472365" cy="150359"/>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27" name="箭头: 右 26">
            <a:extLst>
              <a:ext uri="{FF2B5EF4-FFF2-40B4-BE49-F238E27FC236}">
                <a16:creationId xmlns:a16="http://schemas.microsoft.com/office/drawing/2014/main" id="{2EE6FD94-108F-DC4B-9EE4-A47F5BE04A60}"/>
              </a:ext>
            </a:extLst>
          </p:cNvPr>
          <p:cNvSpPr/>
          <p:nvPr/>
        </p:nvSpPr>
        <p:spPr>
          <a:xfrm rot="5400000">
            <a:off x="16920476" y="3950792"/>
            <a:ext cx="472365" cy="150359"/>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cxnSp>
        <p:nvCxnSpPr>
          <p:cNvPr id="29" name="连接符: 肘形 28">
            <a:extLst>
              <a:ext uri="{FF2B5EF4-FFF2-40B4-BE49-F238E27FC236}">
                <a16:creationId xmlns:a16="http://schemas.microsoft.com/office/drawing/2014/main" id="{A4C05AF7-CA7A-41D2-C854-9D1A2826E4BA}"/>
              </a:ext>
            </a:extLst>
          </p:cNvPr>
          <p:cNvCxnSpPr>
            <a:stCxn id="6" idx="2"/>
            <a:endCxn id="7" idx="0"/>
          </p:cNvCxnSpPr>
          <p:nvPr/>
        </p:nvCxnSpPr>
        <p:spPr>
          <a:xfrm rot="5400000">
            <a:off x="12279832" y="-2793586"/>
            <a:ext cx="697112" cy="2944949"/>
          </a:xfrm>
          <a:prstGeom prst="bentConnector3">
            <a:avLst/>
          </a:prstGeom>
        </p:spPr>
        <p:style>
          <a:lnRef idx="2">
            <a:schemeClr val="dk1"/>
          </a:lnRef>
          <a:fillRef idx="0">
            <a:schemeClr val="dk1"/>
          </a:fillRef>
          <a:effectRef idx="1">
            <a:schemeClr val="dk1"/>
          </a:effectRef>
          <a:fontRef idx="minor">
            <a:schemeClr val="tx1"/>
          </a:fontRef>
        </p:style>
      </p:cxnSp>
      <p:cxnSp>
        <p:nvCxnSpPr>
          <p:cNvPr id="31" name="连接符: 肘形 30">
            <a:extLst>
              <a:ext uri="{FF2B5EF4-FFF2-40B4-BE49-F238E27FC236}">
                <a16:creationId xmlns:a16="http://schemas.microsoft.com/office/drawing/2014/main" id="{ADEEC9B3-4FC1-2551-EE82-FBC803C420F8}"/>
              </a:ext>
            </a:extLst>
          </p:cNvPr>
          <p:cNvCxnSpPr>
            <a:stCxn id="6" idx="2"/>
            <a:endCxn id="8" idx="0"/>
          </p:cNvCxnSpPr>
          <p:nvPr/>
        </p:nvCxnSpPr>
        <p:spPr>
          <a:xfrm rot="16200000" flipH="1">
            <a:off x="15280210" y="-2849017"/>
            <a:ext cx="697112" cy="3055809"/>
          </a:xfrm>
          <a:prstGeom prst="bentConnector3">
            <a:avLst/>
          </a:prstGeom>
        </p:spPr>
        <p:style>
          <a:lnRef idx="2">
            <a:schemeClr val="dk1"/>
          </a:lnRef>
          <a:fillRef idx="0">
            <a:schemeClr val="dk1"/>
          </a:fillRef>
          <a:effectRef idx="1">
            <a:schemeClr val="dk1"/>
          </a:effectRef>
          <a:fontRef idx="minor">
            <a:schemeClr val="tx1"/>
          </a:fontRef>
        </p:style>
      </p:cxnSp>
      <p:sp>
        <p:nvSpPr>
          <p:cNvPr id="32" name="矩形: 圆角 31">
            <a:extLst>
              <a:ext uri="{FF2B5EF4-FFF2-40B4-BE49-F238E27FC236}">
                <a16:creationId xmlns:a16="http://schemas.microsoft.com/office/drawing/2014/main" id="{99E8841F-8674-577A-43D0-83AC236AC072}"/>
              </a:ext>
            </a:extLst>
          </p:cNvPr>
          <p:cNvSpPr/>
          <p:nvPr/>
        </p:nvSpPr>
        <p:spPr>
          <a:xfrm>
            <a:off x="19265280" y="3898550"/>
            <a:ext cx="2148629" cy="641881"/>
          </a:xfrm>
          <a:prstGeom prst="roundRect">
            <a:avLst/>
          </a:prstGeom>
          <a:solidFill>
            <a:srgbClr val="FFC7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868" b="1" dirty="0"/>
              <a:t>相关系数检验等</a:t>
            </a:r>
            <a:endParaRPr lang="en-US" altLang="zh-CN" sz="1868" b="1" dirty="0"/>
          </a:p>
          <a:p>
            <a:pPr algn="ctr"/>
            <a:r>
              <a:rPr lang="zh-CN" altLang="en-US" sz="1868" b="1" dirty="0">
                <a:latin typeface="Times New Roman" panose="02020603050405020304" pitchFamily="18" charset="0"/>
                <a:cs typeface="Times New Roman" panose="02020603050405020304" pitchFamily="18" charset="0"/>
              </a:rPr>
              <a:t>检验指标</a:t>
            </a:r>
          </a:p>
        </p:txBody>
      </p:sp>
      <p:cxnSp>
        <p:nvCxnSpPr>
          <p:cNvPr id="36" name="连接符: 肘形 35">
            <a:extLst>
              <a:ext uri="{FF2B5EF4-FFF2-40B4-BE49-F238E27FC236}">
                <a16:creationId xmlns:a16="http://schemas.microsoft.com/office/drawing/2014/main" id="{8B1EC00B-9D44-8DC7-5FE3-F2F1C8DA1313}"/>
              </a:ext>
            </a:extLst>
          </p:cNvPr>
          <p:cNvCxnSpPr>
            <a:stCxn id="12" idx="3"/>
            <a:endCxn id="32" idx="1"/>
          </p:cNvCxnSpPr>
          <p:nvPr/>
        </p:nvCxnSpPr>
        <p:spPr>
          <a:xfrm>
            <a:off x="18641832" y="3430386"/>
            <a:ext cx="623450" cy="789115"/>
          </a:xfrm>
          <a:prstGeom prst="bentConnector3">
            <a:avLst/>
          </a:prstGeom>
        </p:spPr>
        <p:style>
          <a:lnRef idx="2">
            <a:schemeClr val="dk1"/>
          </a:lnRef>
          <a:fillRef idx="0">
            <a:schemeClr val="dk1"/>
          </a:fillRef>
          <a:effectRef idx="1">
            <a:schemeClr val="dk1"/>
          </a:effectRef>
          <a:fontRef idx="minor">
            <a:schemeClr val="tx1"/>
          </a:fontRef>
        </p:style>
      </p:cxnSp>
      <p:cxnSp>
        <p:nvCxnSpPr>
          <p:cNvPr id="38" name="连接符: 肘形 37">
            <a:extLst>
              <a:ext uri="{FF2B5EF4-FFF2-40B4-BE49-F238E27FC236}">
                <a16:creationId xmlns:a16="http://schemas.microsoft.com/office/drawing/2014/main" id="{3F4AFE8A-9CDB-3269-FC6E-E651C9F83347}"/>
              </a:ext>
            </a:extLst>
          </p:cNvPr>
          <p:cNvCxnSpPr>
            <a:stCxn id="25" idx="3"/>
            <a:endCxn id="32" idx="1"/>
          </p:cNvCxnSpPr>
          <p:nvPr/>
        </p:nvCxnSpPr>
        <p:spPr>
          <a:xfrm flipV="1">
            <a:off x="18641832" y="4219499"/>
            <a:ext cx="623450" cy="676142"/>
          </a:xfrm>
          <a:prstGeom prst="bentConnector3">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17878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a:extLst>
              <a:ext uri="{FF2B5EF4-FFF2-40B4-BE49-F238E27FC236}">
                <a16:creationId xmlns:a16="http://schemas.microsoft.com/office/drawing/2014/main" id="{13C8D568-8757-EA3B-CF98-C89CDC474A6D}"/>
              </a:ext>
            </a:extLst>
          </p:cNvPr>
          <p:cNvSpPr/>
          <p:nvPr/>
        </p:nvSpPr>
        <p:spPr>
          <a:xfrm>
            <a:off x="20627801" y="2663594"/>
            <a:ext cx="4665112" cy="3448756"/>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21" name="文本框 20">
            <a:extLst>
              <a:ext uri="{FF2B5EF4-FFF2-40B4-BE49-F238E27FC236}">
                <a16:creationId xmlns:a16="http://schemas.microsoft.com/office/drawing/2014/main" id="{486F0EAD-E85A-43CC-8939-D3B5E68E99EC}"/>
              </a:ext>
            </a:extLst>
          </p:cNvPr>
          <p:cNvSpPr txBox="1"/>
          <p:nvPr/>
        </p:nvSpPr>
        <p:spPr>
          <a:xfrm>
            <a:off x="22046252" y="-719368"/>
            <a:ext cx="1710725" cy="549381"/>
          </a:xfrm>
          <a:prstGeom prst="rect">
            <a:avLst/>
          </a:prstGeom>
          <a:noFill/>
        </p:spPr>
        <p:txBody>
          <a:bodyPr wrap="none" rtlCol="0">
            <a:spAutoFit/>
          </a:bodyPr>
          <a:lstStyle/>
          <a:p>
            <a:r>
              <a:rPr lang="zh-CN" altLang="en-US" sz="2970" dirty="0">
                <a:latin typeface="宋体" panose="02010600030101010101" pitchFamily="2" charset="-122"/>
                <a:ea typeface="宋体" panose="02010600030101010101" pitchFamily="2" charset="-122"/>
              </a:rPr>
              <a:t>误差检验</a:t>
            </a:r>
          </a:p>
        </p:txBody>
      </p:sp>
      <p:sp>
        <p:nvSpPr>
          <p:cNvPr id="22" name="矩形: 圆角 21">
            <a:extLst>
              <a:ext uri="{FF2B5EF4-FFF2-40B4-BE49-F238E27FC236}">
                <a16:creationId xmlns:a16="http://schemas.microsoft.com/office/drawing/2014/main" id="{C0F554D7-73F9-DA28-E2B5-A4F6CD16FB17}"/>
              </a:ext>
            </a:extLst>
          </p:cNvPr>
          <p:cNvSpPr/>
          <p:nvPr/>
        </p:nvSpPr>
        <p:spPr>
          <a:xfrm>
            <a:off x="21742020" y="4566776"/>
            <a:ext cx="2568717" cy="607698"/>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相关性检验等</a:t>
            </a:r>
          </a:p>
        </p:txBody>
      </p:sp>
      <p:grpSp>
        <p:nvGrpSpPr>
          <p:cNvPr id="38" name="组合 37">
            <a:extLst>
              <a:ext uri="{FF2B5EF4-FFF2-40B4-BE49-F238E27FC236}">
                <a16:creationId xmlns:a16="http://schemas.microsoft.com/office/drawing/2014/main" id="{CE8342CB-E790-5B8C-E949-4532D9716F64}"/>
              </a:ext>
            </a:extLst>
          </p:cNvPr>
          <p:cNvGrpSpPr/>
          <p:nvPr/>
        </p:nvGrpSpPr>
        <p:grpSpPr>
          <a:xfrm>
            <a:off x="3384747" y="2588391"/>
            <a:ext cx="10139302" cy="3523952"/>
            <a:chOff x="1189227" y="512224"/>
            <a:chExt cx="6145023" cy="2135726"/>
          </a:xfrm>
        </p:grpSpPr>
        <p:sp>
          <p:nvSpPr>
            <p:cNvPr id="14" name="矩形: 圆角 13">
              <a:extLst>
                <a:ext uri="{FF2B5EF4-FFF2-40B4-BE49-F238E27FC236}">
                  <a16:creationId xmlns:a16="http://schemas.microsoft.com/office/drawing/2014/main" id="{28181E34-E5B0-8EEA-2E4E-32D61D9A4295}"/>
                </a:ext>
              </a:extLst>
            </p:cNvPr>
            <p:cNvSpPr/>
            <p:nvPr/>
          </p:nvSpPr>
          <p:spPr>
            <a:xfrm>
              <a:off x="1189227" y="512224"/>
              <a:ext cx="6145023" cy="2135726"/>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7" name="矩形: 圆角 6">
              <a:extLst>
                <a:ext uri="{FF2B5EF4-FFF2-40B4-BE49-F238E27FC236}">
                  <a16:creationId xmlns:a16="http://schemas.microsoft.com/office/drawing/2014/main" id="{8A05A299-8EA3-DB0C-5883-54793DF69045}"/>
                </a:ext>
              </a:extLst>
            </p:cNvPr>
            <p:cNvSpPr/>
            <p:nvPr/>
          </p:nvSpPr>
          <p:spPr>
            <a:xfrm>
              <a:off x="1804330" y="1289047"/>
              <a:ext cx="1224620" cy="36830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数据提取</a:t>
              </a:r>
            </a:p>
          </p:txBody>
        </p:sp>
        <p:sp>
          <p:nvSpPr>
            <p:cNvPr id="9" name="矩形: 圆角 8">
              <a:extLst>
                <a:ext uri="{FF2B5EF4-FFF2-40B4-BE49-F238E27FC236}">
                  <a16:creationId xmlns:a16="http://schemas.microsoft.com/office/drawing/2014/main" id="{D2A18DAA-EC00-EF5B-9C13-02F6DB71D141}"/>
                </a:ext>
              </a:extLst>
            </p:cNvPr>
            <p:cNvSpPr/>
            <p:nvPr/>
          </p:nvSpPr>
          <p:spPr>
            <a:xfrm>
              <a:off x="3467007" y="1072994"/>
              <a:ext cx="3510620" cy="788201"/>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640" b="1" dirty="0">
                  <a:latin typeface="宋体" panose="02010600030101010101" pitchFamily="2" charset="-122"/>
                  <a:ea typeface="宋体" panose="02010600030101010101" pitchFamily="2" charset="-122"/>
                </a:rPr>
                <a:t>每位孕妇测量胎儿</a:t>
              </a:r>
              <a:r>
                <a:rPr lang="en-US" altLang="zh-CN" sz="2640" b="1" dirty="0">
                  <a:latin typeface="Times New Roman" panose="02020603050405020304" pitchFamily="18" charset="0"/>
                  <a:ea typeface="宋体" panose="02010600030101010101" pitchFamily="2" charset="-122"/>
                  <a:cs typeface="Times New Roman" panose="02020603050405020304" pitchFamily="18" charset="0"/>
                </a:rPr>
                <a:t>Y</a:t>
              </a:r>
              <a:r>
                <a:rPr lang="zh-CN" altLang="zh-CN" sz="2640" b="1" dirty="0">
                  <a:latin typeface="宋体" panose="02010600030101010101" pitchFamily="2" charset="-122"/>
                  <a:ea typeface="宋体" panose="02010600030101010101" pitchFamily="2" charset="-122"/>
                </a:rPr>
                <a:t>染色体浓度</a:t>
              </a:r>
              <a:endParaRPr lang="en-US" altLang="zh-CN" sz="2640" b="1" dirty="0">
                <a:latin typeface="宋体" panose="02010600030101010101" pitchFamily="2" charset="-122"/>
                <a:ea typeface="宋体" panose="02010600030101010101" pitchFamily="2" charset="-122"/>
              </a:endParaRPr>
            </a:p>
            <a:p>
              <a:pPr algn="ctr"/>
              <a:r>
                <a:rPr lang="zh-CN" altLang="zh-CN" sz="2640" b="1" dirty="0">
                  <a:latin typeface="宋体" panose="02010600030101010101" pitchFamily="2" charset="-122"/>
                  <a:ea typeface="宋体" panose="02010600030101010101" pitchFamily="2" charset="-122"/>
                </a:rPr>
                <a:t>首次达到</a:t>
              </a:r>
              <a:r>
                <a:rPr lang="en-US" altLang="zh-CN" sz="2640" b="1" dirty="0">
                  <a:latin typeface="Times New Roman" panose="02020603050405020304" pitchFamily="18" charset="0"/>
                  <a:ea typeface="宋体" panose="02010600030101010101" pitchFamily="2" charset="-122"/>
                  <a:cs typeface="Times New Roman" panose="02020603050405020304" pitchFamily="18" charset="0"/>
                </a:rPr>
                <a:t>4%</a:t>
              </a:r>
              <a:r>
                <a:rPr lang="zh-CN" altLang="zh-CN" sz="2640" b="1" dirty="0">
                  <a:latin typeface="宋体" panose="02010600030101010101" pitchFamily="2" charset="-122"/>
                  <a:ea typeface="宋体" panose="02010600030101010101" pitchFamily="2" charset="-122"/>
                </a:rPr>
                <a:t>的时点</a:t>
              </a:r>
              <a:endParaRPr lang="zh-CN" altLang="en-US" sz="2640" b="1" dirty="0">
                <a:latin typeface="宋体" panose="02010600030101010101" pitchFamily="2" charset="-122"/>
                <a:ea typeface="宋体" panose="02010600030101010101" pitchFamily="2" charset="-122"/>
              </a:endParaRPr>
            </a:p>
          </p:txBody>
        </p:sp>
        <p:sp>
          <p:nvSpPr>
            <p:cNvPr id="10" name="矩形: 圆角 9">
              <a:extLst>
                <a:ext uri="{FF2B5EF4-FFF2-40B4-BE49-F238E27FC236}">
                  <a16:creationId xmlns:a16="http://schemas.microsoft.com/office/drawing/2014/main" id="{84B2E4F0-4CC1-3BC7-E11C-4A1E028C8A30}"/>
                </a:ext>
              </a:extLst>
            </p:cNvPr>
            <p:cNvSpPr/>
            <p:nvPr/>
          </p:nvSpPr>
          <p:spPr>
            <a:xfrm>
              <a:off x="1804330" y="1974847"/>
              <a:ext cx="1224620" cy="36830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聚类分组</a:t>
              </a:r>
            </a:p>
          </p:txBody>
        </p:sp>
        <p:sp>
          <p:nvSpPr>
            <p:cNvPr id="11" name="矩形: 圆角 10">
              <a:extLst>
                <a:ext uri="{FF2B5EF4-FFF2-40B4-BE49-F238E27FC236}">
                  <a16:creationId xmlns:a16="http://schemas.microsoft.com/office/drawing/2014/main" id="{54D4B740-A19A-BD61-C860-349D7984A721}"/>
                </a:ext>
              </a:extLst>
            </p:cNvPr>
            <p:cNvSpPr/>
            <p:nvPr/>
          </p:nvSpPr>
          <p:spPr>
            <a:xfrm>
              <a:off x="3468030" y="1974846"/>
              <a:ext cx="3510620" cy="368301"/>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640" b="1" dirty="0">
                  <a:latin typeface="宋体" panose="02010600030101010101" pitchFamily="2" charset="-122"/>
                  <a:ea typeface="宋体" panose="02010600030101010101" pitchFamily="2" charset="-122"/>
                </a:rPr>
                <a:t>改进的</a:t>
              </a:r>
              <a:r>
                <a:rPr lang="en-US" altLang="zh-CN" sz="2640" b="1" dirty="0">
                  <a:latin typeface="Times New Roman" panose="02020603050405020304" pitchFamily="18" charset="0"/>
                  <a:ea typeface="宋体" panose="02010600030101010101" pitchFamily="2" charset="-122"/>
                  <a:cs typeface="Times New Roman" panose="02020603050405020304" pitchFamily="18" charset="0"/>
                </a:rPr>
                <a:t>Canopy-</a:t>
              </a:r>
              <a:r>
                <a:rPr lang="en-US" altLang="zh-CN" sz="2640" b="1" dirty="0" err="1">
                  <a:latin typeface="Times New Roman" panose="02020603050405020304" pitchFamily="18" charset="0"/>
                  <a:ea typeface="宋体" panose="02010600030101010101" pitchFamily="2" charset="-122"/>
                  <a:cs typeface="Times New Roman" panose="02020603050405020304" pitchFamily="18" charset="0"/>
                </a:rPr>
                <a:t>Kmeans</a:t>
              </a:r>
              <a:r>
                <a:rPr lang="zh-CN" altLang="zh-CN" sz="2640" b="1" dirty="0">
                  <a:latin typeface="宋体" panose="02010600030101010101" pitchFamily="2" charset="-122"/>
                  <a:ea typeface="宋体" panose="02010600030101010101" pitchFamily="2" charset="-122"/>
                </a:rPr>
                <a:t>算法</a:t>
              </a:r>
              <a:endParaRPr lang="zh-CN" altLang="en-US" sz="2640" b="1" dirty="0">
                <a:latin typeface="宋体" panose="02010600030101010101" pitchFamily="2" charset="-122"/>
                <a:ea typeface="宋体" panose="02010600030101010101" pitchFamily="2" charset="-122"/>
              </a:endParaRPr>
            </a:p>
          </p:txBody>
        </p:sp>
        <p:sp>
          <p:nvSpPr>
            <p:cNvPr id="13" name="文本框 12">
              <a:extLst>
                <a:ext uri="{FF2B5EF4-FFF2-40B4-BE49-F238E27FC236}">
                  <a16:creationId xmlns:a16="http://schemas.microsoft.com/office/drawing/2014/main" id="{582833D6-AE7B-74CE-5E66-BE89B3A4352F}"/>
                </a:ext>
              </a:extLst>
            </p:cNvPr>
            <p:cNvSpPr txBox="1"/>
            <p:nvPr/>
          </p:nvSpPr>
          <p:spPr>
            <a:xfrm>
              <a:off x="3757187" y="651942"/>
              <a:ext cx="1036802" cy="332958"/>
            </a:xfrm>
            <a:prstGeom prst="rect">
              <a:avLst/>
            </a:prstGeom>
            <a:noFill/>
          </p:spPr>
          <p:txBody>
            <a:bodyPr wrap="none" rtlCol="0">
              <a:spAutoFit/>
            </a:bodyPr>
            <a:lstStyle/>
            <a:p>
              <a:r>
                <a:rPr lang="zh-CN" altLang="en-US" sz="2970" dirty="0">
                  <a:latin typeface="宋体" panose="02010600030101010101" pitchFamily="2" charset="-122"/>
                  <a:ea typeface="宋体" panose="02010600030101010101" pitchFamily="2" charset="-122"/>
                </a:rPr>
                <a:t>合理分组</a:t>
              </a:r>
            </a:p>
          </p:txBody>
        </p:sp>
        <p:cxnSp>
          <p:nvCxnSpPr>
            <p:cNvPr id="27" name="直接连接符 26">
              <a:extLst>
                <a:ext uri="{FF2B5EF4-FFF2-40B4-BE49-F238E27FC236}">
                  <a16:creationId xmlns:a16="http://schemas.microsoft.com/office/drawing/2014/main" id="{0BD05B71-A41A-2249-3816-8707C4C12E0A}"/>
                </a:ext>
              </a:extLst>
            </p:cNvPr>
            <p:cNvCxnSpPr>
              <a:cxnSpLocks/>
              <a:stCxn id="7" idx="3"/>
              <a:endCxn id="9" idx="1"/>
            </p:cNvCxnSpPr>
            <p:nvPr/>
          </p:nvCxnSpPr>
          <p:spPr>
            <a:xfrm flipV="1">
              <a:off x="3028950" y="1467095"/>
              <a:ext cx="438057" cy="6103"/>
            </a:xfrm>
            <a:prstGeom prst="line">
              <a:avLst/>
            </a:prstGeom>
          </p:spPr>
          <p:style>
            <a:lnRef idx="2">
              <a:schemeClr val="dk1"/>
            </a:lnRef>
            <a:fillRef idx="0">
              <a:schemeClr val="dk1"/>
            </a:fillRef>
            <a:effectRef idx="1">
              <a:schemeClr val="dk1"/>
            </a:effectRef>
            <a:fontRef idx="minor">
              <a:schemeClr val="tx1"/>
            </a:fontRef>
          </p:style>
        </p:cxnSp>
        <p:cxnSp>
          <p:nvCxnSpPr>
            <p:cNvPr id="31" name="直接连接符 30">
              <a:extLst>
                <a:ext uri="{FF2B5EF4-FFF2-40B4-BE49-F238E27FC236}">
                  <a16:creationId xmlns:a16="http://schemas.microsoft.com/office/drawing/2014/main" id="{542D4FCD-0325-C92C-CB0A-D207B5BE001F}"/>
                </a:ext>
              </a:extLst>
            </p:cNvPr>
            <p:cNvCxnSpPr>
              <a:stCxn id="10" idx="3"/>
              <a:endCxn id="11" idx="1"/>
            </p:cNvCxnSpPr>
            <p:nvPr/>
          </p:nvCxnSpPr>
          <p:spPr>
            <a:xfrm flipV="1">
              <a:off x="3028950" y="2158997"/>
              <a:ext cx="439080" cy="1"/>
            </a:xfrm>
            <a:prstGeom prst="line">
              <a:avLst/>
            </a:prstGeom>
          </p:spPr>
          <p:style>
            <a:lnRef idx="2">
              <a:schemeClr val="dk1"/>
            </a:lnRef>
            <a:fillRef idx="0">
              <a:schemeClr val="dk1"/>
            </a:fillRef>
            <a:effectRef idx="1">
              <a:schemeClr val="dk1"/>
            </a:effectRef>
            <a:fontRef idx="minor">
              <a:schemeClr val="tx1"/>
            </a:fontRef>
          </p:style>
        </p:cxnSp>
      </p:grpSp>
      <p:grpSp>
        <p:nvGrpSpPr>
          <p:cNvPr id="39" name="组合 38">
            <a:extLst>
              <a:ext uri="{FF2B5EF4-FFF2-40B4-BE49-F238E27FC236}">
                <a16:creationId xmlns:a16="http://schemas.microsoft.com/office/drawing/2014/main" id="{3C769806-AE6F-AFA1-B2C7-FFAFC735895E}"/>
              </a:ext>
            </a:extLst>
          </p:cNvPr>
          <p:cNvGrpSpPr/>
          <p:nvPr/>
        </p:nvGrpSpPr>
        <p:grpSpPr>
          <a:xfrm>
            <a:off x="13782452" y="2588391"/>
            <a:ext cx="6586962" cy="3523952"/>
            <a:chOff x="1516197" y="3128425"/>
            <a:chExt cx="3992093" cy="1811876"/>
          </a:xfrm>
        </p:grpSpPr>
        <p:sp>
          <p:nvSpPr>
            <p:cNvPr id="15" name="矩形: 圆角 14">
              <a:extLst>
                <a:ext uri="{FF2B5EF4-FFF2-40B4-BE49-F238E27FC236}">
                  <a16:creationId xmlns:a16="http://schemas.microsoft.com/office/drawing/2014/main" id="{23B0909D-FA58-AFF3-68A5-DD1B09652965}"/>
                </a:ext>
              </a:extLst>
            </p:cNvPr>
            <p:cNvSpPr/>
            <p:nvPr/>
          </p:nvSpPr>
          <p:spPr>
            <a:xfrm>
              <a:off x="1516197" y="3128425"/>
              <a:ext cx="3992093" cy="1811876"/>
            </a:xfrm>
            <a:prstGeom prst="roundRect">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sp>
          <p:nvSpPr>
            <p:cNvPr id="8" name="矩形: 圆角 7">
              <a:extLst>
                <a:ext uri="{FF2B5EF4-FFF2-40B4-BE49-F238E27FC236}">
                  <a16:creationId xmlns:a16="http://schemas.microsoft.com/office/drawing/2014/main" id="{B0384BE2-0E7E-1436-A4CB-7E250FB1DD6F}"/>
                </a:ext>
              </a:extLst>
            </p:cNvPr>
            <p:cNvSpPr/>
            <p:nvPr/>
          </p:nvSpPr>
          <p:spPr>
            <a:xfrm>
              <a:off x="1804330" y="4097862"/>
              <a:ext cx="1224620" cy="368301"/>
            </a:xfrm>
            <a:prstGeom prst="roundRect">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风险函数</a:t>
              </a:r>
            </a:p>
          </p:txBody>
        </p:sp>
        <p:sp>
          <p:nvSpPr>
            <p:cNvPr id="12" name="矩形: 圆角 11">
              <a:extLst>
                <a:ext uri="{FF2B5EF4-FFF2-40B4-BE49-F238E27FC236}">
                  <a16:creationId xmlns:a16="http://schemas.microsoft.com/office/drawing/2014/main" id="{CA209F9F-A599-DAC7-F859-A1EEC9805657}"/>
                </a:ext>
              </a:extLst>
            </p:cNvPr>
            <p:cNvSpPr/>
            <p:nvPr/>
          </p:nvSpPr>
          <p:spPr>
            <a:xfrm>
              <a:off x="3468030" y="3905184"/>
              <a:ext cx="1760198" cy="313328"/>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熵权法确定权重</a:t>
              </a:r>
            </a:p>
          </p:txBody>
        </p:sp>
        <p:sp>
          <p:nvSpPr>
            <p:cNvPr id="16" name="文本框 15">
              <a:extLst>
                <a:ext uri="{FF2B5EF4-FFF2-40B4-BE49-F238E27FC236}">
                  <a16:creationId xmlns:a16="http://schemas.microsoft.com/office/drawing/2014/main" id="{0211468B-037D-3628-5858-70F90DA5A6C9}"/>
                </a:ext>
              </a:extLst>
            </p:cNvPr>
            <p:cNvSpPr txBox="1"/>
            <p:nvPr/>
          </p:nvSpPr>
          <p:spPr>
            <a:xfrm>
              <a:off x="2742417" y="3278915"/>
              <a:ext cx="1549762" cy="282470"/>
            </a:xfrm>
            <a:prstGeom prst="rect">
              <a:avLst/>
            </a:prstGeom>
            <a:noFill/>
          </p:spPr>
          <p:txBody>
            <a:bodyPr wrap="none" rtlCol="0">
              <a:spAutoFit/>
            </a:bodyPr>
            <a:lstStyle/>
            <a:p>
              <a:r>
                <a:rPr lang="zh-CN" altLang="en-US" sz="2970" dirty="0">
                  <a:latin typeface="Times New Roman" panose="02020603050405020304" pitchFamily="18" charset="0"/>
                  <a:ea typeface="宋体" panose="02010600030101010101" pitchFamily="2" charset="-122"/>
                  <a:cs typeface="Times New Roman" panose="02020603050405020304" pitchFamily="18" charset="0"/>
                </a:rPr>
                <a:t>最佳</a:t>
              </a:r>
              <a:r>
                <a:rPr lang="en-US" altLang="zh-CN" sz="2970" dirty="0">
                  <a:latin typeface="Times New Roman" panose="02020603050405020304" pitchFamily="18" charset="0"/>
                  <a:ea typeface="宋体" panose="02010600030101010101" pitchFamily="2" charset="-122"/>
                  <a:cs typeface="Times New Roman" panose="02020603050405020304" pitchFamily="18" charset="0"/>
                </a:rPr>
                <a:t>NIPT</a:t>
              </a:r>
              <a:r>
                <a:rPr lang="zh-CN" altLang="en-US" sz="2970" dirty="0">
                  <a:latin typeface="Times New Roman" panose="02020603050405020304" pitchFamily="18" charset="0"/>
                  <a:ea typeface="宋体" panose="02010600030101010101" pitchFamily="2" charset="-122"/>
                  <a:cs typeface="Times New Roman" panose="02020603050405020304" pitchFamily="18" charset="0"/>
                </a:rPr>
                <a:t>时点</a:t>
              </a:r>
            </a:p>
          </p:txBody>
        </p:sp>
        <p:sp>
          <p:nvSpPr>
            <p:cNvPr id="18" name="矩形: 圆角 17">
              <a:extLst>
                <a:ext uri="{FF2B5EF4-FFF2-40B4-BE49-F238E27FC236}">
                  <a16:creationId xmlns:a16="http://schemas.microsoft.com/office/drawing/2014/main" id="{ABCE117A-CBFD-7A1E-5E7C-F0933551C334}"/>
                </a:ext>
              </a:extLst>
            </p:cNvPr>
            <p:cNvSpPr/>
            <p:nvPr/>
          </p:nvSpPr>
          <p:spPr>
            <a:xfrm>
              <a:off x="3663917" y="4385194"/>
              <a:ext cx="1360865" cy="369333"/>
            </a:xfrm>
            <a:prstGeom prst="roundRect">
              <a:avLst/>
            </a:prstGeom>
            <a:solidFill>
              <a:srgbClr val="FF96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640" b="1" dirty="0">
                  <a:latin typeface="宋体" panose="02010600030101010101" pitchFamily="2" charset="-122"/>
                  <a:ea typeface="宋体" panose="02010600030101010101" pitchFamily="2" charset="-122"/>
                </a:rPr>
                <a:t>最小化</a:t>
              </a:r>
            </a:p>
          </p:txBody>
        </p:sp>
        <p:cxnSp>
          <p:nvCxnSpPr>
            <p:cNvPr id="36" name="直接箭头连接符 35">
              <a:extLst>
                <a:ext uri="{FF2B5EF4-FFF2-40B4-BE49-F238E27FC236}">
                  <a16:creationId xmlns:a16="http://schemas.microsoft.com/office/drawing/2014/main" id="{9755C924-2A82-4523-521C-C7FA7766CBD4}"/>
                </a:ext>
              </a:extLst>
            </p:cNvPr>
            <p:cNvCxnSpPr>
              <a:cxnSpLocks/>
              <a:stCxn id="12" idx="2"/>
              <a:endCxn id="18" idx="0"/>
            </p:cNvCxnSpPr>
            <p:nvPr/>
          </p:nvCxnSpPr>
          <p:spPr>
            <a:xfrm flipH="1">
              <a:off x="4344350" y="4218512"/>
              <a:ext cx="3779" cy="16668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cxnSp>
        <p:nvCxnSpPr>
          <p:cNvPr id="41" name="直接箭头连接符 40">
            <a:extLst>
              <a:ext uri="{FF2B5EF4-FFF2-40B4-BE49-F238E27FC236}">
                <a16:creationId xmlns:a16="http://schemas.microsoft.com/office/drawing/2014/main" id="{56E367E2-96F4-5EAF-E66A-DFC7FACA0992}"/>
              </a:ext>
            </a:extLst>
          </p:cNvPr>
          <p:cNvCxnSpPr>
            <a:stCxn id="7" idx="2"/>
            <a:endCxn id="10" idx="0"/>
          </p:cNvCxnSpPr>
          <p:nvPr/>
        </p:nvCxnSpPr>
        <p:spPr>
          <a:xfrm>
            <a:off x="5409963" y="4477871"/>
            <a:ext cx="0" cy="5238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箭头: 右 43">
            <a:extLst>
              <a:ext uri="{FF2B5EF4-FFF2-40B4-BE49-F238E27FC236}">
                <a16:creationId xmlns:a16="http://schemas.microsoft.com/office/drawing/2014/main" id="{2B3F6171-773D-CEE1-F7EA-15D6FC035694}"/>
              </a:ext>
            </a:extLst>
          </p:cNvPr>
          <p:cNvSpPr/>
          <p:nvPr/>
        </p:nvSpPr>
        <p:spPr>
          <a:xfrm>
            <a:off x="13135159" y="4749819"/>
            <a:ext cx="823700"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
        <p:nvSpPr>
          <p:cNvPr id="45" name="箭头: 右 44">
            <a:extLst>
              <a:ext uri="{FF2B5EF4-FFF2-40B4-BE49-F238E27FC236}">
                <a16:creationId xmlns:a16="http://schemas.microsoft.com/office/drawing/2014/main" id="{8EC1658F-FE5B-E8BD-22F5-89D91F35CC65}"/>
              </a:ext>
            </a:extLst>
          </p:cNvPr>
          <p:cNvSpPr/>
          <p:nvPr/>
        </p:nvSpPr>
        <p:spPr>
          <a:xfrm>
            <a:off x="20078655" y="4749819"/>
            <a:ext cx="823700" cy="164465"/>
          </a:xfrm>
          <a:prstGeom prst="rightArrow">
            <a:avLst>
              <a:gd name="adj1" fmla="val 50000"/>
              <a:gd name="adj2" fmla="val 97146"/>
            </a:avLst>
          </a:prstGeom>
          <a:solidFill>
            <a:srgbClr val="FF6F9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a:p>
        </p:txBody>
      </p:sp>
    </p:spTree>
    <p:extLst>
      <p:ext uri="{BB962C8B-B14F-4D97-AF65-F5344CB8AC3E}">
        <p14:creationId xmlns:p14="http://schemas.microsoft.com/office/powerpoint/2010/main" val="2708759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E423D7A-6AB1-7F1C-F6A5-2EFA76AB6598}"/>
              </a:ext>
            </a:extLst>
          </p:cNvPr>
          <p:cNvSpPr txBox="1"/>
          <p:nvPr/>
        </p:nvSpPr>
        <p:spPr>
          <a:xfrm>
            <a:off x="8181829" y="2206984"/>
            <a:ext cx="12436808" cy="4662815"/>
          </a:xfrm>
          <a:prstGeom prst="rect">
            <a:avLst/>
          </a:prstGeom>
          <a:noFill/>
        </p:spPr>
        <p:txBody>
          <a:bodyPr wrap="square" rtlCol="0">
            <a:spAutoFit/>
          </a:bodyPr>
          <a:lstStyle/>
          <a:p>
            <a:r>
              <a:rPr lang="en-US" altLang="zh-CN" sz="2970" dirty="0"/>
              <a:t>Step 1. </a:t>
            </a:r>
            <a:r>
              <a:rPr lang="zh-CN" altLang="zh-CN" sz="2970" dirty="0"/>
              <a:t>可以考虑</a:t>
            </a:r>
            <a:r>
              <a:rPr lang="zh-CN" altLang="zh-CN" sz="2970" b="1" dirty="0"/>
              <a:t>数据提取</a:t>
            </a:r>
            <a:r>
              <a:rPr lang="zh-CN" altLang="zh-CN" sz="2970" dirty="0"/>
              <a:t>，记录每位孕妇测量胎儿</a:t>
            </a:r>
            <a:r>
              <a:rPr lang="en-US" altLang="zh-CN" sz="2970" dirty="0"/>
              <a:t>Y</a:t>
            </a:r>
            <a:r>
              <a:rPr lang="zh-CN" altLang="zh-CN" sz="2970" dirty="0"/>
              <a:t>染色体浓度首次达到</a:t>
            </a:r>
            <a:r>
              <a:rPr lang="en-US" altLang="zh-CN" sz="2970" dirty="0"/>
              <a:t>4%</a:t>
            </a:r>
            <a:r>
              <a:rPr lang="zh-CN" altLang="zh-CN" sz="2970" dirty="0"/>
              <a:t>的时点进一步处理</a:t>
            </a:r>
          </a:p>
          <a:p>
            <a:r>
              <a:rPr lang="en-US" altLang="zh-CN" sz="2970" dirty="0"/>
              <a:t>Step 2. </a:t>
            </a:r>
            <a:r>
              <a:rPr lang="zh-CN" altLang="zh-CN" sz="2970" dirty="0"/>
              <a:t>进行聚类分组，聚类模型可以考虑</a:t>
            </a:r>
            <a:r>
              <a:rPr lang="zh-CN" altLang="zh-CN" sz="2970" b="1" dirty="0"/>
              <a:t>改进的</a:t>
            </a:r>
            <a:r>
              <a:rPr lang="en-US" altLang="zh-CN" sz="2970" b="1" dirty="0"/>
              <a:t>Canopy-</a:t>
            </a:r>
            <a:r>
              <a:rPr lang="en-US" altLang="zh-CN" sz="2970" b="1" dirty="0" err="1"/>
              <a:t>Kmeans</a:t>
            </a:r>
            <a:r>
              <a:rPr lang="zh-CN" altLang="zh-CN" sz="2970" b="1" dirty="0"/>
              <a:t>算法</a:t>
            </a:r>
            <a:endParaRPr lang="zh-CN" altLang="zh-CN" sz="2970" dirty="0"/>
          </a:p>
          <a:p>
            <a:r>
              <a:rPr lang="en-US" altLang="zh-CN" sz="2970" dirty="0"/>
              <a:t>Step 3. </a:t>
            </a:r>
            <a:r>
              <a:rPr lang="zh-CN" altLang="zh-CN" sz="2970" dirty="0"/>
              <a:t>随构造一个包含检测时间、安全性的</a:t>
            </a:r>
            <a:r>
              <a:rPr lang="zh-CN" altLang="zh-CN" sz="2970" b="1" dirty="0"/>
              <a:t>风险函数</a:t>
            </a:r>
            <a:r>
              <a:rPr lang="zh-CN" altLang="zh-CN" sz="2970" dirty="0"/>
              <a:t>，风险函数包含有效性风险和安全性风险，有效性风险是孕妇检测时男胎</a:t>
            </a:r>
            <a:r>
              <a:rPr lang="en-US" altLang="zh-CN" sz="2970" dirty="0"/>
              <a:t>Y</a:t>
            </a:r>
            <a:r>
              <a:rPr lang="zh-CN" altLang="zh-CN" sz="2970" dirty="0"/>
              <a:t>染色体浓度是否达到</a:t>
            </a:r>
            <a:r>
              <a:rPr lang="en-US" altLang="zh-CN" sz="2970" dirty="0"/>
              <a:t>4%</a:t>
            </a:r>
            <a:r>
              <a:rPr lang="zh-CN" altLang="zh-CN" sz="2970" dirty="0"/>
              <a:t>的风险，安全性风险是孕妇的胎儿随着检测时间的推移可治疗时间缩短的风险。</a:t>
            </a:r>
          </a:p>
          <a:p>
            <a:r>
              <a:rPr lang="en-US" altLang="zh-CN" sz="2970" dirty="0"/>
              <a:t>Step 4. </a:t>
            </a:r>
            <a:r>
              <a:rPr lang="zh-CN" altLang="zh-CN" sz="2970" dirty="0"/>
              <a:t>最小化风险值求解测量的最佳时间。</a:t>
            </a:r>
          </a:p>
          <a:p>
            <a:r>
              <a:rPr lang="en-US" altLang="zh-CN" sz="2970" dirty="0"/>
              <a:t>Step 5. </a:t>
            </a:r>
            <a:r>
              <a:rPr lang="zh-CN" altLang="zh-CN" sz="2970" dirty="0"/>
              <a:t>最后进行误差分析，对拟合效果进行检验，优化风险函数。</a:t>
            </a:r>
          </a:p>
          <a:p>
            <a:endParaRPr lang="zh-CN" altLang="en-US" sz="2970" dirty="0"/>
          </a:p>
        </p:txBody>
      </p:sp>
    </p:spTree>
    <p:extLst>
      <p:ext uri="{BB962C8B-B14F-4D97-AF65-F5344CB8AC3E}">
        <p14:creationId xmlns:p14="http://schemas.microsoft.com/office/powerpoint/2010/main" val="2355829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7">
            <a:extLst>
              <a:ext uri="{FF2B5EF4-FFF2-40B4-BE49-F238E27FC236}">
                <a16:creationId xmlns:a16="http://schemas.microsoft.com/office/drawing/2014/main" id="{9D3D77D5-F501-DCA0-82DE-09AF28966BCA}"/>
              </a:ext>
            </a:extLst>
          </p:cNvPr>
          <p:cNvSpPr/>
          <p:nvPr/>
        </p:nvSpPr>
        <p:spPr>
          <a:xfrm>
            <a:off x="4113422" y="2212371"/>
            <a:ext cx="20320157" cy="13015209"/>
          </a:xfrm>
          <a:prstGeom prst="roundRect">
            <a:avLst>
              <a:gd name="adj" fmla="val 8253"/>
            </a:avLst>
          </a:prstGeom>
          <a:solidFill>
            <a:srgbClr val="F9F871">
              <a:alpha val="4196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83" dirty="0"/>
          </a:p>
        </p:txBody>
      </p:sp>
      <p:cxnSp>
        <p:nvCxnSpPr>
          <p:cNvPr id="10" name="直接箭头连接符 9">
            <a:extLst>
              <a:ext uri="{FF2B5EF4-FFF2-40B4-BE49-F238E27FC236}">
                <a16:creationId xmlns:a16="http://schemas.microsoft.com/office/drawing/2014/main" id="{E8B02456-FA6A-2A65-6AF7-9060481277C0}"/>
              </a:ext>
            </a:extLst>
          </p:cNvPr>
          <p:cNvCxnSpPr/>
          <p:nvPr/>
        </p:nvCxnSpPr>
        <p:spPr>
          <a:xfrm>
            <a:off x="7021989" y="13949985"/>
            <a:ext cx="15683824" cy="10950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直接箭头连接符 11">
            <a:extLst>
              <a:ext uri="{FF2B5EF4-FFF2-40B4-BE49-F238E27FC236}">
                <a16:creationId xmlns:a16="http://schemas.microsoft.com/office/drawing/2014/main" id="{1B4287D4-76E7-63C9-4487-DCC01A903998}"/>
              </a:ext>
            </a:extLst>
          </p:cNvPr>
          <p:cNvCxnSpPr>
            <a:cxnSpLocks/>
          </p:cNvCxnSpPr>
          <p:nvPr/>
        </p:nvCxnSpPr>
        <p:spPr>
          <a:xfrm flipV="1">
            <a:off x="7021974" y="4459407"/>
            <a:ext cx="0" cy="949060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文本框 14">
            <a:extLst>
              <a:ext uri="{FF2B5EF4-FFF2-40B4-BE49-F238E27FC236}">
                <a16:creationId xmlns:a16="http://schemas.microsoft.com/office/drawing/2014/main" id="{1BAA4751-1372-A79A-23C4-94F3465E7DB5}"/>
              </a:ext>
            </a:extLst>
          </p:cNvPr>
          <p:cNvSpPr txBox="1"/>
          <p:nvPr/>
        </p:nvSpPr>
        <p:spPr>
          <a:xfrm>
            <a:off x="4892680" y="2781108"/>
            <a:ext cx="6024406" cy="1209562"/>
          </a:xfrm>
          <a:prstGeom prst="rect">
            <a:avLst/>
          </a:prstGeom>
          <a:noFill/>
        </p:spPr>
        <p:txBody>
          <a:bodyPr wrap="none" rtlCol="0">
            <a:spAutoFit/>
          </a:bodyPr>
          <a:lstStyle/>
          <a:p>
            <a:r>
              <a:rPr lang="en-US" altLang="zh-CN" sz="7260" dirty="0">
                <a:latin typeface="Times New Roman" panose="02020603050405020304" pitchFamily="18" charset="0"/>
                <a:cs typeface="Times New Roman" panose="02020603050405020304" pitchFamily="18" charset="0"/>
              </a:rPr>
              <a:t>Cost Function J</a:t>
            </a:r>
            <a:endParaRPr lang="zh-CN" altLang="en-US" sz="7260" dirty="0">
              <a:latin typeface="Times New Roman" panose="02020603050405020304" pitchFamily="18" charset="0"/>
              <a:cs typeface="Times New Roman" panose="02020603050405020304" pitchFamily="18" charset="0"/>
            </a:endParaRPr>
          </a:p>
        </p:txBody>
      </p:sp>
      <p:sp>
        <p:nvSpPr>
          <p:cNvPr id="16" name="文本框 15">
            <a:extLst>
              <a:ext uri="{FF2B5EF4-FFF2-40B4-BE49-F238E27FC236}">
                <a16:creationId xmlns:a16="http://schemas.microsoft.com/office/drawing/2014/main" id="{9453CAEB-FAEC-46E6-25A9-F3B09B68E6F0}"/>
              </a:ext>
            </a:extLst>
          </p:cNvPr>
          <p:cNvSpPr txBox="1"/>
          <p:nvPr/>
        </p:nvSpPr>
        <p:spPr>
          <a:xfrm>
            <a:off x="22977515" y="13424717"/>
            <a:ext cx="649537" cy="1209562"/>
          </a:xfrm>
          <a:prstGeom prst="rect">
            <a:avLst/>
          </a:prstGeom>
          <a:noFill/>
        </p:spPr>
        <p:txBody>
          <a:bodyPr wrap="none" rtlCol="0">
            <a:spAutoFit/>
          </a:bodyPr>
          <a:lstStyle/>
          <a:p>
            <a:r>
              <a:rPr lang="en-US" altLang="zh-CN" sz="7260" dirty="0">
                <a:latin typeface="Times New Roman" panose="02020603050405020304" pitchFamily="18" charset="0"/>
                <a:cs typeface="Times New Roman" panose="02020603050405020304" pitchFamily="18" charset="0"/>
              </a:rPr>
              <a:t>k</a:t>
            </a:r>
            <a:endParaRPr lang="zh-CN" altLang="en-US" sz="7260" dirty="0">
              <a:latin typeface="Times New Roman" panose="02020603050405020304" pitchFamily="18" charset="0"/>
              <a:cs typeface="Times New Roman" panose="02020603050405020304" pitchFamily="18" charset="0"/>
            </a:endParaRPr>
          </a:p>
        </p:txBody>
      </p:sp>
      <p:cxnSp>
        <p:nvCxnSpPr>
          <p:cNvPr id="22" name="直接连接符 21">
            <a:extLst>
              <a:ext uri="{FF2B5EF4-FFF2-40B4-BE49-F238E27FC236}">
                <a16:creationId xmlns:a16="http://schemas.microsoft.com/office/drawing/2014/main" id="{02A09D64-61BD-B558-0672-75C57DA58E2D}"/>
              </a:ext>
            </a:extLst>
          </p:cNvPr>
          <p:cNvCxnSpPr/>
          <p:nvPr/>
        </p:nvCxnSpPr>
        <p:spPr>
          <a:xfrm>
            <a:off x="8980936" y="4483749"/>
            <a:ext cx="851721" cy="3698901"/>
          </a:xfrm>
          <a:prstGeom prst="line">
            <a:avLst/>
          </a:prstGeom>
        </p:spPr>
        <p:style>
          <a:lnRef idx="3">
            <a:schemeClr val="dk1"/>
          </a:lnRef>
          <a:fillRef idx="0">
            <a:schemeClr val="dk1"/>
          </a:fillRef>
          <a:effectRef idx="2">
            <a:schemeClr val="dk1"/>
          </a:effectRef>
          <a:fontRef idx="minor">
            <a:schemeClr val="tx1"/>
          </a:fontRef>
        </p:style>
      </p:cxnSp>
      <p:cxnSp>
        <p:nvCxnSpPr>
          <p:cNvPr id="24" name="直接连接符 23">
            <a:extLst>
              <a:ext uri="{FF2B5EF4-FFF2-40B4-BE49-F238E27FC236}">
                <a16:creationId xmlns:a16="http://schemas.microsoft.com/office/drawing/2014/main" id="{3FE704A8-30C3-0ED3-7168-26300C1511DB}"/>
              </a:ext>
            </a:extLst>
          </p:cNvPr>
          <p:cNvCxnSpPr/>
          <p:nvPr/>
        </p:nvCxnSpPr>
        <p:spPr>
          <a:xfrm>
            <a:off x="9832657" y="8182627"/>
            <a:ext cx="1212725" cy="2530826"/>
          </a:xfrm>
          <a:prstGeom prst="line">
            <a:avLst/>
          </a:prstGeom>
        </p:spPr>
        <p:style>
          <a:lnRef idx="3">
            <a:schemeClr val="dk1"/>
          </a:lnRef>
          <a:fillRef idx="0">
            <a:schemeClr val="dk1"/>
          </a:fillRef>
          <a:effectRef idx="2">
            <a:schemeClr val="dk1"/>
          </a:effectRef>
          <a:fontRef idx="minor">
            <a:schemeClr val="tx1"/>
          </a:fontRef>
        </p:style>
      </p:cxnSp>
      <p:cxnSp>
        <p:nvCxnSpPr>
          <p:cNvPr id="26" name="直接连接符 25">
            <a:extLst>
              <a:ext uri="{FF2B5EF4-FFF2-40B4-BE49-F238E27FC236}">
                <a16:creationId xmlns:a16="http://schemas.microsoft.com/office/drawing/2014/main" id="{0ADF0EC4-CAA4-D1C0-94E4-7719B4FC8CAB}"/>
              </a:ext>
            </a:extLst>
          </p:cNvPr>
          <p:cNvCxnSpPr/>
          <p:nvPr/>
        </p:nvCxnSpPr>
        <p:spPr>
          <a:xfrm>
            <a:off x="11045407" y="10725648"/>
            <a:ext cx="2194159" cy="730045"/>
          </a:xfrm>
          <a:prstGeom prst="line">
            <a:avLst/>
          </a:prstGeom>
        </p:spPr>
        <p:style>
          <a:lnRef idx="3">
            <a:schemeClr val="dk1"/>
          </a:lnRef>
          <a:fillRef idx="0">
            <a:schemeClr val="dk1"/>
          </a:fillRef>
          <a:effectRef idx="2">
            <a:schemeClr val="dk1"/>
          </a:effectRef>
          <a:fontRef idx="minor">
            <a:schemeClr val="tx1"/>
          </a:fontRef>
        </p:style>
      </p:cxnSp>
      <p:cxnSp>
        <p:nvCxnSpPr>
          <p:cNvPr id="28" name="直接连接符 27">
            <a:extLst>
              <a:ext uri="{FF2B5EF4-FFF2-40B4-BE49-F238E27FC236}">
                <a16:creationId xmlns:a16="http://schemas.microsoft.com/office/drawing/2014/main" id="{6F57E1D1-F0EF-5A97-A6FB-8F0A405A04BF}"/>
              </a:ext>
            </a:extLst>
          </p:cNvPr>
          <p:cNvCxnSpPr/>
          <p:nvPr/>
        </p:nvCxnSpPr>
        <p:spPr>
          <a:xfrm>
            <a:off x="13239557" y="11455676"/>
            <a:ext cx="2348315" cy="340689"/>
          </a:xfrm>
          <a:prstGeom prst="line">
            <a:avLst/>
          </a:prstGeom>
        </p:spPr>
        <p:style>
          <a:lnRef idx="3">
            <a:schemeClr val="dk1"/>
          </a:lnRef>
          <a:fillRef idx="0">
            <a:schemeClr val="dk1"/>
          </a:fillRef>
          <a:effectRef idx="2">
            <a:schemeClr val="dk1"/>
          </a:effectRef>
          <a:fontRef idx="minor">
            <a:schemeClr val="tx1"/>
          </a:fontRef>
        </p:style>
      </p:cxnSp>
      <p:cxnSp>
        <p:nvCxnSpPr>
          <p:cNvPr id="30" name="直接连接符 29">
            <a:extLst>
              <a:ext uri="{FF2B5EF4-FFF2-40B4-BE49-F238E27FC236}">
                <a16:creationId xmlns:a16="http://schemas.microsoft.com/office/drawing/2014/main" id="{2339BB6B-4B8C-03C6-51E8-CA54CA697A6A}"/>
              </a:ext>
            </a:extLst>
          </p:cNvPr>
          <p:cNvCxnSpPr/>
          <p:nvPr/>
        </p:nvCxnSpPr>
        <p:spPr>
          <a:xfrm>
            <a:off x="15575705" y="11796357"/>
            <a:ext cx="5633522" cy="182508"/>
          </a:xfrm>
          <a:prstGeom prst="line">
            <a:avLst/>
          </a:prstGeom>
        </p:spPr>
        <p:style>
          <a:lnRef idx="3">
            <a:schemeClr val="dk1"/>
          </a:lnRef>
          <a:fillRef idx="0">
            <a:schemeClr val="dk1"/>
          </a:fillRef>
          <a:effectRef idx="2">
            <a:schemeClr val="dk1"/>
          </a:effectRef>
          <a:fontRef idx="minor">
            <a:schemeClr val="tx1"/>
          </a:fontRef>
        </p:style>
      </p:cxnSp>
      <p:sp>
        <p:nvSpPr>
          <p:cNvPr id="31" name="椭圆 30">
            <a:extLst>
              <a:ext uri="{FF2B5EF4-FFF2-40B4-BE49-F238E27FC236}">
                <a16:creationId xmlns:a16="http://schemas.microsoft.com/office/drawing/2014/main" id="{1D31F9C9-EEFB-5D7B-18D0-A555BA05AB81}"/>
              </a:ext>
            </a:extLst>
          </p:cNvPr>
          <p:cNvSpPr/>
          <p:nvPr/>
        </p:nvSpPr>
        <p:spPr>
          <a:xfrm>
            <a:off x="8920164" y="4426973"/>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2" name="椭圆 31">
            <a:extLst>
              <a:ext uri="{FF2B5EF4-FFF2-40B4-BE49-F238E27FC236}">
                <a16:creationId xmlns:a16="http://schemas.microsoft.com/office/drawing/2014/main" id="{2D976303-B396-4E3F-C693-AE4A2821B498}"/>
              </a:ext>
            </a:extLst>
          </p:cNvPr>
          <p:cNvSpPr/>
          <p:nvPr/>
        </p:nvSpPr>
        <p:spPr>
          <a:xfrm>
            <a:off x="9775904" y="8131958"/>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3" name="椭圆 32">
            <a:extLst>
              <a:ext uri="{FF2B5EF4-FFF2-40B4-BE49-F238E27FC236}">
                <a16:creationId xmlns:a16="http://schemas.microsoft.com/office/drawing/2014/main" id="{F53FFCEB-7C31-2947-536A-05614D8D83B3}"/>
              </a:ext>
            </a:extLst>
          </p:cNvPr>
          <p:cNvSpPr/>
          <p:nvPr/>
        </p:nvSpPr>
        <p:spPr>
          <a:xfrm>
            <a:off x="10988629" y="10656699"/>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4" name="椭圆 33">
            <a:extLst>
              <a:ext uri="{FF2B5EF4-FFF2-40B4-BE49-F238E27FC236}">
                <a16:creationId xmlns:a16="http://schemas.microsoft.com/office/drawing/2014/main" id="{4C492E55-88D3-E285-3870-8D53D2562D69}"/>
              </a:ext>
            </a:extLst>
          </p:cNvPr>
          <p:cNvSpPr/>
          <p:nvPr/>
        </p:nvSpPr>
        <p:spPr>
          <a:xfrm>
            <a:off x="13182785" y="11411081"/>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5" name="椭圆 34">
            <a:extLst>
              <a:ext uri="{FF2B5EF4-FFF2-40B4-BE49-F238E27FC236}">
                <a16:creationId xmlns:a16="http://schemas.microsoft.com/office/drawing/2014/main" id="{21643E5D-9FE6-5957-6FAB-485BFD48B17F}"/>
              </a:ext>
            </a:extLst>
          </p:cNvPr>
          <p:cNvSpPr/>
          <p:nvPr/>
        </p:nvSpPr>
        <p:spPr>
          <a:xfrm>
            <a:off x="15518933" y="11739602"/>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36" name="椭圆 35">
            <a:extLst>
              <a:ext uri="{FF2B5EF4-FFF2-40B4-BE49-F238E27FC236}">
                <a16:creationId xmlns:a16="http://schemas.microsoft.com/office/drawing/2014/main" id="{4EBABF7F-724D-7AAA-D8E2-BF1367DF735E}"/>
              </a:ext>
            </a:extLst>
          </p:cNvPr>
          <p:cNvSpPr/>
          <p:nvPr/>
        </p:nvSpPr>
        <p:spPr>
          <a:xfrm>
            <a:off x="21152453" y="11922113"/>
            <a:ext cx="113527" cy="113527"/>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sp>
        <p:nvSpPr>
          <p:cNvPr id="40" name="任意多边形: 形状 39">
            <a:extLst>
              <a:ext uri="{FF2B5EF4-FFF2-40B4-BE49-F238E27FC236}">
                <a16:creationId xmlns:a16="http://schemas.microsoft.com/office/drawing/2014/main" id="{C9BD4CE9-8038-1A88-BA28-15C247803E0C}"/>
              </a:ext>
            </a:extLst>
          </p:cNvPr>
          <p:cNvSpPr/>
          <p:nvPr/>
        </p:nvSpPr>
        <p:spPr>
          <a:xfrm>
            <a:off x="10841902" y="10538356"/>
            <a:ext cx="406966" cy="406966"/>
          </a:xfrm>
          <a:custGeom>
            <a:avLst/>
            <a:gdLst>
              <a:gd name="connsiteX0" fmla="*/ 449826 w 914400"/>
              <a:gd name="connsiteY0" fmla="*/ 41776 h 914400"/>
              <a:gd name="connsiteX1" fmla="*/ 34402 w 914400"/>
              <a:gd name="connsiteY1" fmla="*/ 457200 h 914400"/>
              <a:gd name="connsiteX2" fmla="*/ 449826 w 914400"/>
              <a:gd name="connsiteY2" fmla="*/ 872624 h 914400"/>
              <a:gd name="connsiteX3" fmla="*/ 865250 w 914400"/>
              <a:gd name="connsiteY3" fmla="*/ 457200 h 914400"/>
              <a:gd name="connsiteX4" fmla="*/ 449826 w 914400"/>
              <a:gd name="connsiteY4" fmla="*/ 41776 h 914400"/>
              <a:gd name="connsiteX5" fmla="*/ 457200 w 914400"/>
              <a:gd name="connsiteY5" fmla="*/ 0 h 914400"/>
              <a:gd name="connsiteX6" fmla="*/ 914400 w 914400"/>
              <a:gd name="connsiteY6" fmla="*/ 457200 h 914400"/>
              <a:gd name="connsiteX7" fmla="*/ 457200 w 914400"/>
              <a:gd name="connsiteY7" fmla="*/ 914400 h 914400"/>
              <a:gd name="connsiteX8" fmla="*/ 0 w 914400"/>
              <a:gd name="connsiteY8" fmla="*/ 457200 h 914400"/>
              <a:gd name="connsiteX9" fmla="*/ 457200 w 914400"/>
              <a:gd name="connsiteY9" fmla="*/ 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400" h="914400">
                <a:moveTo>
                  <a:pt x="449826" y="41776"/>
                </a:moveTo>
                <a:cubicBezTo>
                  <a:pt x="220394" y="41776"/>
                  <a:pt x="34402" y="227768"/>
                  <a:pt x="34402" y="457200"/>
                </a:cubicBezTo>
                <a:cubicBezTo>
                  <a:pt x="34402" y="686632"/>
                  <a:pt x="220394" y="872624"/>
                  <a:pt x="449826" y="872624"/>
                </a:cubicBezTo>
                <a:cubicBezTo>
                  <a:pt x="679258" y="872624"/>
                  <a:pt x="865250" y="686632"/>
                  <a:pt x="865250" y="457200"/>
                </a:cubicBezTo>
                <a:cubicBezTo>
                  <a:pt x="865250" y="227768"/>
                  <a:pt x="679258" y="41776"/>
                  <a:pt x="449826" y="41776"/>
                </a:cubicBezTo>
                <a:close/>
                <a:moveTo>
                  <a:pt x="457200" y="0"/>
                </a:moveTo>
                <a:cubicBezTo>
                  <a:pt x="709705" y="0"/>
                  <a:pt x="914400" y="204695"/>
                  <a:pt x="914400" y="457200"/>
                </a:cubicBezTo>
                <a:cubicBezTo>
                  <a:pt x="914400" y="709705"/>
                  <a:pt x="709705" y="914400"/>
                  <a:pt x="457200" y="914400"/>
                </a:cubicBezTo>
                <a:cubicBezTo>
                  <a:pt x="204695" y="914400"/>
                  <a:pt x="0" y="709705"/>
                  <a:pt x="0" y="457200"/>
                </a:cubicBezTo>
                <a:cubicBezTo>
                  <a:pt x="0" y="204695"/>
                  <a:pt x="204695" y="0"/>
                  <a:pt x="457200" y="0"/>
                </a:cubicBez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970"/>
          </a:p>
        </p:txBody>
      </p:sp>
      <p:sp>
        <p:nvSpPr>
          <p:cNvPr id="41" name="箭头: 下 40">
            <a:extLst>
              <a:ext uri="{FF2B5EF4-FFF2-40B4-BE49-F238E27FC236}">
                <a16:creationId xmlns:a16="http://schemas.microsoft.com/office/drawing/2014/main" id="{2218966A-0B83-F0BE-1233-ADC607B70268}"/>
              </a:ext>
            </a:extLst>
          </p:cNvPr>
          <p:cNvSpPr/>
          <p:nvPr/>
        </p:nvSpPr>
        <p:spPr>
          <a:xfrm rot="2394946">
            <a:off x="11742373" y="8905010"/>
            <a:ext cx="281626" cy="1640480"/>
          </a:xfrm>
          <a:prstGeom prst="downArrow">
            <a:avLst/>
          </a:prstGeom>
          <a:solidFill>
            <a:srgbClr val="FF6F9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a:p>
        </p:txBody>
      </p:sp>
      <p:graphicFrame>
        <p:nvGraphicFramePr>
          <p:cNvPr id="42" name="对象 41">
            <a:extLst>
              <a:ext uri="{FF2B5EF4-FFF2-40B4-BE49-F238E27FC236}">
                <a16:creationId xmlns:a16="http://schemas.microsoft.com/office/drawing/2014/main" id="{1D4E941B-94DE-ABB9-E3EF-32EB73DB6DD9}"/>
              </a:ext>
            </a:extLst>
          </p:cNvPr>
          <p:cNvGraphicFramePr>
            <a:graphicFrameLocks noChangeAspect="1"/>
          </p:cNvGraphicFramePr>
          <p:nvPr>
            <p:extLst>
              <p:ext uri="{D42A27DB-BD31-4B8C-83A1-F6EECF244321}">
                <p14:modId xmlns:p14="http://schemas.microsoft.com/office/powerpoint/2010/main" val="123238263"/>
              </p:ext>
            </p:extLst>
          </p:nvPr>
        </p:nvGraphicFramePr>
        <p:xfrm>
          <a:off x="12683146" y="7592184"/>
          <a:ext cx="1032758" cy="1737474"/>
        </p:xfrm>
        <a:graphic>
          <a:graphicData uri="http://schemas.openxmlformats.org/presentationml/2006/ole">
            <mc:AlternateContent xmlns:mc="http://schemas.openxmlformats.org/markup-compatibility/2006">
              <mc:Choice xmlns:v="urn:schemas-microsoft-com:vml" Requires="v">
                <p:oleObj name="AxMath" r:id="rId2" imgW="135360" imgH="227160" progId="Equation.AxMath">
                  <p:embed/>
                </p:oleObj>
              </mc:Choice>
              <mc:Fallback>
                <p:oleObj name="AxMath" r:id="rId2" imgW="135360" imgH="227160" progId="Equation.AxMath">
                  <p:embed/>
                  <p:pic>
                    <p:nvPicPr>
                      <p:cNvPr id="0" name=""/>
                      <p:cNvPicPr/>
                      <p:nvPr/>
                    </p:nvPicPr>
                    <p:blipFill>
                      <a:blip r:embed="rId3"/>
                      <a:stretch>
                        <a:fillRect/>
                      </a:stretch>
                    </p:blipFill>
                    <p:spPr>
                      <a:xfrm>
                        <a:off x="12683146" y="7592184"/>
                        <a:ext cx="1032758" cy="1737474"/>
                      </a:xfrm>
                      <a:prstGeom prst="rect">
                        <a:avLst/>
                      </a:prstGeom>
                    </p:spPr>
                  </p:pic>
                </p:oleObj>
              </mc:Fallback>
            </mc:AlternateContent>
          </a:graphicData>
        </a:graphic>
      </p:graphicFrame>
    </p:spTree>
    <p:extLst>
      <p:ext uri="{BB962C8B-B14F-4D97-AF65-F5344CB8AC3E}">
        <p14:creationId xmlns:p14="http://schemas.microsoft.com/office/powerpoint/2010/main" val="1528725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4E758DC9-EE51-860B-6202-481839A2EFCE}"/>
              </a:ext>
            </a:extLst>
          </p:cNvPr>
          <p:cNvSpPr/>
          <p:nvPr/>
        </p:nvSpPr>
        <p:spPr>
          <a:xfrm>
            <a:off x="1003389" y="7842711"/>
            <a:ext cx="2989943" cy="1277257"/>
          </a:xfrm>
          <a:prstGeom prst="roundRect">
            <a:avLst/>
          </a:prstGeom>
          <a:solidFill>
            <a:srgbClr val="A30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a:t>Kalman </a:t>
            </a:r>
            <a:r>
              <a:rPr lang="en-US" altLang="zh-CN" sz="3600" dirty="0" err="1"/>
              <a:t>Fliter</a:t>
            </a:r>
            <a:endParaRPr lang="zh-CN" altLang="en-US" sz="3600" dirty="0"/>
          </a:p>
        </p:txBody>
      </p:sp>
      <p:sp>
        <p:nvSpPr>
          <p:cNvPr id="5" name="矩形: 圆角 4">
            <a:extLst>
              <a:ext uri="{FF2B5EF4-FFF2-40B4-BE49-F238E27FC236}">
                <a16:creationId xmlns:a16="http://schemas.microsoft.com/office/drawing/2014/main" id="{4AA63C5E-2E44-3584-7A2F-070834CE2989}"/>
              </a:ext>
            </a:extLst>
          </p:cNvPr>
          <p:cNvSpPr/>
          <p:nvPr/>
        </p:nvSpPr>
        <p:spPr>
          <a:xfrm>
            <a:off x="15683553" y="7588236"/>
            <a:ext cx="4566766" cy="1567543"/>
          </a:xfrm>
          <a:prstGeom prst="roundRect">
            <a:avLst/>
          </a:prstGeom>
          <a:solidFill>
            <a:srgbClr val="F36F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dirty="0" err="1"/>
              <a:t>Uncertanties</a:t>
            </a:r>
            <a:r>
              <a:rPr lang="en-US" altLang="zh-CN" sz="3600" dirty="0"/>
              <a:t> of Location Prediction</a:t>
            </a:r>
            <a:endParaRPr lang="zh-CN" altLang="en-US" sz="3600" dirty="0"/>
          </a:p>
        </p:txBody>
      </p:sp>
      <p:cxnSp>
        <p:nvCxnSpPr>
          <p:cNvPr id="7" name="直接箭头连接符 6">
            <a:extLst>
              <a:ext uri="{FF2B5EF4-FFF2-40B4-BE49-F238E27FC236}">
                <a16:creationId xmlns:a16="http://schemas.microsoft.com/office/drawing/2014/main" id="{3D368A16-49B6-D969-E441-21D41C589395}"/>
              </a:ext>
            </a:extLst>
          </p:cNvPr>
          <p:cNvCxnSpPr>
            <a:cxnSpLocks/>
            <a:stCxn id="5" idx="1"/>
            <a:endCxn id="8" idx="3"/>
          </p:cNvCxnSpPr>
          <p:nvPr/>
        </p:nvCxnSpPr>
        <p:spPr>
          <a:xfrm flipH="1" flipV="1">
            <a:off x="14795293" y="8364511"/>
            <a:ext cx="888260" cy="7497"/>
          </a:xfrm>
          <a:prstGeom prst="straightConnector1">
            <a:avLst/>
          </a:prstGeom>
          <a:ln w="50800">
            <a:solidFill>
              <a:srgbClr val="F36F43"/>
            </a:solidFill>
            <a:headEnd w="lg" len="lg"/>
            <a:tailEnd type="triangle"/>
          </a:ln>
        </p:spPr>
        <p:style>
          <a:lnRef idx="3">
            <a:schemeClr val="dk1"/>
          </a:lnRef>
          <a:fillRef idx="0">
            <a:schemeClr val="dk1"/>
          </a:fillRef>
          <a:effectRef idx="2">
            <a:schemeClr val="dk1"/>
          </a:effectRef>
          <a:fontRef idx="minor">
            <a:schemeClr val="tx1"/>
          </a:fontRef>
        </p:style>
      </p:cxnSp>
      <p:sp>
        <p:nvSpPr>
          <p:cNvPr id="8" name="矩形: 圆角 7">
            <a:extLst>
              <a:ext uri="{FF2B5EF4-FFF2-40B4-BE49-F238E27FC236}">
                <a16:creationId xmlns:a16="http://schemas.microsoft.com/office/drawing/2014/main" id="{183B4FAC-0659-5BD3-3042-F6D9916B2D6F}"/>
              </a:ext>
            </a:extLst>
          </p:cNvPr>
          <p:cNvSpPr/>
          <p:nvPr/>
        </p:nvSpPr>
        <p:spPr>
          <a:xfrm>
            <a:off x="11482467" y="7785701"/>
            <a:ext cx="3312826" cy="1157620"/>
          </a:xfrm>
          <a:prstGeom prst="roundRect">
            <a:avLst/>
          </a:prstGeom>
          <a:solidFill>
            <a:srgbClr val="FBDA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dirty="0"/>
              <a:t>Communication</a:t>
            </a:r>
            <a:endParaRPr lang="zh-CN" altLang="en-US" sz="3200" dirty="0"/>
          </a:p>
        </p:txBody>
      </p:sp>
      <p:sp>
        <p:nvSpPr>
          <p:cNvPr id="9" name="矩形: 圆角 8">
            <a:extLst>
              <a:ext uri="{FF2B5EF4-FFF2-40B4-BE49-F238E27FC236}">
                <a16:creationId xmlns:a16="http://schemas.microsoft.com/office/drawing/2014/main" id="{1E40E11C-61FA-C5F3-9F9B-A8C112F4146B}"/>
              </a:ext>
            </a:extLst>
          </p:cNvPr>
          <p:cNvSpPr/>
          <p:nvPr/>
        </p:nvSpPr>
        <p:spPr>
          <a:xfrm>
            <a:off x="7149833" y="4002374"/>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B49141-17DE-E6FE-DCF9-18A17E1DADC5}"/>
              </a:ext>
            </a:extLst>
          </p:cNvPr>
          <p:cNvSpPr/>
          <p:nvPr/>
        </p:nvSpPr>
        <p:spPr>
          <a:xfrm>
            <a:off x="7149833" y="5891135"/>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6D139BE-E7E2-C3E9-B144-C463439883A9}"/>
              </a:ext>
            </a:extLst>
          </p:cNvPr>
          <p:cNvSpPr/>
          <p:nvPr/>
        </p:nvSpPr>
        <p:spPr>
          <a:xfrm>
            <a:off x="7149833" y="7779896"/>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B3380333-E2DF-B49D-1F13-D798DA4FC6FC}"/>
              </a:ext>
            </a:extLst>
          </p:cNvPr>
          <p:cNvSpPr/>
          <p:nvPr/>
        </p:nvSpPr>
        <p:spPr>
          <a:xfrm>
            <a:off x="7149833" y="9668657"/>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8CCD4C0E-1234-6A28-A1E4-74214B8C2C4E}"/>
              </a:ext>
            </a:extLst>
          </p:cNvPr>
          <p:cNvSpPr/>
          <p:nvPr/>
        </p:nvSpPr>
        <p:spPr>
          <a:xfrm>
            <a:off x="7149833" y="11557418"/>
            <a:ext cx="3057993" cy="1184223"/>
          </a:xfrm>
          <a:prstGeom prst="roundRect">
            <a:avLst/>
          </a:prstGeom>
          <a:solidFill>
            <a:srgbClr val="F9F8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连接符: 肘形 17">
            <a:extLst>
              <a:ext uri="{FF2B5EF4-FFF2-40B4-BE49-F238E27FC236}">
                <a16:creationId xmlns:a16="http://schemas.microsoft.com/office/drawing/2014/main" id="{CD62696F-A5C3-3179-3935-11EF8B3E46E0}"/>
              </a:ext>
            </a:extLst>
          </p:cNvPr>
          <p:cNvCxnSpPr>
            <a:stCxn id="8" idx="1"/>
            <a:endCxn id="9" idx="3"/>
          </p:cNvCxnSpPr>
          <p:nvPr/>
        </p:nvCxnSpPr>
        <p:spPr>
          <a:xfrm rot="10800000">
            <a:off x="10207827" y="4594487"/>
            <a:ext cx="1274641" cy="3770025"/>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1760F0F8-8EF0-EC52-D260-E0614A131F63}"/>
              </a:ext>
            </a:extLst>
          </p:cNvPr>
          <p:cNvCxnSpPr>
            <a:stCxn id="8" idx="1"/>
            <a:endCxn id="13" idx="3"/>
          </p:cNvCxnSpPr>
          <p:nvPr/>
        </p:nvCxnSpPr>
        <p:spPr>
          <a:xfrm rot="10800000">
            <a:off x="10207827" y="6483247"/>
            <a:ext cx="1274641" cy="1881264"/>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F3F064A2-B1E9-3374-63D0-455F74A307C7}"/>
              </a:ext>
            </a:extLst>
          </p:cNvPr>
          <p:cNvCxnSpPr>
            <a:stCxn id="8" idx="1"/>
            <a:endCxn id="14" idx="3"/>
          </p:cNvCxnSpPr>
          <p:nvPr/>
        </p:nvCxnSpPr>
        <p:spPr>
          <a:xfrm rot="10800000" flipV="1">
            <a:off x="10207827" y="8364510"/>
            <a:ext cx="1274641" cy="7497"/>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7D32197D-039D-3854-ECEC-0E49937C314E}"/>
              </a:ext>
            </a:extLst>
          </p:cNvPr>
          <p:cNvCxnSpPr>
            <a:stCxn id="8" idx="1"/>
            <a:endCxn id="15" idx="3"/>
          </p:cNvCxnSpPr>
          <p:nvPr/>
        </p:nvCxnSpPr>
        <p:spPr>
          <a:xfrm rot="10800000" flipV="1">
            <a:off x="10207827" y="8364511"/>
            <a:ext cx="1274641" cy="1896258"/>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574AC5DC-DD1B-B4B7-6462-C8F2E621D5AB}"/>
              </a:ext>
            </a:extLst>
          </p:cNvPr>
          <p:cNvCxnSpPr>
            <a:stCxn id="8" idx="1"/>
            <a:endCxn id="16" idx="3"/>
          </p:cNvCxnSpPr>
          <p:nvPr/>
        </p:nvCxnSpPr>
        <p:spPr>
          <a:xfrm rot="10800000" flipV="1">
            <a:off x="10207827" y="8364510"/>
            <a:ext cx="1274641" cy="3785019"/>
          </a:xfrm>
          <a:prstGeom prst="bentConnector3">
            <a:avLst/>
          </a:prstGeom>
          <a:ln w="50800" cmpd="sng">
            <a:solidFill>
              <a:srgbClr val="F9F871"/>
            </a:solidFill>
          </a:ln>
          <a:effectLst>
            <a:outerShdw blurRad="50800" dist="38100" dir="10800000" algn="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4AD5C92C-8FC2-7839-DE24-E4CBFD174B85}"/>
              </a:ext>
            </a:extLst>
          </p:cNvPr>
          <p:cNvCxnSpPr>
            <a:stCxn id="4" idx="3"/>
            <a:endCxn id="13" idx="1"/>
          </p:cNvCxnSpPr>
          <p:nvPr/>
        </p:nvCxnSpPr>
        <p:spPr>
          <a:xfrm flipV="1">
            <a:off x="3993332" y="6483247"/>
            <a:ext cx="3156501" cy="1998093"/>
          </a:xfrm>
          <a:prstGeom prst="straightConnector1">
            <a:avLst/>
          </a:prstGeom>
          <a:ln w="50800">
            <a:solidFill>
              <a:srgbClr val="A3054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96CB6E5F-B721-2C0B-FA79-B94C7547E511}"/>
              </a:ext>
            </a:extLst>
          </p:cNvPr>
          <p:cNvCxnSpPr>
            <a:stCxn id="4" idx="3"/>
            <a:endCxn id="14" idx="1"/>
          </p:cNvCxnSpPr>
          <p:nvPr/>
        </p:nvCxnSpPr>
        <p:spPr>
          <a:xfrm flipV="1">
            <a:off x="3993332" y="8372008"/>
            <a:ext cx="3156501" cy="109332"/>
          </a:xfrm>
          <a:prstGeom prst="straightConnector1">
            <a:avLst/>
          </a:prstGeom>
          <a:ln w="50800">
            <a:solidFill>
              <a:srgbClr val="A30543"/>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3992805E-5788-E28E-B174-DBD1CEE8B839}"/>
              </a:ext>
            </a:extLst>
          </p:cNvPr>
          <p:cNvCxnSpPr>
            <a:stCxn id="4" idx="3"/>
            <a:endCxn id="15" idx="1"/>
          </p:cNvCxnSpPr>
          <p:nvPr/>
        </p:nvCxnSpPr>
        <p:spPr>
          <a:xfrm>
            <a:off x="3993332" y="8481340"/>
            <a:ext cx="3156501" cy="1779429"/>
          </a:xfrm>
          <a:prstGeom prst="straightConnector1">
            <a:avLst/>
          </a:prstGeom>
          <a:ln w="50800">
            <a:solidFill>
              <a:srgbClr val="A30543"/>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3" name="矩形: 圆角 32">
            <a:extLst>
              <a:ext uri="{FF2B5EF4-FFF2-40B4-BE49-F238E27FC236}">
                <a16:creationId xmlns:a16="http://schemas.microsoft.com/office/drawing/2014/main" id="{9A64137A-EC90-5D3F-A23C-E6C0222A1CD8}"/>
              </a:ext>
            </a:extLst>
          </p:cNvPr>
          <p:cNvSpPr/>
          <p:nvPr/>
        </p:nvSpPr>
        <p:spPr>
          <a:xfrm>
            <a:off x="20931064" y="7793197"/>
            <a:ext cx="2902857" cy="1157620"/>
          </a:xfrm>
          <a:prstGeom prst="roundRect">
            <a:avLst/>
          </a:prstGeom>
          <a:solidFill>
            <a:srgbClr val="FBE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角 37">
            <a:extLst>
              <a:ext uri="{FF2B5EF4-FFF2-40B4-BE49-F238E27FC236}">
                <a16:creationId xmlns:a16="http://schemas.microsoft.com/office/drawing/2014/main" id="{06C30203-0672-BD48-BEA3-9C88C3C6D38E}"/>
              </a:ext>
            </a:extLst>
          </p:cNvPr>
          <p:cNvSpPr/>
          <p:nvPr/>
        </p:nvSpPr>
        <p:spPr>
          <a:xfrm>
            <a:off x="24778741" y="4152275"/>
            <a:ext cx="2923082" cy="1154243"/>
          </a:xfrm>
          <a:prstGeom prst="roundRect">
            <a:avLst/>
          </a:prstGeom>
          <a:solidFill>
            <a:srgbClr val="F2B5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38">
            <a:extLst>
              <a:ext uri="{FF2B5EF4-FFF2-40B4-BE49-F238E27FC236}">
                <a16:creationId xmlns:a16="http://schemas.microsoft.com/office/drawing/2014/main" id="{E69D52F4-6DAB-76AF-E603-0B8F06DDF47B}"/>
              </a:ext>
            </a:extLst>
          </p:cNvPr>
          <p:cNvSpPr/>
          <p:nvPr/>
        </p:nvSpPr>
        <p:spPr>
          <a:xfrm>
            <a:off x="24778741" y="5983930"/>
            <a:ext cx="2923082" cy="1154243"/>
          </a:xfrm>
          <a:prstGeom prst="roundRect">
            <a:avLst/>
          </a:prstGeom>
          <a:solidFill>
            <a:srgbClr val="F57C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0F7F8D8F-0D2D-C4CC-B6C2-0BB86FF64F43}"/>
              </a:ext>
            </a:extLst>
          </p:cNvPr>
          <p:cNvSpPr/>
          <p:nvPr/>
        </p:nvSpPr>
        <p:spPr>
          <a:xfrm>
            <a:off x="24778741" y="7809876"/>
            <a:ext cx="2923082" cy="1154243"/>
          </a:xfrm>
          <a:prstGeom prst="roundRect">
            <a:avLst/>
          </a:prstGeom>
          <a:solidFill>
            <a:srgbClr val="71B8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圆角 40">
            <a:extLst>
              <a:ext uri="{FF2B5EF4-FFF2-40B4-BE49-F238E27FC236}">
                <a16:creationId xmlns:a16="http://schemas.microsoft.com/office/drawing/2014/main" id="{472D1395-B01A-9CBA-4901-62472BF1E108}"/>
              </a:ext>
            </a:extLst>
          </p:cNvPr>
          <p:cNvSpPr/>
          <p:nvPr/>
        </p:nvSpPr>
        <p:spPr>
          <a:xfrm>
            <a:off x="24778741" y="9635822"/>
            <a:ext cx="2923082" cy="1154243"/>
          </a:xfrm>
          <a:prstGeom prst="roundRect">
            <a:avLst/>
          </a:prstGeom>
          <a:solidFill>
            <a:srgbClr val="80CBA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圆角 41">
            <a:extLst>
              <a:ext uri="{FF2B5EF4-FFF2-40B4-BE49-F238E27FC236}">
                <a16:creationId xmlns:a16="http://schemas.microsoft.com/office/drawing/2014/main" id="{5CC5C273-D92D-A85C-CC0F-69A68ED092E9}"/>
              </a:ext>
            </a:extLst>
          </p:cNvPr>
          <p:cNvSpPr/>
          <p:nvPr/>
        </p:nvSpPr>
        <p:spPr>
          <a:xfrm>
            <a:off x="24778741" y="11461768"/>
            <a:ext cx="2923082" cy="1154243"/>
          </a:xfrm>
          <a:prstGeom prst="roundRect">
            <a:avLst/>
          </a:prstGeom>
          <a:solidFill>
            <a:srgbClr val="E9F4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连接符: 肘形 43">
            <a:extLst>
              <a:ext uri="{FF2B5EF4-FFF2-40B4-BE49-F238E27FC236}">
                <a16:creationId xmlns:a16="http://schemas.microsoft.com/office/drawing/2014/main" id="{C9D13A0A-E45D-D2A1-20A4-9986612B4636}"/>
              </a:ext>
            </a:extLst>
          </p:cNvPr>
          <p:cNvCxnSpPr>
            <a:stCxn id="33" idx="3"/>
            <a:endCxn id="38" idx="1"/>
          </p:cNvCxnSpPr>
          <p:nvPr/>
        </p:nvCxnSpPr>
        <p:spPr>
          <a:xfrm flipV="1">
            <a:off x="23833921" y="4729397"/>
            <a:ext cx="944820" cy="3642610"/>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979D3ECC-6E01-731A-BFDB-61BB869E3103}"/>
              </a:ext>
            </a:extLst>
          </p:cNvPr>
          <p:cNvCxnSpPr>
            <a:stCxn id="33" idx="3"/>
            <a:endCxn id="39" idx="1"/>
          </p:cNvCxnSpPr>
          <p:nvPr/>
        </p:nvCxnSpPr>
        <p:spPr>
          <a:xfrm flipV="1">
            <a:off x="23833921" y="6561052"/>
            <a:ext cx="944820" cy="1810955"/>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B219919E-324C-FBD9-F165-88096F955F02}"/>
              </a:ext>
            </a:extLst>
          </p:cNvPr>
          <p:cNvCxnSpPr>
            <a:stCxn id="33" idx="3"/>
            <a:endCxn id="40" idx="1"/>
          </p:cNvCxnSpPr>
          <p:nvPr/>
        </p:nvCxnSpPr>
        <p:spPr>
          <a:xfrm>
            <a:off x="23833921" y="8372007"/>
            <a:ext cx="944820" cy="14991"/>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10230359-D29C-D987-8BF5-607B51220B48}"/>
              </a:ext>
            </a:extLst>
          </p:cNvPr>
          <p:cNvCxnSpPr>
            <a:stCxn id="33" idx="3"/>
            <a:endCxn id="41" idx="1"/>
          </p:cNvCxnSpPr>
          <p:nvPr/>
        </p:nvCxnSpPr>
        <p:spPr>
          <a:xfrm>
            <a:off x="23833921" y="8372007"/>
            <a:ext cx="944820" cy="1840937"/>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CE9CEFF9-9AC7-2FCE-F164-CF7E785F6F4C}"/>
              </a:ext>
            </a:extLst>
          </p:cNvPr>
          <p:cNvCxnSpPr>
            <a:stCxn id="33" idx="3"/>
            <a:endCxn id="42" idx="1"/>
          </p:cNvCxnSpPr>
          <p:nvPr/>
        </p:nvCxnSpPr>
        <p:spPr>
          <a:xfrm>
            <a:off x="23833921" y="8372007"/>
            <a:ext cx="944820" cy="3666883"/>
          </a:xfrm>
          <a:prstGeom prst="bentConnector3">
            <a:avLst/>
          </a:prstGeom>
          <a:ln w="50800"/>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28742A32-E205-1C17-03CF-458578D5211F}"/>
              </a:ext>
            </a:extLst>
          </p:cNvPr>
          <p:cNvCxnSpPr>
            <a:cxnSpLocks/>
            <a:stCxn id="5" idx="3"/>
            <a:endCxn id="33" idx="1"/>
          </p:cNvCxnSpPr>
          <p:nvPr/>
        </p:nvCxnSpPr>
        <p:spPr>
          <a:xfrm flipV="1">
            <a:off x="20250319" y="8372007"/>
            <a:ext cx="680745" cy="1"/>
          </a:xfrm>
          <a:prstGeom prst="straightConnector1">
            <a:avLst/>
          </a:prstGeom>
          <a:ln w="50800">
            <a:solidFill>
              <a:srgbClr val="F36F43"/>
            </a:solidFill>
            <a:headEnd w="lg" len="lg"/>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365206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0735DC4A-EB40-1EA4-DAA7-12889AC6C015}"/>
              </a:ext>
            </a:extLst>
          </p:cNvPr>
          <p:cNvSpPr/>
          <p:nvPr/>
        </p:nvSpPr>
        <p:spPr>
          <a:xfrm>
            <a:off x="9528409" y="3402768"/>
            <a:ext cx="9344207" cy="9344207"/>
          </a:xfrm>
          <a:prstGeom prst="ellipse">
            <a:avLst/>
          </a:prstGeom>
          <a:solidFill>
            <a:srgbClr val="F57C6E"/>
          </a:solidFill>
          <a:scene3d>
            <a:camera prst="orthographicFront"/>
            <a:lightRig rig="threePt" dir="t">
              <a:rot lat="0" lon="0" rev="180000"/>
            </a:lightRig>
          </a:scene3d>
          <a:sp3d>
            <a:bevelT w="4320000" h="4320000"/>
            <a:bevelB w="4320000" h="43200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 name="直接箭头连接符 5">
            <a:extLst>
              <a:ext uri="{FF2B5EF4-FFF2-40B4-BE49-F238E27FC236}">
                <a16:creationId xmlns:a16="http://schemas.microsoft.com/office/drawing/2014/main" id="{4F016923-FC65-905A-74A7-FF82ABFEED43}"/>
              </a:ext>
            </a:extLst>
          </p:cNvPr>
          <p:cNvCxnSpPr>
            <a:cxnSpLocks/>
          </p:cNvCxnSpPr>
          <p:nvPr/>
        </p:nvCxnSpPr>
        <p:spPr>
          <a:xfrm>
            <a:off x="18048157" y="8941769"/>
            <a:ext cx="3474350" cy="615737"/>
          </a:xfrm>
          <a:prstGeom prst="straightConnector1">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DB4DF79F-E879-5509-B805-DAC4D5BBC146}"/>
              </a:ext>
            </a:extLst>
          </p:cNvPr>
          <p:cNvCxnSpPr>
            <a:cxnSpLocks/>
          </p:cNvCxnSpPr>
          <p:nvPr/>
        </p:nvCxnSpPr>
        <p:spPr>
          <a:xfrm flipH="1">
            <a:off x="8227741" y="10610512"/>
            <a:ext cx="3115619" cy="2820675"/>
          </a:xfrm>
          <a:prstGeom prst="straightConnector1">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4E0441B6-E3C6-B7F5-D577-3816E28FB328}"/>
              </a:ext>
            </a:extLst>
          </p:cNvPr>
          <p:cNvCxnSpPr>
            <a:cxnSpLocks/>
          </p:cNvCxnSpPr>
          <p:nvPr/>
        </p:nvCxnSpPr>
        <p:spPr>
          <a:xfrm flipV="1">
            <a:off x="14200512" y="854439"/>
            <a:ext cx="0" cy="3117954"/>
          </a:xfrm>
          <a:prstGeom prst="straightConnector1">
            <a:avLst/>
          </a:prstGeom>
          <a:ln w="762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D5356129-C99D-207E-D7EF-2695CCC0807C}"/>
              </a:ext>
            </a:extLst>
          </p:cNvPr>
          <p:cNvCxnSpPr>
            <a:cxnSpLocks/>
          </p:cNvCxnSpPr>
          <p:nvPr/>
        </p:nvCxnSpPr>
        <p:spPr>
          <a:xfrm>
            <a:off x="14200512" y="3837482"/>
            <a:ext cx="0" cy="8909493"/>
          </a:xfrm>
          <a:prstGeom prst="line">
            <a:avLst/>
          </a:prstGeom>
          <a:ln w="76200">
            <a:solidFill>
              <a:schemeClr val="tx1">
                <a:alpha val="28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5BB3DCF-89DE-B7C5-C280-979E50482320}"/>
              </a:ext>
            </a:extLst>
          </p:cNvPr>
          <p:cNvCxnSpPr>
            <a:cxnSpLocks/>
          </p:cNvCxnSpPr>
          <p:nvPr/>
        </p:nvCxnSpPr>
        <p:spPr>
          <a:xfrm>
            <a:off x="14200512" y="12636707"/>
            <a:ext cx="0" cy="1124263"/>
          </a:xfrm>
          <a:prstGeom prst="line">
            <a:avLst/>
          </a:prstGeom>
          <a:ln w="762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5E3A3BB7-A68B-B7CD-C16A-4CEF559D71DD}"/>
              </a:ext>
            </a:extLst>
          </p:cNvPr>
          <p:cNvCxnSpPr>
            <a:cxnSpLocks/>
          </p:cNvCxnSpPr>
          <p:nvPr/>
        </p:nvCxnSpPr>
        <p:spPr>
          <a:xfrm flipH="1">
            <a:off x="11452485" y="4886793"/>
            <a:ext cx="6130977" cy="5627525"/>
          </a:xfrm>
          <a:prstGeom prst="line">
            <a:avLst/>
          </a:prstGeom>
          <a:ln w="76200">
            <a:solidFill>
              <a:schemeClr val="tx1">
                <a:alpha val="29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68C7354E-4907-21C4-4BCA-5990F8A2C437}"/>
              </a:ext>
            </a:extLst>
          </p:cNvPr>
          <p:cNvCxnSpPr>
            <a:cxnSpLocks/>
          </p:cNvCxnSpPr>
          <p:nvPr/>
        </p:nvCxnSpPr>
        <p:spPr>
          <a:xfrm flipH="1">
            <a:off x="17583462" y="4249254"/>
            <a:ext cx="602785" cy="592568"/>
          </a:xfrm>
          <a:prstGeom prst="line">
            <a:avLst/>
          </a:prstGeom>
          <a:ln w="762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50C38C8-5166-DE53-6336-B77ADFC1893D}"/>
              </a:ext>
            </a:extLst>
          </p:cNvPr>
          <p:cNvCxnSpPr>
            <a:cxnSpLocks/>
          </p:cNvCxnSpPr>
          <p:nvPr/>
        </p:nvCxnSpPr>
        <p:spPr>
          <a:xfrm flipH="1" flipV="1">
            <a:off x="9653665" y="7390151"/>
            <a:ext cx="8394492" cy="1551618"/>
          </a:xfrm>
          <a:prstGeom prst="line">
            <a:avLst/>
          </a:prstGeom>
          <a:ln w="76200">
            <a:solidFill>
              <a:schemeClr val="tx1">
                <a:alpha val="29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E9FDA37D-C416-8723-8DEC-9177CEFA567C}"/>
              </a:ext>
            </a:extLst>
          </p:cNvPr>
          <p:cNvCxnSpPr>
            <a:cxnSpLocks/>
          </p:cNvCxnSpPr>
          <p:nvPr/>
        </p:nvCxnSpPr>
        <p:spPr>
          <a:xfrm flipH="1" flipV="1">
            <a:off x="8069536" y="7099151"/>
            <a:ext cx="1458873" cy="291000"/>
          </a:xfrm>
          <a:prstGeom prst="line">
            <a:avLst/>
          </a:prstGeom>
          <a:ln w="762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6" name="任意多边形: 形状 55">
            <a:extLst>
              <a:ext uri="{FF2B5EF4-FFF2-40B4-BE49-F238E27FC236}">
                <a16:creationId xmlns:a16="http://schemas.microsoft.com/office/drawing/2014/main" id="{06926BF9-9827-5404-27A2-EE49F16C81BB}"/>
              </a:ext>
            </a:extLst>
          </p:cNvPr>
          <p:cNvSpPr/>
          <p:nvPr/>
        </p:nvSpPr>
        <p:spPr>
          <a:xfrm>
            <a:off x="11937303" y="2964993"/>
            <a:ext cx="9018946" cy="11290653"/>
          </a:xfrm>
          <a:custGeom>
            <a:avLst/>
            <a:gdLst>
              <a:gd name="csX0" fmla="*/ 114789 w 9018946"/>
              <a:gd name="csY0" fmla="*/ 93000 h 11290653"/>
              <a:gd name="csX1" fmla="*/ 159759 w 9018946"/>
              <a:gd name="csY1" fmla="*/ 152961 h 11290653"/>
              <a:gd name="csX2" fmla="*/ 3772389 w 9018946"/>
              <a:gd name="csY2" fmla="*/ 3330876 h 11290653"/>
              <a:gd name="csX3" fmla="*/ 6545569 w 9018946"/>
              <a:gd name="csY3" fmla="*/ 9356922 h 11290653"/>
              <a:gd name="csX4" fmla="*/ 9018946 w 9018946"/>
              <a:gd name="csY4" fmla="*/ 11290653 h 11290653"/>
            </a:gdLst>
            <a:ahLst/>
            <a:cxnLst>
              <a:cxn ang="0">
                <a:pos x="csX0" y="csY0"/>
              </a:cxn>
              <a:cxn ang="0">
                <a:pos x="csX1" y="csY1"/>
              </a:cxn>
              <a:cxn ang="0">
                <a:pos x="csX2" y="csY2"/>
              </a:cxn>
              <a:cxn ang="0">
                <a:pos x="csX3" y="csY3"/>
              </a:cxn>
              <a:cxn ang="0">
                <a:pos x="csX4" y="csY4"/>
              </a:cxn>
            </a:cxnLst>
            <a:rect l="l" t="t" r="r" b="b"/>
            <a:pathLst>
              <a:path w="9018946" h="11290653">
                <a:moveTo>
                  <a:pt x="114789" y="93000"/>
                </a:moveTo>
                <a:cubicBezTo>
                  <a:pt x="-167526" y="-146843"/>
                  <a:pt x="159759" y="152961"/>
                  <a:pt x="159759" y="152961"/>
                </a:cubicBezTo>
                <a:cubicBezTo>
                  <a:pt x="769359" y="692607"/>
                  <a:pt x="2708087" y="1796883"/>
                  <a:pt x="3772389" y="3330876"/>
                </a:cubicBezTo>
                <a:cubicBezTo>
                  <a:pt x="4836691" y="4864869"/>
                  <a:pt x="5671143" y="8030293"/>
                  <a:pt x="6545569" y="9356922"/>
                </a:cubicBezTo>
                <a:cubicBezTo>
                  <a:pt x="7419995" y="10683551"/>
                  <a:pt x="7982126" y="11098279"/>
                  <a:pt x="9018946" y="11290653"/>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任意多边形: 形状 56">
            <a:extLst>
              <a:ext uri="{FF2B5EF4-FFF2-40B4-BE49-F238E27FC236}">
                <a16:creationId xmlns:a16="http://schemas.microsoft.com/office/drawing/2014/main" id="{8F4C4143-F5FB-E892-9454-CFC1014F529C}"/>
              </a:ext>
            </a:extLst>
          </p:cNvPr>
          <p:cNvSpPr/>
          <p:nvPr/>
        </p:nvSpPr>
        <p:spPr>
          <a:xfrm>
            <a:off x="9078402" y="7125162"/>
            <a:ext cx="3723198" cy="8554549"/>
          </a:xfrm>
          <a:custGeom>
            <a:avLst/>
            <a:gdLst>
              <a:gd name="csX0" fmla="*/ 35618 w 3723198"/>
              <a:gd name="csY0" fmla="*/ 264989 h 8554549"/>
              <a:gd name="csX1" fmla="*/ 65598 w 3723198"/>
              <a:gd name="csY1" fmla="*/ 384910 h 8554549"/>
              <a:gd name="csX2" fmla="*/ 635224 w 3723198"/>
              <a:gd name="csY2" fmla="*/ 3952569 h 8554549"/>
              <a:gd name="csX3" fmla="*/ 2793808 w 3723198"/>
              <a:gd name="csY3" fmla="*/ 5901290 h 8554549"/>
              <a:gd name="csX4" fmla="*/ 3723198 w 3723198"/>
              <a:gd name="csY4" fmla="*/ 8554549 h 8554549"/>
            </a:gdLst>
            <a:ahLst/>
            <a:cxnLst>
              <a:cxn ang="0">
                <a:pos x="csX0" y="csY0"/>
              </a:cxn>
              <a:cxn ang="0">
                <a:pos x="csX1" y="csY1"/>
              </a:cxn>
              <a:cxn ang="0">
                <a:pos x="csX2" y="csY2"/>
              </a:cxn>
              <a:cxn ang="0">
                <a:pos x="csX3" y="csY3"/>
              </a:cxn>
              <a:cxn ang="0">
                <a:pos x="csX4" y="csY4"/>
              </a:cxn>
            </a:cxnLst>
            <a:rect l="l" t="t" r="r" b="b"/>
            <a:pathLst>
              <a:path w="3723198" h="8554549">
                <a:moveTo>
                  <a:pt x="35618" y="264989"/>
                </a:moveTo>
                <a:cubicBezTo>
                  <a:pt x="641" y="17651"/>
                  <a:pt x="-34336" y="-229687"/>
                  <a:pt x="65598" y="384910"/>
                </a:cubicBezTo>
                <a:cubicBezTo>
                  <a:pt x="165532" y="999507"/>
                  <a:pt x="180522" y="3033172"/>
                  <a:pt x="635224" y="3952569"/>
                </a:cubicBezTo>
                <a:cubicBezTo>
                  <a:pt x="1089926" y="4871966"/>
                  <a:pt x="2279146" y="5134293"/>
                  <a:pt x="2793808" y="5901290"/>
                </a:cubicBezTo>
                <a:cubicBezTo>
                  <a:pt x="3308470" y="6668287"/>
                  <a:pt x="3538319" y="8129828"/>
                  <a:pt x="3723198" y="8554549"/>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箭头连接符 57">
            <a:extLst>
              <a:ext uri="{FF2B5EF4-FFF2-40B4-BE49-F238E27FC236}">
                <a16:creationId xmlns:a16="http://schemas.microsoft.com/office/drawing/2014/main" id="{C5A216E0-9CC1-C036-5BE3-044501988608}"/>
              </a:ext>
            </a:extLst>
          </p:cNvPr>
          <p:cNvCxnSpPr>
            <a:cxnSpLocks/>
          </p:cNvCxnSpPr>
          <p:nvPr/>
        </p:nvCxnSpPr>
        <p:spPr>
          <a:xfrm flipV="1">
            <a:off x="15909390" y="2155524"/>
            <a:ext cx="0" cy="3117954"/>
          </a:xfrm>
          <a:prstGeom prst="straightConnector1">
            <a:avLst/>
          </a:prstGeom>
          <a:ln w="76200">
            <a:solidFill>
              <a:srgbClr val="80CBA4"/>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DE7BDA92-0308-AC14-8308-A8ED834043B5}"/>
              </a:ext>
            </a:extLst>
          </p:cNvPr>
          <p:cNvCxnSpPr>
            <a:cxnSpLocks/>
          </p:cNvCxnSpPr>
          <p:nvPr/>
        </p:nvCxnSpPr>
        <p:spPr>
          <a:xfrm flipV="1">
            <a:off x="15909390" y="5321508"/>
            <a:ext cx="0" cy="6820525"/>
          </a:xfrm>
          <a:prstGeom prst="straightConnector1">
            <a:avLst/>
          </a:prstGeom>
          <a:ln w="76200">
            <a:solidFill>
              <a:srgbClr val="80CBA4">
                <a:alpha val="64000"/>
              </a:srgb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04757249-FBBE-8342-236E-DB391CCFDA67}"/>
              </a:ext>
            </a:extLst>
          </p:cNvPr>
          <p:cNvCxnSpPr>
            <a:cxnSpLocks/>
          </p:cNvCxnSpPr>
          <p:nvPr/>
        </p:nvCxnSpPr>
        <p:spPr>
          <a:xfrm flipV="1">
            <a:off x="15909390" y="12142033"/>
            <a:ext cx="0" cy="2848131"/>
          </a:xfrm>
          <a:prstGeom prst="straightConnector1">
            <a:avLst/>
          </a:prstGeom>
          <a:ln w="76200">
            <a:solidFill>
              <a:srgbClr val="80CBA4"/>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D8A7D0C0-0335-2A78-43A2-B4A6F8852121}"/>
              </a:ext>
            </a:extLst>
          </p:cNvPr>
          <p:cNvSpPr txBox="1"/>
          <p:nvPr/>
        </p:nvSpPr>
        <p:spPr>
          <a:xfrm>
            <a:off x="17956532" y="14548316"/>
            <a:ext cx="2877711" cy="923330"/>
          </a:xfrm>
          <a:prstGeom prst="rect">
            <a:avLst/>
          </a:prstGeom>
          <a:noFill/>
        </p:spPr>
        <p:txBody>
          <a:bodyPr wrap="none" rtlCol="0">
            <a:spAutoFit/>
          </a:bodyPr>
          <a:lstStyle/>
          <a:p>
            <a:r>
              <a:rPr lang="en-US" altLang="zh-CN" sz="5400" dirty="0" err="1"/>
              <a:t>F_current</a:t>
            </a:r>
            <a:endParaRPr lang="zh-CN" altLang="en-US" sz="5400" dirty="0"/>
          </a:p>
        </p:txBody>
      </p:sp>
      <p:sp>
        <p:nvSpPr>
          <p:cNvPr id="66" name="文本框 65">
            <a:extLst>
              <a:ext uri="{FF2B5EF4-FFF2-40B4-BE49-F238E27FC236}">
                <a16:creationId xmlns:a16="http://schemas.microsoft.com/office/drawing/2014/main" id="{23824CA0-DAE5-194B-2A55-A896CDF0B118}"/>
              </a:ext>
            </a:extLst>
          </p:cNvPr>
          <p:cNvSpPr txBox="1"/>
          <p:nvPr/>
        </p:nvSpPr>
        <p:spPr>
          <a:xfrm>
            <a:off x="18771035" y="3325924"/>
            <a:ext cx="2531462" cy="923330"/>
          </a:xfrm>
          <a:prstGeom prst="rect">
            <a:avLst/>
          </a:prstGeom>
          <a:noFill/>
        </p:spPr>
        <p:txBody>
          <a:bodyPr wrap="none" rtlCol="0">
            <a:spAutoFit/>
          </a:bodyPr>
          <a:lstStyle/>
          <a:p>
            <a:r>
              <a:rPr lang="en-US" altLang="zh-CN" sz="5400" dirty="0"/>
              <a:t>Heading</a:t>
            </a:r>
            <a:endParaRPr lang="zh-CN" altLang="en-US" sz="5400" dirty="0"/>
          </a:p>
        </p:txBody>
      </p:sp>
      <p:cxnSp>
        <p:nvCxnSpPr>
          <p:cNvPr id="68" name="直接箭头连接符 67">
            <a:extLst>
              <a:ext uri="{FF2B5EF4-FFF2-40B4-BE49-F238E27FC236}">
                <a16:creationId xmlns:a16="http://schemas.microsoft.com/office/drawing/2014/main" id="{A91A88D3-F459-9A28-7682-0B7170168634}"/>
              </a:ext>
            </a:extLst>
          </p:cNvPr>
          <p:cNvCxnSpPr>
            <a:cxnSpLocks/>
          </p:cNvCxnSpPr>
          <p:nvPr/>
        </p:nvCxnSpPr>
        <p:spPr>
          <a:xfrm flipV="1">
            <a:off x="14200512" y="2862176"/>
            <a:ext cx="3570327" cy="5303784"/>
          </a:xfrm>
          <a:prstGeom prst="straightConnector1">
            <a:avLst/>
          </a:prstGeom>
          <a:ln w="177800">
            <a:solidFill>
              <a:srgbClr val="A30543"/>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10400BB1-22E9-49AA-85A9-6F219F7424D5}"/>
              </a:ext>
            </a:extLst>
          </p:cNvPr>
          <p:cNvCxnSpPr>
            <a:cxnSpLocks/>
          </p:cNvCxnSpPr>
          <p:nvPr/>
        </p:nvCxnSpPr>
        <p:spPr>
          <a:xfrm>
            <a:off x="14281604" y="8119731"/>
            <a:ext cx="3614491" cy="6135915"/>
          </a:xfrm>
          <a:prstGeom prst="straightConnector1">
            <a:avLst/>
          </a:prstGeom>
          <a:ln w="177800">
            <a:solidFill>
              <a:srgbClr val="A30543"/>
            </a:solidFill>
            <a:tailEnd type="triangle"/>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4EE9B5A1-03C3-3197-621F-49E2899BDA1F}"/>
              </a:ext>
            </a:extLst>
          </p:cNvPr>
          <p:cNvSpPr txBox="1"/>
          <p:nvPr/>
        </p:nvSpPr>
        <p:spPr>
          <a:xfrm>
            <a:off x="17956532" y="1951751"/>
            <a:ext cx="2185214" cy="923330"/>
          </a:xfrm>
          <a:prstGeom prst="rect">
            <a:avLst/>
          </a:prstGeom>
          <a:noFill/>
        </p:spPr>
        <p:txBody>
          <a:bodyPr wrap="none" rtlCol="0">
            <a:spAutoFit/>
          </a:bodyPr>
          <a:lstStyle/>
          <a:p>
            <a:r>
              <a:rPr lang="en-US" altLang="zh-CN" sz="5400" dirty="0" err="1"/>
              <a:t>F_prop</a:t>
            </a:r>
            <a:endParaRPr lang="zh-CN" altLang="en-US" sz="5400" dirty="0"/>
          </a:p>
        </p:txBody>
      </p:sp>
      <p:sp>
        <p:nvSpPr>
          <p:cNvPr id="75" name="箭头: 左弧形 74">
            <a:extLst>
              <a:ext uri="{FF2B5EF4-FFF2-40B4-BE49-F238E27FC236}">
                <a16:creationId xmlns:a16="http://schemas.microsoft.com/office/drawing/2014/main" id="{EE827C14-28A6-1EC8-A1F6-793FF4AC6606}"/>
              </a:ext>
            </a:extLst>
          </p:cNvPr>
          <p:cNvSpPr/>
          <p:nvPr/>
        </p:nvSpPr>
        <p:spPr>
          <a:xfrm rot="15520055">
            <a:off x="14124282" y="8405838"/>
            <a:ext cx="961365" cy="2085855"/>
          </a:xfrm>
          <a:prstGeom prst="curvedRightArrow">
            <a:avLst>
              <a:gd name="adj1" fmla="val 25000"/>
              <a:gd name="adj2" fmla="val 65246"/>
              <a:gd name="adj3" fmla="val 43815"/>
            </a:avLst>
          </a:prstGeom>
          <a:solidFill>
            <a:srgbClr val="71B8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6" name="箭头: 左弧形 75">
            <a:extLst>
              <a:ext uri="{FF2B5EF4-FFF2-40B4-BE49-F238E27FC236}">
                <a16:creationId xmlns:a16="http://schemas.microsoft.com/office/drawing/2014/main" id="{2A616032-C182-C98B-B85B-4A24AD0B6561}"/>
              </a:ext>
            </a:extLst>
          </p:cNvPr>
          <p:cNvSpPr/>
          <p:nvPr/>
        </p:nvSpPr>
        <p:spPr>
          <a:xfrm rot="7445100" flipV="1">
            <a:off x="14904731" y="4233979"/>
            <a:ext cx="876878" cy="1254597"/>
          </a:xfrm>
          <a:prstGeom prst="curvedRightArrow">
            <a:avLst/>
          </a:prstGeom>
          <a:solidFill>
            <a:srgbClr val="71B8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9" name="任意多边形: 形状 78">
            <a:extLst>
              <a:ext uri="{FF2B5EF4-FFF2-40B4-BE49-F238E27FC236}">
                <a16:creationId xmlns:a16="http://schemas.microsoft.com/office/drawing/2014/main" id="{9C814862-DFE4-0F6E-71A4-3D7BAF2EFFA9}"/>
              </a:ext>
            </a:extLst>
          </p:cNvPr>
          <p:cNvSpPr/>
          <p:nvPr/>
        </p:nvSpPr>
        <p:spPr>
          <a:xfrm>
            <a:off x="10392229" y="4499429"/>
            <a:ext cx="3657600" cy="10740571"/>
          </a:xfrm>
          <a:custGeom>
            <a:avLst/>
            <a:gdLst>
              <a:gd name="csX0" fmla="*/ 0 w 3657600"/>
              <a:gd name="csY0" fmla="*/ 0 h 10740571"/>
              <a:gd name="csX1" fmla="*/ 885371 w 3657600"/>
              <a:gd name="csY1" fmla="*/ 5573485 h 10740571"/>
              <a:gd name="csX2" fmla="*/ 2801257 w 3657600"/>
              <a:gd name="csY2" fmla="*/ 8128000 h 10740571"/>
              <a:gd name="csX3" fmla="*/ 3657600 w 3657600"/>
              <a:gd name="csY3" fmla="*/ 10740571 h 10740571"/>
            </a:gdLst>
            <a:ahLst/>
            <a:cxnLst>
              <a:cxn ang="0">
                <a:pos x="csX0" y="csY0"/>
              </a:cxn>
              <a:cxn ang="0">
                <a:pos x="csX1" y="csY1"/>
              </a:cxn>
              <a:cxn ang="0">
                <a:pos x="csX2" y="csY2"/>
              </a:cxn>
              <a:cxn ang="0">
                <a:pos x="csX3" y="csY3"/>
              </a:cxn>
            </a:cxnLst>
            <a:rect l="l" t="t" r="r" b="b"/>
            <a:pathLst>
              <a:path w="3657600" h="10740571">
                <a:moveTo>
                  <a:pt x="0" y="0"/>
                </a:moveTo>
                <a:cubicBezTo>
                  <a:pt x="209247" y="2109409"/>
                  <a:pt x="418495" y="4218818"/>
                  <a:pt x="885371" y="5573485"/>
                </a:cubicBezTo>
                <a:cubicBezTo>
                  <a:pt x="1352247" y="6928152"/>
                  <a:pt x="2339219" y="7266819"/>
                  <a:pt x="2801257" y="8128000"/>
                </a:cubicBezTo>
                <a:cubicBezTo>
                  <a:pt x="3263295" y="8989181"/>
                  <a:pt x="3460447" y="9864876"/>
                  <a:pt x="3657600" y="10740571"/>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任意多边形: 形状 79">
            <a:extLst>
              <a:ext uri="{FF2B5EF4-FFF2-40B4-BE49-F238E27FC236}">
                <a16:creationId xmlns:a16="http://schemas.microsoft.com/office/drawing/2014/main" id="{DCE55A55-86D8-0001-2CB6-B3939E9552AC}"/>
              </a:ext>
            </a:extLst>
          </p:cNvPr>
          <p:cNvSpPr/>
          <p:nvPr/>
        </p:nvSpPr>
        <p:spPr>
          <a:xfrm>
            <a:off x="11216286" y="2779954"/>
            <a:ext cx="4023714" cy="12227817"/>
          </a:xfrm>
          <a:custGeom>
            <a:avLst/>
            <a:gdLst>
              <a:gd name="csX0" fmla="*/ 75828 w 4023714"/>
              <a:gd name="csY0" fmla="*/ 442217 h 12227817"/>
              <a:gd name="csX1" fmla="*/ 133885 w 4023714"/>
              <a:gd name="csY1" fmla="*/ 587360 h 12227817"/>
              <a:gd name="csX2" fmla="*/ 1309543 w 4023714"/>
              <a:gd name="csY2" fmla="*/ 6175360 h 12227817"/>
              <a:gd name="csX3" fmla="*/ 3210914 w 4023714"/>
              <a:gd name="csY3" fmla="*/ 8555703 h 12227817"/>
              <a:gd name="csX4" fmla="*/ 4023714 w 4023714"/>
              <a:gd name="csY4" fmla="*/ 12227817 h 12227817"/>
            </a:gdLst>
            <a:ahLst/>
            <a:cxnLst>
              <a:cxn ang="0">
                <a:pos x="csX0" y="csY0"/>
              </a:cxn>
              <a:cxn ang="0">
                <a:pos x="csX1" y="csY1"/>
              </a:cxn>
              <a:cxn ang="0">
                <a:pos x="csX2" y="csY2"/>
              </a:cxn>
              <a:cxn ang="0">
                <a:pos x="csX3" y="csY3"/>
              </a:cxn>
              <a:cxn ang="0">
                <a:pos x="csX4" y="csY4"/>
              </a:cxn>
            </a:cxnLst>
            <a:rect l="l" t="t" r="r" b="b"/>
            <a:pathLst>
              <a:path w="4023714" h="12227817">
                <a:moveTo>
                  <a:pt x="75828" y="442217"/>
                </a:moveTo>
                <a:cubicBezTo>
                  <a:pt x="2047" y="37026"/>
                  <a:pt x="-71734" y="-368164"/>
                  <a:pt x="133885" y="587360"/>
                </a:cubicBezTo>
                <a:cubicBezTo>
                  <a:pt x="339504" y="1542884"/>
                  <a:pt x="796705" y="4847303"/>
                  <a:pt x="1309543" y="6175360"/>
                </a:cubicBezTo>
                <a:cubicBezTo>
                  <a:pt x="1822381" y="7503417"/>
                  <a:pt x="2758552" y="7546960"/>
                  <a:pt x="3210914" y="8555703"/>
                </a:cubicBezTo>
                <a:cubicBezTo>
                  <a:pt x="3663276" y="9564446"/>
                  <a:pt x="3843495" y="10896131"/>
                  <a:pt x="4023714" y="12227817"/>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形状 80">
            <a:extLst>
              <a:ext uri="{FF2B5EF4-FFF2-40B4-BE49-F238E27FC236}">
                <a16:creationId xmlns:a16="http://schemas.microsoft.com/office/drawing/2014/main" id="{B1DD36F6-FF86-9C4E-5714-AAFD9B666C30}"/>
              </a:ext>
            </a:extLst>
          </p:cNvPr>
          <p:cNvSpPr/>
          <p:nvPr/>
        </p:nvSpPr>
        <p:spPr>
          <a:xfrm>
            <a:off x="13136307" y="2398210"/>
            <a:ext cx="9085064" cy="9053561"/>
          </a:xfrm>
          <a:custGeom>
            <a:avLst/>
            <a:gdLst>
              <a:gd name="csX0" fmla="*/ 86207 w 9085064"/>
              <a:gd name="csY0" fmla="*/ 11161 h 9053561"/>
              <a:gd name="csX1" fmla="*/ 536150 w 9085064"/>
              <a:gd name="csY1" fmla="*/ 461104 h 9053561"/>
              <a:gd name="csX2" fmla="*/ 4150207 w 9085064"/>
              <a:gd name="csY2" fmla="*/ 3015619 h 9053561"/>
              <a:gd name="csX3" fmla="*/ 6574093 w 9085064"/>
              <a:gd name="csY3" fmla="*/ 7732761 h 9053561"/>
              <a:gd name="csX4" fmla="*/ 9085064 w 9085064"/>
              <a:gd name="csY4" fmla="*/ 9053561 h 9053561"/>
            </a:gdLst>
            <a:ahLst/>
            <a:cxnLst>
              <a:cxn ang="0">
                <a:pos x="csX0" y="csY0"/>
              </a:cxn>
              <a:cxn ang="0">
                <a:pos x="csX1" y="csY1"/>
              </a:cxn>
              <a:cxn ang="0">
                <a:pos x="csX2" y="csY2"/>
              </a:cxn>
              <a:cxn ang="0">
                <a:pos x="csX3" y="csY3"/>
              </a:cxn>
              <a:cxn ang="0">
                <a:pos x="csX4" y="csY4"/>
              </a:cxn>
            </a:cxnLst>
            <a:rect l="l" t="t" r="r" b="b"/>
            <a:pathLst>
              <a:path w="9085064" h="9053561">
                <a:moveTo>
                  <a:pt x="86207" y="11161"/>
                </a:moveTo>
                <a:cubicBezTo>
                  <a:pt x="-27488" y="-14239"/>
                  <a:pt x="-141183" y="-39639"/>
                  <a:pt x="536150" y="461104"/>
                </a:cubicBezTo>
                <a:cubicBezTo>
                  <a:pt x="1213483" y="961847"/>
                  <a:pt x="3143883" y="1803676"/>
                  <a:pt x="4150207" y="3015619"/>
                </a:cubicBezTo>
                <a:cubicBezTo>
                  <a:pt x="5156531" y="4227562"/>
                  <a:pt x="5751617" y="6726437"/>
                  <a:pt x="6574093" y="7732761"/>
                </a:cubicBezTo>
                <a:cubicBezTo>
                  <a:pt x="7396569" y="8739085"/>
                  <a:pt x="8240816" y="8896323"/>
                  <a:pt x="9085064" y="9053561"/>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任意多边形: 形状 81">
            <a:extLst>
              <a:ext uri="{FF2B5EF4-FFF2-40B4-BE49-F238E27FC236}">
                <a16:creationId xmlns:a16="http://schemas.microsoft.com/office/drawing/2014/main" id="{B78C9E63-351E-12CA-608B-3AD053B6DBC0}"/>
              </a:ext>
            </a:extLst>
          </p:cNvPr>
          <p:cNvSpPr/>
          <p:nvPr/>
        </p:nvSpPr>
        <p:spPr>
          <a:xfrm>
            <a:off x="13923121" y="1555555"/>
            <a:ext cx="9444879" cy="8270616"/>
          </a:xfrm>
          <a:custGeom>
            <a:avLst/>
            <a:gdLst>
              <a:gd name="csX0" fmla="*/ 402479 w 9444879"/>
              <a:gd name="csY0" fmla="*/ 229702 h 8270616"/>
              <a:gd name="csX1" fmla="*/ 446022 w 9444879"/>
              <a:gd name="csY1" fmla="*/ 331302 h 8270616"/>
              <a:gd name="csX2" fmla="*/ 4930936 w 9444879"/>
              <a:gd name="csY2" fmla="*/ 3408331 h 8270616"/>
              <a:gd name="csX3" fmla="*/ 7166136 w 9444879"/>
              <a:gd name="csY3" fmla="*/ 7312674 h 8270616"/>
              <a:gd name="csX4" fmla="*/ 9444879 w 9444879"/>
              <a:gd name="csY4" fmla="*/ 8270616 h 8270616"/>
            </a:gdLst>
            <a:ahLst/>
            <a:cxnLst>
              <a:cxn ang="0">
                <a:pos x="csX0" y="csY0"/>
              </a:cxn>
              <a:cxn ang="0">
                <a:pos x="csX1" y="csY1"/>
              </a:cxn>
              <a:cxn ang="0">
                <a:pos x="csX2" y="csY2"/>
              </a:cxn>
              <a:cxn ang="0">
                <a:pos x="csX3" y="csY3"/>
              </a:cxn>
              <a:cxn ang="0">
                <a:pos x="csX4" y="csY4"/>
              </a:cxn>
            </a:cxnLst>
            <a:rect l="l" t="t" r="r" b="b"/>
            <a:pathLst>
              <a:path w="9444879" h="8270616">
                <a:moveTo>
                  <a:pt x="402479" y="229702"/>
                </a:moveTo>
                <a:cubicBezTo>
                  <a:pt x="46879" y="15616"/>
                  <a:pt x="-308721" y="-198469"/>
                  <a:pt x="446022" y="331302"/>
                </a:cubicBezTo>
                <a:cubicBezTo>
                  <a:pt x="1200765" y="861073"/>
                  <a:pt x="3810917" y="2244769"/>
                  <a:pt x="4930936" y="3408331"/>
                </a:cubicBezTo>
                <a:cubicBezTo>
                  <a:pt x="6050955" y="4571893"/>
                  <a:pt x="6413812" y="6502293"/>
                  <a:pt x="7166136" y="7312674"/>
                </a:cubicBezTo>
                <a:cubicBezTo>
                  <a:pt x="7918460" y="8123055"/>
                  <a:pt x="8681669" y="8196835"/>
                  <a:pt x="9444879" y="8270616"/>
                </a:cubicBezTo>
              </a:path>
            </a:pathLst>
          </a:custGeom>
          <a:noFill/>
          <a:ln w="76200">
            <a:solidFill>
              <a:srgbClr val="4965B0"/>
            </a:solidFill>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3" name="对象 82">
            <a:extLst>
              <a:ext uri="{FF2B5EF4-FFF2-40B4-BE49-F238E27FC236}">
                <a16:creationId xmlns:a16="http://schemas.microsoft.com/office/drawing/2014/main" id="{BED8575F-AA66-1F28-5D74-4BAD8AC6FAC9}"/>
              </a:ext>
            </a:extLst>
          </p:cNvPr>
          <p:cNvGraphicFramePr>
            <a:graphicFrameLocks noChangeAspect="1"/>
          </p:cNvGraphicFramePr>
          <p:nvPr>
            <p:extLst>
              <p:ext uri="{D42A27DB-BD31-4B8C-83A1-F6EECF244321}">
                <p14:modId xmlns:p14="http://schemas.microsoft.com/office/powerpoint/2010/main" val="867531280"/>
              </p:ext>
            </p:extLst>
          </p:nvPr>
        </p:nvGraphicFramePr>
        <p:xfrm>
          <a:off x="14446882" y="9432270"/>
          <a:ext cx="1312862" cy="2317783"/>
        </p:xfrm>
        <a:graphic>
          <a:graphicData uri="http://schemas.openxmlformats.org/presentationml/2006/ole">
            <mc:AlternateContent xmlns:mc="http://schemas.openxmlformats.org/markup-compatibility/2006">
              <mc:Choice xmlns:v="urn:schemas-microsoft-com:vml" Requires="v">
                <p:oleObj name="AxMath" r:id="rId2" imgW="128880" imgH="227160" progId="Equation.AxMath">
                  <p:embed/>
                </p:oleObj>
              </mc:Choice>
              <mc:Fallback>
                <p:oleObj name="AxMath" r:id="rId2" imgW="128880" imgH="227160" progId="Equation.AxMath">
                  <p:embed/>
                  <p:pic>
                    <p:nvPicPr>
                      <p:cNvPr id="0" name=""/>
                      <p:cNvPicPr/>
                      <p:nvPr/>
                    </p:nvPicPr>
                    <p:blipFill>
                      <a:blip r:embed="rId3"/>
                      <a:stretch>
                        <a:fillRect/>
                      </a:stretch>
                    </p:blipFill>
                    <p:spPr>
                      <a:xfrm>
                        <a:off x="14446882" y="9432270"/>
                        <a:ext cx="1312862" cy="2317783"/>
                      </a:xfrm>
                      <a:prstGeom prst="rect">
                        <a:avLst/>
                      </a:prstGeom>
                      <a:noFill/>
                      <a:ln>
                        <a:noFill/>
                      </a:ln>
                    </p:spPr>
                  </p:pic>
                </p:oleObj>
              </mc:Fallback>
            </mc:AlternateContent>
          </a:graphicData>
        </a:graphic>
      </p:graphicFrame>
      <p:graphicFrame>
        <p:nvGraphicFramePr>
          <p:cNvPr id="84" name="对象 83">
            <a:extLst>
              <a:ext uri="{FF2B5EF4-FFF2-40B4-BE49-F238E27FC236}">
                <a16:creationId xmlns:a16="http://schemas.microsoft.com/office/drawing/2014/main" id="{33E060D4-3869-67DA-361B-7F1E03C3EB5F}"/>
              </a:ext>
            </a:extLst>
          </p:cNvPr>
          <p:cNvGraphicFramePr>
            <a:graphicFrameLocks noChangeAspect="1"/>
          </p:cNvGraphicFramePr>
          <p:nvPr>
            <p:extLst>
              <p:ext uri="{D42A27DB-BD31-4B8C-83A1-F6EECF244321}">
                <p14:modId xmlns:p14="http://schemas.microsoft.com/office/powerpoint/2010/main" val="3688652401"/>
              </p:ext>
            </p:extLst>
          </p:nvPr>
        </p:nvGraphicFramePr>
        <p:xfrm>
          <a:off x="14873739" y="2736853"/>
          <a:ext cx="1096112" cy="2207657"/>
        </p:xfrm>
        <a:graphic>
          <a:graphicData uri="http://schemas.openxmlformats.org/presentationml/2006/ole">
            <mc:AlternateContent xmlns:mc="http://schemas.openxmlformats.org/markup-compatibility/2006">
              <mc:Choice xmlns:v="urn:schemas-microsoft-com:vml" Requires="v">
                <p:oleObj name="AxMath" r:id="rId4" imgW="111960" imgH="227160" progId="Equation.AxMath">
                  <p:embed/>
                </p:oleObj>
              </mc:Choice>
              <mc:Fallback>
                <p:oleObj name="AxMath" r:id="rId4" imgW="111960" imgH="227160" progId="Equation.AxMath">
                  <p:embed/>
                  <p:pic>
                    <p:nvPicPr>
                      <p:cNvPr id="0" name=""/>
                      <p:cNvPicPr/>
                      <p:nvPr/>
                    </p:nvPicPr>
                    <p:blipFill>
                      <a:blip r:embed="rId5"/>
                      <a:stretch>
                        <a:fillRect/>
                      </a:stretch>
                    </p:blipFill>
                    <p:spPr>
                      <a:xfrm>
                        <a:off x="14873739" y="2736853"/>
                        <a:ext cx="1096112" cy="2207657"/>
                      </a:xfrm>
                      <a:prstGeom prst="rect">
                        <a:avLst/>
                      </a:prstGeom>
                    </p:spPr>
                  </p:pic>
                </p:oleObj>
              </mc:Fallback>
            </mc:AlternateContent>
          </a:graphicData>
        </a:graphic>
      </p:graphicFrame>
    </p:spTree>
    <p:extLst>
      <p:ext uri="{BB962C8B-B14F-4D97-AF65-F5344CB8AC3E}">
        <p14:creationId xmlns:p14="http://schemas.microsoft.com/office/powerpoint/2010/main" val="382730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a:extLst>
              <a:ext uri="{FF2B5EF4-FFF2-40B4-BE49-F238E27FC236}">
                <a16:creationId xmlns:a16="http://schemas.microsoft.com/office/drawing/2014/main" id="{7CE4B9F3-1B72-F22C-C3EB-A373FD852A9B}"/>
              </a:ext>
            </a:extLst>
          </p:cNvPr>
          <p:cNvSpPr/>
          <p:nvPr/>
        </p:nvSpPr>
        <p:spPr>
          <a:xfrm>
            <a:off x="8349799" y="-351433"/>
            <a:ext cx="12516230" cy="12516230"/>
          </a:xfrm>
          <a:prstGeom prst="ellipse">
            <a:avLst/>
          </a:prstGeom>
          <a:solidFill>
            <a:srgbClr val="F57C6E"/>
          </a:solidFill>
          <a:ln w="50800">
            <a:solidFill>
              <a:srgbClr val="C00000"/>
            </a:solidFill>
          </a:ln>
          <a:scene3d>
            <a:camera prst="orthographicFront">
              <a:rot lat="18000000" lon="19200000" rev="2700000"/>
            </a:camera>
            <a:lightRig rig="balanced" dir="t"/>
          </a:scene3d>
          <a:sp3d z="101600">
            <a:bevelT w="6804000" h="68040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平行四边形 9">
            <a:extLst>
              <a:ext uri="{FF2B5EF4-FFF2-40B4-BE49-F238E27FC236}">
                <a16:creationId xmlns:a16="http://schemas.microsoft.com/office/drawing/2014/main" id="{DADF9A4E-5073-4EAA-8B08-C7E3B774E7CB}"/>
              </a:ext>
            </a:extLst>
          </p:cNvPr>
          <p:cNvSpPr/>
          <p:nvPr/>
        </p:nvSpPr>
        <p:spPr>
          <a:xfrm rot="20987227">
            <a:off x="2645740" y="7555686"/>
            <a:ext cx="23017756" cy="4791431"/>
          </a:xfrm>
          <a:prstGeom prst="parallelogram">
            <a:avLst>
              <a:gd name="adj" fmla="val 188111"/>
            </a:avLst>
          </a:prstGeom>
          <a:gradFill flip="none" rotWithShape="1">
            <a:gsLst>
              <a:gs pos="53000">
                <a:srgbClr val="80CBA4">
                  <a:alpha val="56000"/>
                </a:srgbClr>
              </a:gs>
              <a:gs pos="0">
                <a:srgbClr val="80CBA4">
                  <a:alpha val="38000"/>
                </a:srgb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CEEEEF21-58BE-0846-E2F8-56A5469C8A5B}"/>
              </a:ext>
            </a:extLst>
          </p:cNvPr>
          <p:cNvSpPr txBox="1"/>
          <p:nvPr/>
        </p:nvSpPr>
        <p:spPr>
          <a:xfrm>
            <a:off x="7958184" y="4923464"/>
            <a:ext cx="2954655" cy="1200329"/>
          </a:xfrm>
          <a:prstGeom prst="rect">
            <a:avLst/>
          </a:prstGeom>
          <a:noFill/>
        </p:spPr>
        <p:txBody>
          <a:bodyPr wrap="none" rtlCol="0">
            <a:spAutoFit/>
          </a:bodyPr>
          <a:lstStyle/>
          <a:p>
            <a:r>
              <a:rPr lang="en-US" altLang="zh-CN" sz="7200" dirty="0" err="1">
                <a:solidFill>
                  <a:srgbClr val="4965B0"/>
                </a:solidFill>
              </a:rPr>
              <a:t>Serface</a:t>
            </a:r>
            <a:endParaRPr lang="zh-CN" altLang="en-US" sz="7200" dirty="0">
              <a:solidFill>
                <a:srgbClr val="4965B0"/>
              </a:solidFill>
            </a:endParaRPr>
          </a:p>
        </p:txBody>
      </p:sp>
      <p:sp>
        <p:nvSpPr>
          <p:cNvPr id="8" name="文本框 7">
            <a:extLst>
              <a:ext uri="{FF2B5EF4-FFF2-40B4-BE49-F238E27FC236}">
                <a16:creationId xmlns:a16="http://schemas.microsoft.com/office/drawing/2014/main" id="{286B6BE5-2E3F-E09F-80F2-DB59A47C941C}"/>
              </a:ext>
            </a:extLst>
          </p:cNvPr>
          <p:cNvSpPr txBox="1"/>
          <p:nvPr/>
        </p:nvSpPr>
        <p:spPr>
          <a:xfrm>
            <a:off x="18542834" y="2442281"/>
            <a:ext cx="3313728" cy="1200329"/>
          </a:xfrm>
          <a:prstGeom prst="rect">
            <a:avLst/>
          </a:prstGeom>
          <a:noFill/>
        </p:spPr>
        <p:txBody>
          <a:bodyPr wrap="none" rtlCol="0">
            <a:spAutoFit/>
          </a:bodyPr>
          <a:lstStyle/>
          <a:p>
            <a:r>
              <a:rPr lang="en-US" altLang="zh-CN" sz="7200" dirty="0"/>
              <a:t>Heading</a:t>
            </a:r>
            <a:endParaRPr lang="zh-CN" altLang="en-US" sz="7200" dirty="0"/>
          </a:p>
        </p:txBody>
      </p:sp>
      <p:sp>
        <p:nvSpPr>
          <p:cNvPr id="4" name="椭圆 3">
            <a:extLst>
              <a:ext uri="{FF2B5EF4-FFF2-40B4-BE49-F238E27FC236}">
                <a16:creationId xmlns:a16="http://schemas.microsoft.com/office/drawing/2014/main" id="{B4D11386-3976-607F-E8A8-3AFF68FB9438}"/>
              </a:ext>
            </a:extLst>
          </p:cNvPr>
          <p:cNvSpPr/>
          <p:nvPr/>
        </p:nvSpPr>
        <p:spPr>
          <a:xfrm>
            <a:off x="10912839" y="4931765"/>
            <a:ext cx="7390151" cy="2863121"/>
          </a:xfrm>
          <a:prstGeom prst="ellipse">
            <a:avLst/>
          </a:prstGeom>
          <a:solidFill>
            <a:srgbClr val="71B8ED">
              <a:alpha val="77000"/>
            </a:srgbClr>
          </a:solidFill>
          <a:ln w="101600">
            <a:solidFill>
              <a:srgbClr val="4965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a:extLst>
              <a:ext uri="{FF2B5EF4-FFF2-40B4-BE49-F238E27FC236}">
                <a16:creationId xmlns:a16="http://schemas.microsoft.com/office/drawing/2014/main" id="{5EB1F186-6584-E4BA-959D-E9368DA3EBE9}"/>
              </a:ext>
            </a:extLst>
          </p:cNvPr>
          <p:cNvCxnSpPr>
            <a:cxnSpLocks/>
          </p:cNvCxnSpPr>
          <p:nvPr/>
        </p:nvCxnSpPr>
        <p:spPr>
          <a:xfrm flipH="1">
            <a:off x="10178321" y="3642610"/>
            <a:ext cx="7719935" cy="617594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72EF6EB-DE55-8E1B-D0AF-F00CB773BFD4}"/>
              </a:ext>
            </a:extLst>
          </p:cNvPr>
          <p:cNvSpPr txBox="1"/>
          <p:nvPr/>
        </p:nvSpPr>
        <p:spPr>
          <a:xfrm>
            <a:off x="24076081" y="6730584"/>
            <a:ext cx="2852063" cy="1200329"/>
          </a:xfrm>
          <a:prstGeom prst="rect">
            <a:avLst/>
          </a:prstGeom>
          <a:noFill/>
        </p:spPr>
        <p:txBody>
          <a:bodyPr wrap="none" rtlCol="0">
            <a:spAutoFit/>
          </a:bodyPr>
          <a:lstStyle/>
          <a:p>
            <a:r>
              <a:rPr lang="en-US" altLang="zh-CN" sz="7200" dirty="0">
                <a:solidFill>
                  <a:srgbClr val="80CBA4"/>
                </a:solidFill>
              </a:rPr>
              <a:t>Seabed</a:t>
            </a:r>
            <a:endParaRPr lang="zh-CN" altLang="en-US" sz="7200" dirty="0">
              <a:solidFill>
                <a:srgbClr val="80CBA4"/>
              </a:solidFill>
            </a:endParaRPr>
          </a:p>
        </p:txBody>
      </p:sp>
      <p:sp>
        <p:nvSpPr>
          <p:cNvPr id="12" name="椭圆 11">
            <a:extLst>
              <a:ext uri="{FF2B5EF4-FFF2-40B4-BE49-F238E27FC236}">
                <a16:creationId xmlns:a16="http://schemas.microsoft.com/office/drawing/2014/main" id="{B226511C-37A5-6104-B471-750C68C82440}"/>
              </a:ext>
            </a:extLst>
          </p:cNvPr>
          <p:cNvSpPr/>
          <p:nvPr/>
        </p:nvSpPr>
        <p:spPr>
          <a:xfrm rot="21220621">
            <a:off x="11071085" y="8003513"/>
            <a:ext cx="6556450" cy="2743200"/>
          </a:xfrm>
          <a:prstGeom prst="ellipse">
            <a:avLst/>
          </a:prstGeom>
          <a:solidFill>
            <a:srgbClr val="F57C6E">
              <a:alpha val="57000"/>
            </a:srgbClr>
          </a:solidFill>
          <a:ln w="50800">
            <a:gradFill>
              <a:gsLst>
                <a:gs pos="0">
                  <a:srgbClr val="C00000"/>
                </a:gs>
                <a:gs pos="100000">
                  <a:srgbClr val="C00000"/>
                </a:gs>
              </a:gsLst>
              <a:lin ang="5400000" scaled="1"/>
            </a:gra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a:extLst>
              <a:ext uri="{FF2B5EF4-FFF2-40B4-BE49-F238E27FC236}">
                <a16:creationId xmlns:a16="http://schemas.microsoft.com/office/drawing/2014/main" id="{E3AF803A-9984-59A7-8F34-9AA2356EEF7F}"/>
              </a:ext>
            </a:extLst>
          </p:cNvPr>
          <p:cNvCxnSpPr/>
          <p:nvPr/>
        </p:nvCxnSpPr>
        <p:spPr>
          <a:xfrm flipH="1">
            <a:off x="11107711" y="6363325"/>
            <a:ext cx="3500203" cy="3011788"/>
          </a:xfrm>
          <a:prstGeom prst="line">
            <a:avLst/>
          </a:prstGeom>
          <a:ln w="76200">
            <a:solidFill>
              <a:schemeClr val="tx1">
                <a:alpha val="66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FD816DF-58C2-77DF-08E0-9DCC3DD783F1}"/>
              </a:ext>
            </a:extLst>
          </p:cNvPr>
          <p:cNvCxnSpPr>
            <a:cxnSpLocks/>
            <a:endCxn id="12" idx="6"/>
          </p:cNvCxnSpPr>
          <p:nvPr/>
        </p:nvCxnSpPr>
        <p:spPr>
          <a:xfrm>
            <a:off x="14607914" y="6393354"/>
            <a:ext cx="2999679" cy="2620718"/>
          </a:xfrm>
          <a:prstGeom prst="line">
            <a:avLst/>
          </a:prstGeom>
          <a:ln w="76200">
            <a:solidFill>
              <a:schemeClr val="tx1">
                <a:alpha val="7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1F4E1CB-03D2-AB4D-8791-C8789143FB93}"/>
              </a:ext>
            </a:extLst>
          </p:cNvPr>
          <p:cNvCxnSpPr>
            <a:cxnSpLocks/>
          </p:cNvCxnSpPr>
          <p:nvPr/>
        </p:nvCxnSpPr>
        <p:spPr>
          <a:xfrm flipV="1">
            <a:off x="11107711" y="9014072"/>
            <a:ext cx="6578179" cy="361041"/>
          </a:xfrm>
          <a:prstGeom prst="line">
            <a:avLst/>
          </a:prstGeom>
          <a:ln w="76200">
            <a:solidFill>
              <a:schemeClr val="tx1">
                <a:alpha val="62000"/>
              </a:schemeClr>
            </a:solidFill>
            <a:prstDash val="dash"/>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BE759EE9-6D0D-81EE-ACBD-8ACD50FAF03C}"/>
              </a:ext>
            </a:extLst>
          </p:cNvPr>
          <p:cNvSpPr txBox="1"/>
          <p:nvPr/>
        </p:nvSpPr>
        <p:spPr>
          <a:xfrm>
            <a:off x="18152978" y="4263895"/>
            <a:ext cx="5426101" cy="1200329"/>
          </a:xfrm>
          <a:prstGeom prst="rect">
            <a:avLst/>
          </a:prstGeom>
          <a:noFill/>
        </p:spPr>
        <p:txBody>
          <a:bodyPr wrap="none" rtlCol="0">
            <a:spAutoFit/>
          </a:bodyPr>
          <a:lstStyle/>
          <a:p>
            <a:r>
              <a:rPr lang="en-US" altLang="zh-CN" sz="7200" dirty="0"/>
              <a:t>Rescue Vessel</a:t>
            </a:r>
            <a:endParaRPr lang="zh-CN" altLang="en-US" sz="7200" dirty="0"/>
          </a:p>
        </p:txBody>
      </p:sp>
    </p:spTree>
    <p:extLst>
      <p:ext uri="{BB962C8B-B14F-4D97-AF65-F5344CB8AC3E}">
        <p14:creationId xmlns:p14="http://schemas.microsoft.com/office/powerpoint/2010/main" val="4111197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ABF2BA5-5A22-76AF-EB74-2FF8B50C4729}"/>
              </a:ext>
            </a:extLst>
          </p:cNvPr>
          <p:cNvSpPr/>
          <p:nvPr/>
        </p:nvSpPr>
        <p:spPr>
          <a:xfrm>
            <a:off x="1" y="0"/>
            <a:ext cx="19304000" cy="7137221"/>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9C5BD0DC-3C50-3C45-3464-6512E3A660C9}"/>
              </a:ext>
            </a:extLst>
          </p:cNvPr>
          <p:cNvSpPr txBox="1"/>
          <p:nvPr/>
        </p:nvSpPr>
        <p:spPr>
          <a:xfrm>
            <a:off x="356196" y="271726"/>
            <a:ext cx="3903826" cy="646331"/>
          </a:xfrm>
          <a:prstGeom prst="rect">
            <a:avLst/>
          </a:prstGeom>
          <a:noFill/>
        </p:spPr>
        <p:txBody>
          <a:bodyPr wrap="square" rtlCol="0">
            <a:spAutoFit/>
          </a:bodyPr>
          <a:lstStyle/>
          <a:p>
            <a:r>
              <a:rPr lang="en-US" altLang="zh-CN" sz="3600" b="1" dirty="0"/>
              <a:t>Step 1: Assessment</a:t>
            </a:r>
            <a:endParaRPr lang="zh-CN" altLang="en-US" sz="3600" b="1" dirty="0"/>
          </a:p>
        </p:txBody>
      </p:sp>
      <p:sp>
        <p:nvSpPr>
          <p:cNvPr id="4" name="文本框 3">
            <a:extLst>
              <a:ext uri="{FF2B5EF4-FFF2-40B4-BE49-F238E27FC236}">
                <a16:creationId xmlns:a16="http://schemas.microsoft.com/office/drawing/2014/main" id="{C279A58A-4F0D-31AF-FD25-41821B8D13DF}"/>
              </a:ext>
            </a:extLst>
          </p:cNvPr>
          <p:cNvSpPr txBox="1"/>
          <p:nvPr/>
        </p:nvSpPr>
        <p:spPr>
          <a:xfrm>
            <a:off x="356195" y="847249"/>
            <a:ext cx="15574214" cy="646331"/>
          </a:xfrm>
          <a:prstGeom prst="rect">
            <a:avLst/>
          </a:prstGeom>
          <a:noFill/>
        </p:spPr>
        <p:txBody>
          <a:bodyPr wrap="square" rtlCol="0">
            <a:spAutoFit/>
          </a:bodyPr>
          <a:lstStyle/>
          <a:p>
            <a:r>
              <a:rPr lang="en-US" altLang="zh-CN" sz="3600" b="1" dirty="0"/>
              <a:t>(Battery State of Charge Dynamic Differential Equation Model)</a:t>
            </a:r>
            <a:endParaRPr lang="zh-CN" altLang="en-US" sz="3600" b="1" dirty="0"/>
          </a:p>
        </p:txBody>
      </p:sp>
      <p:sp>
        <p:nvSpPr>
          <p:cNvPr id="5" name="矩形: 圆角 4">
            <a:extLst>
              <a:ext uri="{FF2B5EF4-FFF2-40B4-BE49-F238E27FC236}">
                <a16:creationId xmlns:a16="http://schemas.microsoft.com/office/drawing/2014/main" id="{005573EE-A9D5-56B3-07F9-614DDBAEAE91}"/>
              </a:ext>
            </a:extLst>
          </p:cNvPr>
          <p:cNvSpPr/>
          <p:nvPr/>
        </p:nvSpPr>
        <p:spPr>
          <a:xfrm>
            <a:off x="806138" y="1606759"/>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1E6DB279-D30D-837D-1BFD-D1CAAFC89FFB}"/>
              </a:ext>
            </a:extLst>
          </p:cNvPr>
          <p:cNvSpPr/>
          <p:nvPr/>
        </p:nvSpPr>
        <p:spPr>
          <a:xfrm>
            <a:off x="806138" y="3293121"/>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B22F5A42-476D-C655-5B75-D30A4DA2A4FC}"/>
              </a:ext>
            </a:extLst>
          </p:cNvPr>
          <p:cNvSpPr/>
          <p:nvPr/>
        </p:nvSpPr>
        <p:spPr>
          <a:xfrm>
            <a:off x="806138" y="4979483"/>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42093B3D-C710-CD97-B309-138F8351F313}"/>
              </a:ext>
            </a:extLst>
          </p:cNvPr>
          <p:cNvCxnSpPr>
            <a:cxnSpLocks/>
            <a:stCxn id="5" idx="3"/>
            <a:endCxn id="11" idx="1"/>
          </p:cNvCxnSpPr>
          <p:nvPr/>
        </p:nvCxnSpPr>
        <p:spPr>
          <a:xfrm flipV="1">
            <a:off x="4433757" y="2341277"/>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1" name="矩形: 圆角 10">
            <a:extLst>
              <a:ext uri="{FF2B5EF4-FFF2-40B4-BE49-F238E27FC236}">
                <a16:creationId xmlns:a16="http://schemas.microsoft.com/office/drawing/2014/main" id="{0AB5E6BB-ED97-88E5-FE0E-FEE468435453}"/>
              </a:ext>
            </a:extLst>
          </p:cNvPr>
          <p:cNvSpPr/>
          <p:nvPr/>
        </p:nvSpPr>
        <p:spPr>
          <a:xfrm>
            <a:off x="5498773" y="1606758"/>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697A77E4-3712-25D5-184A-06D24D9D7324}"/>
              </a:ext>
            </a:extLst>
          </p:cNvPr>
          <p:cNvSpPr/>
          <p:nvPr/>
        </p:nvSpPr>
        <p:spPr>
          <a:xfrm>
            <a:off x="5498773" y="3293120"/>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93D67BFC-A0D0-4D42-1D0C-083469A16F29}"/>
              </a:ext>
            </a:extLst>
          </p:cNvPr>
          <p:cNvSpPr/>
          <p:nvPr/>
        </p:nvSpPr>
        <p:spPr>
          <a:xfrm>
            <a:off x="5498773" y="4979482"/>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748BBE45-7675-9DD1-9EB7-DA72D3CA4BE5}"/>
              </a:ext>
            </a:extLst>
          </p:cNvPr>
          <p:cNvCxnSpPr>
            <a:cxnSpLocks/>
          </p:cNvCxnSpPr>
          <p:nvPr/>
        </p:nvCxnSpPr>
        <p:spPr>
          <a:xfrm flipV="1">
            <a:off x="4433757" y="402763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16" name="直接箭头连接符 15">
            <a:extLst>
              <a:ext uri="{FF2B5EF4-FFF2-40B4-BE49-F238E27FC236}">
                <a16:creationId xmlns:a16="http://schemas.microsoft.com/office/drawing/2014/main" id="{0DCBB695-FA90-584B-7E0E-213E7EC1BEA9}"/>
              </a:ext>
            </a:extLst>
          </p:cNvPr>
          <p:cNvCxnSpPr>
            <a:cxnSpLocks/>
          </p:cNvCxnSpPr>
          <p:nvPr/>
        </p:nvCxnSpPr>
        <p:spPr>
          <a:xfrm flipV="1">
            <a:off x="4433757" y="571399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8" name="矩形: 圆角 17">
            <a:extLst>
              <a:ext uri="{FF2B5EF4-FFF2-40B4-BE49-F238E27FC236}">
                <a16:creationId xmlns:a16="http://schemas.microsoft.com/office/drawing/2014/main" id="{D9E4872E-257E-FFF0-4297-BF6720637922}"/>
              </a:ext>
            </a:extLst>
          </p:cNvPr>
          <p:cNvSpPr/>
          <p:nvPr/>
        </p:nvSpPr>
        <p:spPr>
          <a:xfrm>
            <a:off x="11027702" y="2341276"/>
            <a:ext cx="3627619" cy="1469037"/>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96ED72FA-E852-6341-663E-3AC0A88FDE56}"/>
              </a:ext>
            </a:extLst>
          </p:cNvPr>
          <p:cNvSpPr/>
          <p:nvPr/>
        </p:nvSpPr>
        <p:spPr>
          <a:xfrm>
            <a:off x="11027702" y="4207453"/>
            <a:ext cx="3627619" cy="1469037"/>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4A4822ED-110F-B4A5-107C-3B768EE87EB8}"/>
              </a:ext>
            </a:extLst>
          </p:cNvPr>
          <p:cNvCxnSpPr>
            <a:cxnSpLocks/>
            <a:stCxn id="11" idx="3"/>
          </p:cNvCxnSpPr>
          <p:nvPr/>
        </p:nvCxnSpPr>
        <p:spPr>
          <a:xfrm>
            <a:off x="9126392" y="2341277"/>
            <a:ext cx="1633215" cy="168636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29" name="直接箭头连接符 28">
            <a:extLst>
              <a:ext uri="{FF2B5EF4-FFF2-40B4-BE49-F238E27FC236}">
                <a16:creationId xmlns:a16="http://schemas.microsoft.com/office/drawing/2014/main" id="{AFDFE36F-CCF9-2CAD-7112-0B7B6065BED5}"/>
              </a:ext>
            </a:extLst>
          </p:cNvPr>
          <p:cNvCxnSpPr>
            <a:cxnSpLocks/>
            <a:stCxn id="12" idx="3"/>
          </p:cNvCxnSpPr>
          <p:nvPr/>
        </p:nvCxnSpPr>
        <p:spPr>
          <a:xfrm>
            <a:off x="9126392" y="4027639"/>
            <a:ext cx="6160244" cy="0"/>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32" name="直接箭头连接符 31">
            <a:extLst>
              <a:ext uri="{FF2B5EF4-FFF2-40B4-BE49-F238E27FC236}">
                <a16:creationId xmlns:a16="http://schemas.microsoft.com/office/drawing/2014/main" id="{81BF4FB5-4A4D-D3AB-69A8-7B2D8D54F6B6}"/>
              </a:ext>
            </a:extLst>
          </p:cNvPr>
          <p:cNvCxnSpPr>
            <a:cxnSpLocks/>
            <a:stCxn id="13" idx="3"/>
          </p:cNvCxnSpPr>
          <p:nvPr/>
        </p:nvCxnSpPr>
        <p:spPr>
          <a:xfrm flipV="1">
            <a:off x="9126392" y="4027636"/>
            <a:ext cx="1633215" cy="1686365"/>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35" name="矩形 34">
            <a:extLst>
              <a:ext uri="{FF2B5EF4-FFF2-40B4-BE49-F238E27FC236}">
                <a16:creationId xmlns:a16="http://schemas.microsoft.com/office/drawing/2014/main" id="{04C7670F-5F62-4D83-379E-660913495473}"/>
              </a:ext>
            </a:extLst>
          </p:cNvPr>
          <p:cNvSpPr/>
          <p:nvPr/>
        </p:nvSpPr>
        <p:spPr>
          <a:xfrm>
            <a:off x="15286636" y="3394289"/>
            <a:ext cx="3781842" cy="1266693"/>
          </a:xfrm>
          <a:prstGeom prst="rect">
            <a:avLst/>
          </a:prstGeom>
          <a:solidFill>
            <a:srgbClr val="FFFF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8C73F039-1783-AA7A-097B-15C7D82ABC95}"/>
              </a:ext>
            </a:extLst>
          </p:cNvPr>
          <p:cNvSpPr/>
          <p:nvPr/>
        </p:nvSpPr>
        <p:spPr>
          <a:xfrm>
            <a:off x="19699793" y="1"/>
            <a:ext cx="9100632" cy="14165705"/>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76871716-1A37-B8A1-7629-2EB43D399BB7}"/>
              </a:ext>
            </a:extLst>
          </p:cNvPr>
          <p:cNvSpPr txBox="1"/>
          <p:nvPr/>
        </p:nvSpPr>
        <p:spPr>
          <a:xfrm>
            <a:off x="19976039" y="781391"/>
            <a:ext cx="3903826" cy="646331"/>
          </a:xfrm>
          <a:prstGeom prst="rect">
            <a:avLst/>
          </a:prstGeom>
          <a:noFill/>
        </p:spPr>
        <p:txBody>
          <a:bodyPr wrap="square" rtlCol="0">
            <a:spAutoFit/>
          </a:bodyPr>
          <a:lstStyle/>
          <a:p>
            <a:r>
              <a:rPr lang="en-US" altLang="zh-CN" sz="3600" b="1" dirty="0"/>
              <a:t>Step 2: Optimize</a:t>
            </a:r>
            <a:endParaRPr lang="zh-CN" altLang="en-US" sz="3600" b="1" dirty="0"/>
          </a:p>
        </p:txBody>
      </p:sp>
      <p:sp>
        <p:nvSpPr>
          <p:cNvPr id="41" name="文本框 40">
            <a:extLst>
              <a:ext uri="{FF2B5EF4-FFF2-40B4-BE49-F238E27FC236}">
                <a16:creationId xmlns:a16="http://schemas.microsoft.com/office/drawing/2014/main" id="{602C6DE8-F4AF-7067-15A2-19F58E78AC47}"/>
              </a:ext>
            </a:extLst>
          </p:cNvPr>
          <p:cNvSpPr txBox="1"/>
          <p:nvPr/>
        </p:nvSpPr>
        <p:spPr>
          <a:xfrm>
            <a:off x="19978270" y="1427722"/>
            <a:ext cx="2557110" cy="646331"/>
          </a:xfrm>
          <a:prstGeom prst="rect">
            <a:avLst/>
          </a:prstGeom>
          <a:noFill/>
        </p:spPr>
        <p:txBody>
          <a:bodyPr wrap="square" rtlCol="0">
            <a:spAutoFit/>
          </a:bodyPr>
          <a:lstStyle/>
          <a:p>
            <a:r>
              <a:rPr lang="en-US" altLang="zh-CN" sz="3600" b="1" dirty="0"/>
              <a:t>(xxx Model)</a:t>
            </a:r>
            <a:endParaRPr lang="zh-CN" altLang="en-US" sz="3600" b="1" dirty="0"/>
          </a:p>
        </p:txBody>
      </p:sp>
      <p:sp>
        <p:nvSpPr>
          <p:cNvPr id="43" name="矩形: 圆角 42">
            <a:extLst>
              <a:ext uri="{FF2B5EF4-FFF2-40B4-BE49-F238E27FC236}">
                <a16:creationId xmlns:a16="http://schemas.microsoft.com/office/drawing/2014/main" id="{15188DE8-4915-2F3D-3459-EE6B2116217D}"/>
              </a:ext>
            </a:extLst>
          </p:cNvPr>
          <p:cNvSpPr/>
          <p:nvPr/>
        </p:nvSpPr>
        <p:spPr>
          <a:xfrm>
            <a:off x="21762388" y="2648245"/>
            <a:ext cx="5093142" cy="1013791"/>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7321FE41-E8CA-4A83-E613-FF5896AB4878}"/>
              </a:ext>
            </a:extLst>
          </p:cNvPr>
          <p:cNvSpPr/>
          <p:nvPr/>
        </p:nvSpPr>
        <p:spPr>
          <a:xfrm>
            <a:off x="21762388" y="3968078"/>
            <a:ext cx="5093142" cy="1013791"/>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圆角 44">
            <a:extLst>
              <a:ext uri="{FF2B5EF4-FFF2-40B4-BE49-F238E27FC236}">
                <a16:creationId xmlns:a16="http://schemas.microsoft.com/office/drawing/2014/main" id="{64F616C0-43F1-DE42-6D3A-5F3D329DCDF8}"/>
              </a:ext>
            </a:extLst>
          </p:cNvPr>
          <p:cNvSpPr/>
          <p:nvPr/>
        </p:nvSpPr>
        <p:spPr>
          <a:xfrm>
            <a:off x="21762388" y="5292031"/>
            <a:ext cx="5093142" cy="1013791"/>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40C3A3CA-AF3C-908A-84ED-C00496DEE84F}"/>
              </a:ext>
            </a:extLst>
          </p:cNvPr>
          <p:cNvSpPr/>
          <p:nvPr/>
        </p:nvSpPr>
        <p:spPr>
          <a:xfrm>
            <a:off x="21218674" y="6674965"/>
            <a:ext cx="6062869" cy="4578019"/>
          </a:xfrm>
          <a:prstGeom prst="roundRect">
            <a:avLst>
              <a:gd name="adj" fmla="val 1372"/>
            </a:avLst>
          </a:prstGeom>
          <a:solidFill>
            <a:srgbClr val="EDF7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下 46">
            <a:extLst>
              <a:ext uri="{FF2B5EF4-FFF2-40B4-BE49-F238E27FC236}">
                <a16:creationId xmlns:a16="http://schemas.microsoft.com/office/drawing/2014/main" id="{79E665F6-E048-47A5-5AF5-9CC818B222F8}"/>
              </a:ext>
            </a:extLst>
          </p:cNvPr>
          <p:cNvSpPr/>
          <p:nvPr/>
        </p:nvSpPr>
        <p:spPr>
          <a:xfrm>
            <a:off x="23673638" y="11252984"/>
            <a:ext cx="1152939" cy="775252"/>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a:extLst>
              <a:ext uri="{FF2B5EF4-FFF2-40B4-BE49-F238E27FC236}">
                <a16:creationId xmlns:a16="http://schemas.microsoft.com/office/drawing/2014/main" id="{3109CB29-1BAE-E0D1-0B0B-8E78B7D1B35E}"/>
              </a:ext>
            </a:extLst>
          </p:cNvPr>
          <p:cNvCxnSpPr>
            <a:cxnSpLocks/>
          </p:cNvCxnSpPr>
          <p:nvPr/>
        </p:nvCxnSpPr>
        <p:spPr>
          <a:xfrm>
            <a:off x="19304001" y="4078276"/>
            <a:ext cx="395792"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cxnSp>
        <p:nvCxnSpPr>
          <p:cNvPr id="55" name="直接箭头连接符 54">
            <a:extLst>
              <a:ext uri="{FF2B5EF4-FFF2-40B4-BE49-F238E27FC236}">
                <a16:creationId xmlns:a16="http://schemas.microsoft.com/office/drawing/2014/main" id="{1D22A068-1527-6D05-CC38-991F12200968}"/>
              </a:ext>
            </a:extLst>
          </p:cNvPr>
          <p:cNvCxnSpPr>
            <a:cxnSpLocks/>
          </p:cNvCxnSpPr>
          <p:nvPr/>
        </p:nvCxnSpPr>
        <p:spPr>
          <a:xfrm flipH="1">
            <a:off x="19304000" y="11477804"/>
            <a:ext cx="39579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sp>
        <p:nvSpPr>
          <p:cNvPr id="56" name="矩形 55">
            <a:extLst>
              <a:ext uri="{FF2B5EF4-FFF2-40B4-BE49-F238E27FC236}">
                <a16:creationId xmlns:a16="http://schemas.microsoft.com/office/drawing/2014/main" id="{77A03AE2-3B7C-2C97-2A87-98D0691BA430}"/>
              </a:ext>
            </a:extLst>
          </p:cNvPr>
          <p:cNvSpPr/>
          <p:nvPr/>
        </p:nvSpPr>
        <p:spPr>
          <a:xfrm>
            <a:off x="13159351" y="7770572"/>
            <a:ext cx="6144649" cy="6395134"/>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a:extLst>
              <a:ext uri="{FF2B5EF4-FFF2-40B4-BE49-F238E27FC236}">
                <a16:creationId xmlns:a16="http://schemas.microsoft.com/office/drawing/2014/main" id="{64965A45-58E4-B847-CB5E-CE2E7ED717AE}"/>
              </a:ext>
            </a:extLst>
          </p:cNvPr>
          <p:cNvSpPr/>
          <p:nvPr/>
        </p:nvSpPr>
        <p:spPr>
          <a:xfrm>
            <a:off x="6618909" y="7770572"/>
            <a:ext cx="6144649" cy="6395134"/>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06D5587E-F9B9-9679-4028-A87FB703D846}"/>
              </a:ext>
            </a:extLst>
          </p:cNvPr>
          <p:cNvSpPr/>
          <p:nvPr/>
        </p:nvSpPr>
        <p:spPr>
          <a:xfrm>
            <a:off x="0" y="7770572"/>
            <a:ext cx="6144649" cy="6395134"/>
          </a:xfrm>
          <a:prstGeom prst="rect">
            <a:avLst/>
          </a:prstGeom>
          <a:solidFill>
            <a:srgbClr val="E5FC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文本框 80">
            <a:extLst>
              <a:ext uri="{FF2B5EF4-FFF2-40B4-BE49-F238E27FC236}">
                <a16:creationId xmlns:a16="http://schemas.microsoft.com/office/drawing/2014/main" id="{7D6B1DA3-973A-933E-0ECC-BF5979C9A395}"/>
              </a:ext>
            </a:extLst>
          </p:cNvPr>
          <p:cNvSpPr txBox="1"/>
          <p:nvPr/>
        </p:nvSpPr>
        <p:spPr>
          <a:xfrm>
            <a:off x="13485298" y="8052175"/>
            <a:ext cx="3903826" cy="646331"/>
          </a:xfrm>
          <a:prstGeom prst="rect">
            <a:avLst/>
          </a:prstGeom>
          <a:noFill/>
        </p:spPr>
        <p:txBody>
          <a:bodyPr wrap="square" rtlCol="0">
            <a:spAutoFit/>
          </a:bodyPr>
          <a:lstStyle/>
          <a:p>
            <a:r>
              <a:rPr lang="en-US" altLang="zh-CN" sz="3600" b="1" dirty="0"/>
              <a:t>Step 3: Protocols</a:t>
            </a:r>
            <a:endParaRPr lang="zh-CN" altLang="en-US" sz="3600" b="1" dirty="0"/>
          </a:p>
        </p:txBody>
      </p:sp>
      <p:sp>
        <p:nvSpPr>
          <p:cNvPr id="82" name="文本框 81">
            <a:extLst>
              <a:ext uri="{FF2B5EF4-FFF2-40B4-BE49-F238E27FC236}">
                <a16:creationId xmlns:a16="http://schemas.microsoft.com/office/drawing/2014/main" id="{83A10356-57F2-2F04-173B-DEDF4E12B19B}"/>
              </a:ext>
            </a:extLst>
          </p:cNvPr>
          <p:cNvSpPr txBox="1"/>
          <p:nvPr/>
        </p:nvSpPr>
        <p:spPr>
          <a:xfrm>
            <a:off x="6855780" y="8052175"/>
            <a:ext cx="5110635" cy="646331"/>
          </a:xfrm>
          <a:prstGeom prst="rect">
            <a:avLst/>
          </a:prstGeom>
          <a:noFill/>
        </p:spPr>
        <p:txBody>
          <a:bodyPr wrap="square" rtlCol="0">
            <a:spAutoFit/>
          </a:bodyPr>
          <a:lstStyle/>
          <a:p>
            <a:r>
              <a:rPr lang="en-US" altLang="zh-CN" sz="3600" b="1" dirty="0"/>
              <a:t>Step 4: Model Extinction</a:t>
            </a:r>
            <a:endParaRPr lang="zh-CN" altLang="en-US" sz="3600" b="1" dirty="0"/>
          </a:p>
        </p:txBody>
      </p:sp>
      <p:sp>
        <p:nvSpPr>
          <p:cNvPr id="83" name="文本框 82">
            <a:extLst>
              <a:ext uri="{FF2B5EF4-FFF2-40B4-BE49-F238E27FC236}">
                <a16:creationId xmlns:a16="http://schemas.microsoft.com/office/drawing/2014/main" id="{77E2E8E4-C7BD-8A9D-13D4-058BFFD63082}"/>
              </a:ext>
            </a:extLst>
          </p:cNvPr>
          <p:cNvSpPr txBox="1"/>
          <p:nvPr/>
        </p:nvSpPr>
        <p:spPr>
          <a:xfrm>
            <a:off x="240602" y="8052175"/>
            <a:ext cx="5581164" cy="646331"/>
          </a:xfrm>
          <a:prstGeom prst="rect">
            <a:avLst/>
          </a:prstGeom>
          <a:noFill/>
        </p:spPr>
        <p:txBody>
          <a:bodyPr wrap="square" rtlCol="0">
            <a:spAutoFit/>
          </a:bodyPr>
          <a:lstStyle/>
          <a:p>
            <a:r>
              <a:rPr lang="en-US" altLang="zh-CN" sz="3600" b="1" dirty="0"/>
              <a:t>Step 5: One-page Letter</a:t>
            </a:r>
            <a:endParaRPr lang="zh-CN" altLang="en-US" sz="3600" b="1" dirty="0"/>
          </a:p>
        </p:txBody>
      </p:sp>
      <p:sp>
        <p:nvSpPr>
          <p:cNvPr id="48" name="矩形: 圆角 47">
            <a:extLst>
              <a:ext uri="{FF2B5EF4-FFF2-40B4-BE49-F238E27FC236}">
                <a16:creationId xmlns:a16="http://schemas.microsoft.com/office/drawing/2014/main" id="{62ABA6DA-22A9-7D77-EDE2-CD9C7B66AE4B}"/>
              </a:ext>
            </a:extLst>
          </p:cNvPr>
          <p:cNvSpPr/>
          <p:nvPr/>
        </p:nvSpPr>
        <p:spPr>
          <a:xfrm>
            <a:off x="3222885" y="9368617"/>
            <a:ext cx="2711253" cy="1500113"/>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Assessment</a:t>
            </a:r>
          </a:p>
          <a:p>
            <a:pPr algn="ctr"/>
            <a:r>
              <a:rPr lang="en-US" altLang="zh-CN" sz="3200" b="1" dirty="0">
                <a:solidFill>
                  <a:schemeClr val="tx1"/>
                </a:solidFill>
              </a:rPr>
              <a:t>Model</a:t>
            </a:r>
          </a:p>
          <a:p>
            <a:pPr algn="ctr"/>
            <a:r>
              <a:rPr lang="en-US" altLang="zh-CN" sz="3200" b="1" dirty="0">
                <a:solidFill>
                  <a:schemeClr val="tx1"/>
                </a:solidFill>
              </a:rPr>
              <a:t>Instruction</a:t>
            </a:r>
            <a:endParaRPr lang="zh-CN" altLang="en-US" sz="3200" b="1" dirty="0">
              <a:solidFill>
                <a:schemeClr val="tx1"/>
              </a:solidFill>
            </a:endParaRPr>
          </a:p>
        </p:txBody>
      </p:sp>
      <p:sp>
        <p:nvSpPr>
          <p:cNvPr id="84" name="矩形: 圆角 83">
            <a:extLst>
              <a:ext uri="{FF2B5EF4-FFF2-40B4-BE49-F238E27FC236}">
                <a16:creationId xmlns:a16="http://schemas.microsoft.com/office/drawing/2014/main" id="{D28C5AEB-C102-5C73-900B-34F2E12D6650}"/>
              </a:ext>
            </a:extLst>
          </p:cNvPr>
          <p:cNvSpPr/>
          <p:nvPr/>
        </p:nvSpPr>
        <p:spPr>
          <a:xfrm>
            <a:off x="3222885" y="11906083"/>
            <a:ext cx="2711253" cy="1500113"/>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Instilling</a:t>
            </a:r>
          </a:p>
          <a:p>
            <a:pPr algn="ctr"/>
            <a:r>
              <a:rPr lang="en-US" altLang="zh-CN" sz="3200" b="1" dirty="0">
                <a:solidFill>
                  <a:schemeClr val="tx1"/>
                </a:solidFill>
              </a:rPr>
              <a:t>Confidence</a:t>
            </a:r>
            <a:endParaRPr lang="zh-CN" altLang="en-US" sz="3200" b="1" dirty="0">
              <a:solidFill>
                <a:schemeClr val="tx1"/>
              </a:solidFill>
            </a:endParaRPr>
          </a:p>
        </p:txBody>
      </p:sp>
      <p:sp>
        <p:nvSpPr>
          <p:cNvPr id="85" name="矩形: 圆角 84">
            <a:extLst>
              <a:ext uri="{FF2B5EF4-FFF2-40B4-BE49-F238E27FC236}">
                <a16:creationId xmlns:a16="http://schemas.microsoft.com/office/drawing/2014/main" id="{D2DC3A47-E5D7-E829-4686-17FFDB220322}"/>
              </a:ext>
            </a:extLst>
          </p:cNvPr>
          <p:cNvSpPr/>
          <p:nvPr/>
        </p:nvSpPr>
        <p:spPr>
          <a:xfrm>
            <a:off x="165813" y="10749174"/>
            <a:ext cx="2490313" cy="1377869"/>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 Letter to</a:t>
            </a:r>
          </a:p>
          <a:p>
            <a:pPr algn="ctr"/>
            <a:r>
              <a:rPr lang="en-US" altLang="zh-CN" sz="3200" b="1" dirty="0">
                <a:solidFill>
                  <a:schemeClr val="tx1"/>
                </a:solidFill>
              </a:rPr>
              <a:t>Post Users</a:t>
            </a:r>
            <a:endParaRPr lang="zh-CN" altLang="en-US" sz="3200" b="1" dirty="0">
              <a:solidFill>
                <a:schemeClr val="tx1"/>
              </a:solidFill>
            </a:endParaRPr>
          </a:p>
        </p:txBody>
      </p:sp>
      <p:sp>
        <p:nvSpPr>
          <p:cNvPr id="86" name="矩形: 圆角 85">
            <a:extLst>
              <a:ext uri="{FF2B5EF4-FFF2-40B4-BE49-F238E27FC236}">
                <a16:creationId xmlns:a16="http://schemas.microsoft.com/office/drawing/2014/main" id="{CAE42D33-D47A-B047-6F10-CDF7F2114220}"/>
              </a:ext>
            </a:extLst>
          </p:cNvPr>
          <p:cNvSpPr/>
          <p:nvPr/>
        </p:nvSpPr>
        <p:spPr>
          <a:xfrm>
            <a:off x="6973608" y="9368618"/>
            <a:ext cx="5528189" cy="150011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Scale Demand Method</a:t>
            </a:r>
            <a:endParaRPr lang="zh-CN" altLang="en-US" sz="3200" b="1" dirty="0">
              <a:solidFill>
                <a:schemeClr val="tx1"/>
              </a:solidFill>
            </a:endParaRPr>
          </a:p>
        </p:txBody>
      </p:sp>
      <p:sp>
        <p:nvSpPr>
          <p:cNvPr id="87" name="矩形: 圆角 86">
            <a:extLst>
              <a:ext uri="{FF2B5EF4-FFF2-40B4-BE49-F238E27FC236}">
                <a16:creationId xmlns:a16="http://schemas.microsoft.com/office/drawing/2014/main" id="{A7F29138-6793-7476-A3C1-A59BAC5C157F}"/>
              </a:ext>
            </a:extLst>
          </p:cNvPr>
          <p:cNvSpPr/>
          <p:nvPr/>
        </p:nvSpPr>
        <p:spPr>
          <a:xfrm>
            <a:off x="9921990" y="1134755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Analyze Different</a:t>
            </a:r>
          </a:p>
          <a:p>
            <a:pPr algn="ctr"/>
            <a:r>
              <a:rPr lang="en-US" altLang="zh-CN" sz="3200" b="1" dirty="0">
                <a:solidFill>
                  <a:schemeClr val="tx1"/>
                </a:solidFill>
              </a:rPr>
              <a:t>Industries</a:t>
            </a:r>
          </a:p>
        </p:txBody>
      </p:sp>
      <p:sp>
        <p:nvSpPr>
          <p:cNvPr id="88" name="矩形: 圆角 87">
            <a:extLst>
              <a:ext uri="{FF2B5EF4-FFF2-40B4-BE49-F238E27FC236}">
                <a16:creationId xmlns:a16="http://schemas.microsoft.com/office/drawing/2014/main" id="{8C3A118C-ABD6-F04F-FCF0-36D51827F550}"/>
              </a:ext>
            </a:extLst>
          </p:cNvPr>
          <p:cNvSpPr/>
          <p:nvPr/>
        </p:nvSpPr>
        <p:spPr>
          <a:xfrm>
            <a:off x="6973607" y="1134755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Analyze Different</a:t>
            </a:r>
          </a:p>
          <a:p>
            <a:pPr algn="ctr"/>
            <a:r>
              <a:rPr lang="en-US" altLang="zh-CN" sz="3200" b="1" dirty="0">
                <a:solidFill>
                  <a:schemeClr val="tx1"/>
                </a:solidFill>
              </a:rPr>
              <a:t>Scales </a:t>
            </a:r>
            <a:endParaRPr lang="zh-CN" altLang="en-US" sz="3200" b="1" dirty="0">
              <a:solidFill>
                <a:schemeClr val="tx1"/>
              </a:solidFill>
            </a:endParaRPr>
          </a:p>
        </p:txBody>
      </p:sp>
      <p:sp>
        <p:nvSpPr>
          <p:cNvPr id="89" name="矩形: 圆角 88">
            <a:extLst>
              <a:ext uri="{FF2B5EF4-FFF2-40B4-BE49-F238E27FC236}">
                <a16:creationId xmlns:a16="http://schemas.microsoft.com/office/drawing/2014/main" id="{9A6CFF1A-E070-B6C6-EB44-0D78438D479B}"/>
              </a:ext>
            </a:extLst>
          </p:cNvPr>
          <p:cNvSpPr/>
          <p:nvPr/>
        </p:nvSpPr>
        <p:spPr>
          <a:xfrm>
            <a:off x="13485298" y="9348594"/>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Scale Demand Method</a:t>
            </a:r>
            <a:endParaRPr lang="zh-CN" altLang="en-US" sz="3200" b="1" dirty="0">
              <a:solidFill>
                <a:schemeClr val="tx1"/>
              </a:solidFill>
            </a:endParaRPr>
          </a:p>
        </p:txBody>
      </p:sp>
      <p:sp>
        <p:nvSpPr>
          <p:cNvPr id="90" name="矩形: 圆角 89">
            <a:extLst>
              <a:ext uri="{FF2B5EF4-FFF2-40B4-BE49-F238E27FC236}">
                <a16:creationId xmlns:a16="http://schemas.microsoft.com/office/drawing/2014/main" id="{0D072B21-807D-6C0C-265C-6661098CC7BF}"/>
              </a:ext>
            </a:extLst>
          </p:cNvPr>
          <p:cNvSpPr/>
          <p:nvPr/>
        </p:nvSpPr>
        <p:spPr>
          <a:xfrm>
            <a:off x="13485298" y="11676672"/>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Scale Demand Method</a:t>
            </a:r>
            <a:endParaRPr lang="zh-CN" altLang="en-US" sz="3200" b="1" dirty="0">
              <a:solidFill>
                <a:schemeClr val="tx1"/>
              </a:solidFill>
            </a:endParaRPr>
          </a:p>
        </p:txBody>
      </p:sp>
      <p:sp>
        <p:nvSpPr>
          <p:cNvPr id="92" name="箭头: 下 91">
            <a:extLst>
              <a:ext uri="{FF2B5EF4-FFF2-40B4-BE49-F238E27FC236}">
                <a16:creationId xmlns:a16="http://schemas.microsoft.com/office/drawing/2014/main" id="{240504DD-CF0C-8B3F-6DDB-DEB08E6F3B5C}"/>
              </a:ext>
            </a:extLst>
          </p:cNvPr>
          <p:cNvSpPr/>
          <p:nvPr/>
        </p:nvSpPr>
        <p:spPr>
          <a:xfrm>
            <a:off x="15930409" y="10848708"/>
            <a:ext cx="545234" cy="780746"/>
          </a:xfrm>
          <a:prstGeom prst="downArrow">
            <a:avLst/>
          </a:prstGeom>
          <a:no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箭头连接符 94">
            <a:extLst>
              <a:ext uri="{FF2B5EF4-FFF2-40B4-BE49-F238E27FC236}">
                <a16:creationId xmlns:a16="http://schemas.microsoft.com/office/drawing/2014/main" id="{91A817F4-DE32-432E-45F4-766349F22209}"/>
              </a:ext>
            </a:extLst>
          </p:cNvPr>
          <p:cNvCxnSpPr>
            <a:cxnSpLocks/>
          </p:cNvCxnSpPr>
          <p:nvPr/>
        </p:nvCxnSpPr>
        <p:spPr>
          <a:xfrm flipH="1">
            <a:off x="12763558" y="10968139"/>
            <a:ext cx="39579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cxnSp>
        <p:nvCxnSpPr>
          <p:cNvPr id="96" name="直接箭头连接符 95">
            <a:extLst>
              <a:ext uri="{FF2B5EF4-FFF2-40B4-BE49-F238E27FC236}">
                <a16:creationId xmlns:a16="http://schemas.microsoft.com/office/drawing/2014/main" id="{F098C02E-5A16-2CD9-9505-678EBFDA2D19}"/>
              </a:ext>
            </a:extLst>
          </p:cNvPr>
          <p:cNvCxnSpPr>
            <a:cxnSpLocks/>
            <a:stCxn id="77" idx="1"/>
          </p:cNvCxnSpPr>
          <p:nvPr/>
        </p:nvCxnSpPr>
        <p:spPr>
          <a:xfrm flipH="1">
            <a:off x="6144649" y="10968139"/>
            <a:ext cx="47426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sp>
        <p:nvSpPr>
          <p:cNvPr id="98" name="矩形: 圆角 97">
            <a:extLst>
              <a:ext uri="{FF2B5EF4-FFF2-40B4-BE49-F238E27FC236}">
                <a16:creationId xmlns:a16="http://schemas.microsoft.com/office/drawing/2014/main" id="{8B540D29-187D-A0A6-FF86-875D4F2A3DEF}"/>
              </a:ext>
            </a:extLst>
          </p:cNvPr>
          <p:cNvSpPr/>
          <p:nvPr/>
        </p:nvSpPr>
        <p:spPr>
          <a:xfrm>
            <a:off x="21621750" y="12081353"/>
            <a:ext cx="5233780" cy="132484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874639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CA507-66A6-4186-63DD-E2BA8B3622B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EA96ACF9-F46A-54DE-73C4-24D9DC9B22CB}"/>
              </a:ext>
            </a:extLst>
          </p:cNvPr>
          <p:cNvSpPr/>
          <p:nvPr/>
        </p:nvSpPr>
        <p:spPr>
          <a:xfrm>
            <a:off x="1" y="0"/>
            <a:ext cx="19304000" cy="7137221"/>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C3C3CD1C-9D8A-E563-4E38-71B4D0F8E214}"/>
              </a:ext>
            </a:extLst>
          </p:cNvPr>
          <p:cNvSpPr txBox="1"/>
          <p:nvPr/>
        </p:nvSpPr>
        <p:spPr>
          <a:xfrm>
            <a:off x="356196" y="271726"/>
            <a:ext cx="5092104" cy="646331"/>
          </a:xfrm>
          <a:prstGeom prst="rect">
            <a:avLst/>
          </a:prstGeom>
          <a:noFill/>
        </p:spPr>
        <p:txBody>
          <a:bodyPr wrap="square" rtlCol="0">
            <a:spAutoFit/>
          </a:bodyPr>
          <a:lstStyle/>
          <a:p>
            <a:r>
              <a:rPr lang="en-US" altLang="zh-CN" sz="3600" b="1" dirty="0"/>
              <a:t>Step 1: Basic Connection</a:t>
            </a:r>
            <a:endParaRPr lang="zh-CN" altLang="en-US" sz="3600" b="1" dirty="0"/>
          </a:p>
        </p:txBody>
      </p:sp>
      <p:sp>
        <p:nvSpPr>
          <p:cNvPr id="4" name="文本框 3">
            <a:extLst>
              <a:ext uri="{FF2B5EF4-FFF2-40B4-BE49-F238E27FC236}">
                <a16:creationId xmlns:a16="http://schemas.microsoft.com/office/drawing/2014/main" id="{8896CF2D-1A9C-9876-23EF-B3E92C0BC3D4}"/>
              </a:ext>
            </a:extLst>
          </p:cNvPr>
          <p:cNvSpPr txBox="1"/>
          <p:nvPr/>
        </p:nvSpPr>
        <p:spPr>
          <a:xfrm>
            <a:off x="356195" y="847249"/>
            <a:ext cx="15574214" cy="646331"/>
          </a:xfrm>
          <a:prstGeom prst="rect">
            <a:avLst/>
          </a:prstGeom>
          <a:noFill/>
        </p:spPr>
        <p:txBody>
          <a:bodyPr wrap="square" rtlCol="0">
            <a:spAutoFit/>
          </a:bodyPr>
          <a:lstStyle/>
          <a:p>
            <a:r>
              <a:rPr lang="en-US" altLang="zh-CN" sz="3600" b="1" dirty="0"/>
              <a:t>(Battery State of Charge Dynamic Differential Equation Model)</a:t>
            </a:r>
            <a:endParaRPr lang="zh-CN" altLang="en-US" sz="3600" b="1" dirty="0"/>
          </a:p>
        </p:txBody>
      </p:sp>
      <p:sp>
        <p:nvSpPr>
          <p:cNvPr id="5" name="矩形: 圆角 4">
            <a:extLst>
              <a:ext uri="{FF2B5EF4-FFF2-40B4-BE49-F238E27FC236}">
                <a16:creationId xmlns:a16="http://schemas.microsoft.com/office/drawing/2014/main" id="{372A0792-200C-AC5A-3F60-782B7A70B49C}"/>
              </a:ext>
            </a:extLst>
          </p:cNvPr>
          <p:cNvSpPr/>
          <p:nvPr/>
        </p:nvSpPr>
        <p:spPr>
          <a:xfrm>
            <a:off x="-15039455" y="17144309"/>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E0B79B97-E374-39E3-AFEC-B1DEF373D91E}"/>
              </a:ext>
            </a:extLst>
          </p:cNvPr>
          <p:cNvSpPr/>
          <p:nvPr/>
        </p:nvSpPr>
        <p:spPr>
          <a:xfrm>
            <a:off x="-15039455" y="18830671"/>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3E19274C-35CA-22CF-9439-52D5FFFDE12D}"/>
              </a:ext>
            </a:extLst>
          </p:cNvPr>
          <p:cNvSpPr/>
          <p:nvPr/>
        </p:nvSpPr>
        <p:spPr>
          <a:xfrm>
            <a:off x="-15039455" y="20517033"/>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A0540E95-B8D1-3636-FF21-1C15ECCCF405}"/>
              </a:ext>
            </a:extLst>
          </p:cNvPr>
          <p:cNvCxnSpPr>
            <a:cxnSpLocks/>
            <a:stCxn id="5" idx="3"/>
            <a:endCxn id="11" idx="1"/>
          </p:cNvCxnSpPr>
          <p:nvPr/>
        </p:nvCxnSpPr>
        <p:spPr>
          <a:xfrm flipV="1">
            <a:off x="-11411836" y="17878827"/>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1" name="矩形: 圆角 10">
            <a:extLst>
              <a:ext uri="{FF2B5EF4-FFF2-40B4-BE49-F238E27FC236}">
                <a16:creationId xmlns:a16="http://schemas.microsoft.com/office/drawing/2014/main" id="{C197B9FB-59C0-FD0B-5F14-5F6D7A4BA4E4}"/>
              </a:ext>
            </a:extLst>
          </p:cNvPr>
          <p:cNvSpPr/>
          <p:nvPr/>
        </p:nvSpPr>
        <p:spPr>
          <a:xfrm>
            <a:off x="-10346820" y="17144308"/>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FD1B3549-7EBB-6009-C2A8-1AB80D7B224E}"/>
              </a:ext>
            </a:extLst>
          </p:cNvPr>
          <p:cNvSpPr/>
          <p:nvPr/>
        </p:nvSpPr>
        <p:spPr>
          <a:xfrm>
            <a:off x="-10346820" y="18830670"/>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2E68E9B3-B4AC-0120-463A-95A558A4F083}"/>
              </a:ext>
            </a:extLst>
          </p:cNvPr>
          <p:cNvSpPr/>
          <p:nvPr/>
        </p:nvSpPr>
        <p:spPr>
          <a:xfrm>
            <a:off x="-10346820" y="20517032"/>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8904E464-A15E-1C9C-D230-1C1BA43AF815}"/>
              </a:ext>
            </a:extLst>
          </p:cNvPr>
          <p:cNvCxnSpPr>
            <a:cxnSpLocks/>
          </p:cNvCxnSpPr>
          <p:nvPr/>
        </p:nvCxnSpPr>
        <p:spPr>
          <a:xfrm flipV="1">
            <a:off x="-11411836" y="1956518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16" name="直接箭头连接符 15">
            <a:extLst>
              <a:ext uri="{FF2B5EF4-FFF2-40B4-BE49-F238E27FC236}">
                <a16:creationId xmlns:a16="http://schemas.microsoft.com/office/drawing/2014/main" id="{5923ED59-FAB7-03BA-EF2A-9941E851F58F}"/>
              </a:ext>
            </a:extLst>
          </p:cNvPr>
          <p:cNvCxnSpPr>
            <a:cxnSpLocks/>
          </p:cNvCxnSpPr>
          <p:nvPr/>
        </p:nvCxnSpPr>
        <p:spPr>
          <a:xfrm flipV="1">
            <a:off x="-11411836" y="2125154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8" name="矩形: 圆角 17">
            <a:extLst>
              <a:ext uri="{FF2B5EF4-FFF2-40B4-BE49-F238E27FC236}">
                <a16:creationId xmlns:a16="http://schemas.microsoft.com/office/drawing/2014/main" id="{45BC6658-13E7-26A3-9D5F-89892FE56181}"/>
              </a:ext>
            </a:extLst>
          </p:cNvPr>
          <p:cNvSpPr/>
          <p:nvPr/>
        </p:nvSpPr>
        <p:spPr>
          <a:xfrm>
            <a:off x="11722072" y="2573381"/>
            <a:ext cx="7271252" cy="2944559"/>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圆角 18">
            <a:extLst>
              <a:ext uri="{FF2B5EF4-FFF2-40B4-BE49-F238E27FC236}">
                <a16:creationId xmlns:a16="http://schemas.microsoft.com/office/drawing/2014/main" id="{06ABA18A-53E5-8AE2-7637-161DB3501D59}"/>
              </a:ext>
            </a:extLst>
          </p:cNvPr>
          <p:cNvSpPr/>
          <p:nvPr/>
        </p:nvSpPr>
        <p:spPr>
          <a:xfrm>
            <a:off x="-4817891" y="19745003"/>
            <a:ext cx="3627619" cy="1469037"/>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9E87844D-8CA4-7686-F16A-36D1C78E05E7}"/>
              </a:ext>
            </a:extLst>
          </p:cNvPr>
          <p:cNvCxnSpPr>
            <a:cxnSpLocks/>
            <a:stCxn id="11" idx="3"/>
          </p:cNvCxnSpPr>
          <p:nvPr/>
        </p:nvCxnSpPr>
        <p:spPr>
          <a:xfrm>
            <a:off x="-6719201" y="17878827"/>
            <a:ext cx="1633215" cy="168636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29" name="直接箭头连接符 28">
            <a:extLst>
              <a:ext uri="{FF2B5EF4-FFF2-40B4-BE49-F238E27FC236}">
                <a16:creationId xmlns:a16="http://schemas.microsoft.com/office/drawing/2014/main" id="{1311979A-8918-5445-4C7E-158A267980F3}"/>
              </a:ext>
            </a:extLst>
          </p:cNvPr>
          <p:cNvCxnSpPr>
            <a:cxnSpLocks/>
            <a:stCxn id="12" idx="3"/>
          </p:cNvCxnSpPr>
          <p:nvPr/>
        </p:nvCxnSpPr>
        <p:spPr>
          <a:xfrm>
            <a:off x="-6719201" y="19565189"/>
            <a:ext cx="6160244" cy="0"/>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32" name="直接箭头连接符 31">
            <a:extLst>
              <a:ext uri="{FF2B5EF4-FFF2-40B4-BE49-F238E27FC236}">
                <a16:creationId xmlns:a16="http://schemas.microsoft.com/office/drawing/2014/main" id="{C9997FA4-2DDB-1744-79F8-3CF11E6828C1}"/>
              </a:ext>
            </a:extLst>
          </p:cNvPr>
          <p:cNvCxnSpPr>
            <a:cxnSpLocks/>
            <a:stCxn id="13" idx="3"/>
          </p:cNvCxnSpPr>
          <p:nvPr/>
        </p:nvCxnSpPr>
        <p:spPr>
          <a:xfrm flipV="1">
            <a:off x="-6719201" y="19565186"/>
            <a:ext cx="1633215" cy="1686365"/>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35" name="矩形 34">
            <a:extLst>
              <a:ext uri="{FF2B5EF4-FFF2-40B4-BE49-F238E27FC236}">
                <a16:creationId xmlns:a16="http://schemas.microsoft.com/office/drawing/2014/main" id="{4EB5D78D-E71D-BCF2-F7DD-740AFF9DDD14}"/>
              </a:ext>
            </a:extLst>
          </p:cNvPr>
          <p:cNvSpPr/>
          <p:nvPr/>
        </p:nvSpPr>
        <p:spPr>
          <a:xfrm>
            <a:off x="-558957" y="18931839"/>
            <a:ext cx="3781842" cy="1266693"/>
          </a:xfrm>
          <a:prstGeom prst="rect">
            <a:avLst/>
          </a:prstGeom>
          <a:solidFill>
            <a:srgbClr val="FFFF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0726514D-F852-060E-A5E3-D58991B98DCC}"/>
              </a:ext>
            </a:extLst>
          </p:cNvPr>
          <p:cNvSpPr/>
          <p:nvPr/>
        </p:nvSpPr>
        <p:spPr>
          <a:xfrm>
            <a:off x="19699793" y="1"/>
            <a:ext cx="9100632" cy="15659094"/>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6E75A2C1-254E-306F-40FF-F2F3C2D9BD4D}"/>
              </a:ext>
            </a:extLst>
          </p:cNvPr>
          <p:cNvSpPr txBox="1"/>
          <p:nvPr/>
        </p:nvSpPr>
        <p:spPr>
          <a:xfrm>
            <a:off x="19976039" y="304117"/>
            <a:ext cx="6542674" cy="646331"/>
          </a:xfrm>
          <a:prstGeom prst="rect">
            <a:avLst/>
          </a:prstGeom>
          <a:noFill/>
        </p:spPr>
        <p:txBody>
          <a:bodyPr wrap="square" rtlCol="0">
            <a:spAutoFit/>
          </a:bodyPr>
          <a:lstStyle/>
          <a:p>
            <a:r>
              <a:rPr lang="en-US" altLang="zh-CN" sz="3600" b="1" dirty="0"/>
              <a:t>Step 2: Expanding the Model</a:t>
            </a:r>
            <a:endParaRPr lang="zh-CN" altLang="en-US" sz="3600" b="1" dirty="0"/>
          </a:p>
        </p:txBody>
      </p:sp>
      <p:sp>
        <p:nvSpPr>
          <p:cNvPr id="41" name="文本框 40">
            <a:extLst>
              <a:ext uri="{FF2B5EF4-FFF2-40B4-BE49-F238E27FC236}">
                <a16:creationId xmlns:a16="http://schemas.microsoft.com/office/drawing/2014/main" id="{9BB33015-2DE2-6DDE-44D7-9EAF2ACB6371}"/>
              </a:ext>
            </a:extLst>
          </p:cNvPr>
          <p:cNvSpPr txBox="1"/>
          <p:nvPr/>
        </p:nvSpPr>
        <p:spPr>
          <a:xfrm>
            <a:off x="19978269" y="950448"/>
            <a:ext cx="7757627" cy="646331"/>
          </a:xfrm>
          <a:prstGeom prst="rect">
            <a:avLst/>
          </a:prstGeom>
          <a:noFill/>
        </p:spPr>
        <p:txBody>
          <a:bodyPr wrap="square" rtlCol="0">
            <a:spAutoFit/>
          </a:bodyPr>
          <a:lstStyle/>
          <a:p>
            <a:r>
              <a:rPr lang="en-US" altLang="zh-CN" sz="3600" b="1" dirty="0"/>
              <a:t>(Battery Power Drain Dynamic Model)</a:t>
            </a:r>
            <a:endParaRPr lang="zh-CN" altLang="en-US" sz="3600" b="1" dirty="0"/>
          </a:p>
        </p:txBody>
      </p:sp>
      <p:sp>
        <p:nvSpPr>
          <p:cNvPr id="47" name="箭头: 下 46">
            <a:extLst>
              <a:ext uri="{FF2B5EF4-FFF2-40B4-BE49-F238E27FC236}">
                <a16:creationId xmlns:a16="http://schemas.microsoft.com/office/drawing/2014/main" id="{CBE6E315-752D-4B13-6310-D8871302B83D}"/>
              </a:ext>
            </a:extLst>
          </p:cNvPr>
          <p:cNvSpPr/>
          <p:nvPr/>
        </p:nvSpPr>
        <p:spPr>
          <a:xfrm>
            <a:off x="23952390" y="10813947"/>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a:extLst>
              <a:ext uri="{FF2B5EF4-FFF2-40B4-BE49-F238E27FC236}">
                <a16:creationId xmlns:a16="http://schemas.microsoft.com/office/drawing/2014/main" id="{B809F600-E32B-8293-AD7B-AD4D498A7E45}"/>
              </a:ext>
            </a:extLst>
          </p:cNvPr>
          <p:cNvCxnSpPr>
            <a:cxnSpLocks/>
          </p:cNvCxnSpPr>
          <p:nvPr/>
        </p:nvCxnSpPr>
        <p:spPr>
          <a:xfrm>
            <a:off x="19304001" y="4078276"/>
            <a:ext cx="395792"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cxnSp>
        <p:nvCxnSpPr>
          <p:cNvPr id="55" name="直接箭头连接符 54">
            <a:extLst>
              <a:ext uri="{FF2B5EF4-FFF2-40B4-BE49-F238E27FC236}">
                <a16:creationId xmlns:a16="http://schemas.microsoft.com/office/drawing/2014/main" id="{A9A3EAB0-66E1-92FC-034A-B53C37E90C25}"/>
              </a:ext>
            </a:extLst>
          </p:cNvPr>
          <p:cNvCxnSpPr>
            <a:cxnSpLocks/>
          </p:cNvCxnSpPr>
          <p:nvPr/>
        </p:nvCxnSpPr>
        <p:spPr>
          <a:xfrm flipH="1">
            <a:off x="19304003" y="11717684"/>
            <a:ext cx="39579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sp>
        <p:nvSpPr>
          <p:cNvPr id="56" name="矩形 55">
            <a:extLst>
              <a:ext uri="{FF2B5EF4-FFF2-40B4-BE49-F238E27FC236}">
                <a16:creationId xmlns:a16="http://schemas.microsoft.com/office/drawing/2014/main" id="{05E85848-743F-C402-B48A-36969A32BE9A}"/>
              </a:ext>
            </a:extLst>
          </p:cNvPr>
          <p:cNvSpPr/>
          <p:nvPr/>
        </p:nvSpPr>
        <p:spPr>
          <a:xfrm>
            <a:off x="13159351" y="7770571"/>
            <a:ext cx="6144649" cy="7888527"/>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矩形 76">
            <a:extLst>
              <a:ext uri="{FF2B5EF4-FFF2-40B4-BE49-F238E27FC236}">
                <a16:creationId xmlns:a16="http://schemas.microsoft.com/office/drawing/2014/main" id="{17AC3DDE-B57D-5984-9D02-EB6517A981A3}"/>
              </a:ext>
            </a:extLst>
          </p:cNvPr>
          <p:cNvSpPr/>
          <p:nvPr/>
        </p:nvSpPr>
        <p:spPr>
          <a:xfrm>
            <a:off x="6816805" y="7770571"/>
            <a:ext cx="6144649" cy="7888521"/>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34B40D5A-8C96-D777-98D0-8AB443914389}"/>
              </a:ext>
            </a:extLst>
          </p:cNvPr>
          <p:cNvSpPr/>
          <p:nvPr/>
        </p:nvSpPr>
        <p:spPr>
          <a:xfrm>
            <a:off x="0" y="7770572"/>
            <a:ext cx="6592554" cy="7888520"/>
          </a:xfrm>
          <a:prstGeom prst="rect">
            <a:avLst/>
          </a:prstGeom>
          <a:solidFill>
            <a:srgbClr val="E5FC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文本框 80">
            <a:extLst>
              <a:ext uri="{FF2B5EF4-FFF2-40B4-BE49-F238E27FC236}">
                <a16:creationId xmlns:a16="http://schemas.microsoft.com/office/drawing/2014/main" id="{A5C2B5CC-1BA9-0B12-826A-4B822CF3376E}"/>
              </a:ext>
            </a:extLst>
          </p:cNvPr>
          <p:cNvSpPr txBox="1"/>
          <p:nvPr/>
        </p:nvSpPr>
        <p:spPr>
          <a:xfrm>
            <a:off x="13485298" y="8052175"/>
            <a:ext cx="5608192" cy="1200329"/>
          </a:xfrm>
          <a:prstGeom prst="rect">
            <a:avLst/>
          </a:prstGeom>
          <a:noFill/>
        </p:spPr>
        <p:txBody>
          <a:bodyPr wrap="square" rtlCol="0">
            <a:spAutoFit/>
          </a:bodyPr>
          <a:lstStyle/>
          <a:p>
            <a:r>
              <a:rPr lang="en-US" altLang="zh-CN" sz="3600" b="1" dirty="0"/>
              <a:t>Step 3: Model Prediction 				 &amp; Result Analysis</a:t>
            </a:r>
            <a:endParaRPr lang="zh-CN" altLang="en-US" sz="3600" b="1" dirty="0"/>
          </a:p>
        </p:txBody>
      </p:sp>
      <p:sp>
        <p:nvSpPr>
          <p:cNvPr id="82" name="文本框 81">
            <a:extLst>
              <a:ext uri="{FF2B5EF4-FFF2-40B4-BE49-F238E27FC236}">
                <a16:creationId xmlns:a16="http://schemas.microsoft.com/office/drawing/2014/main" id="{B7853DDE-93D3-7C2A-5113-D002DC02B874}"/>
              </a:ext>
            </a:extLst>
          </p:cNvPr>
          <p:cNvSpPr txBox="1"/>
          <p:nvPr/>
        </p:nvSpPr>
        <p:spPr>
          <a:xfrm>
            <a:off x="6855780" y="8052175"/>
            <a:ext cx="5777463" cy="1754326"/>
          </a:xfrm>
          <a:prstGeom prst="rect">
            <a:avLst/>
          </a:prstGeom>
          <a:noFill/>
        </p:spPr>
        <p:txBody>
          <a:bodyPr wrap="square" rtlCol="0">
            <a:spAutoFit/>
          </a:bodyPr>
          <a:lstStyle/>
          <a:p>
            <a:r>
              <a:rPr lang="en-US" altLang="zh-CN" sz="3600" b="1" dirty="0"/>
              <a:t>Step 4: Sensitivity Analysis 				 &amp;Model Stability Test</a:t>
            </a:r>
            <a:endParaRPr lang="zh-CN" altLang="en-US" sz="3600" b="1" dirty="0"/>
          </a:p>
        </p:txBody>
      </p:sp>
      <p:sp>
        <p:nvSpPr>
          <p:cNvPr id="83" name="文本框 82">
            <a:extLst>
              <a:ext uri="{FF2B5EF4-FFF2-40B4-BE49-F238E27FC236}">
                <a16:creationId xmlns:a16="http://schemas.microsoft.com/office/drawing/2014/main" id="{8D4BD62E-B22A-48AA-FA59-1D48CC900F26}"/>
              </a:ext>
            </a:extLst>
          </p:cNvPr>
          <p:cNvSpPr txBox="1"/>
          <p:nvPr/>
        </p:nvSpPr>
        <p:spPr>
          <a:xfrm>
            <a:off x="106570" y="8052175"/>
            <a:ext cx="6471245" cy="1200329"/>
          </a:xfrm>
          <a:prstGeom prst="rect">
            <a:avLst/>
          </a:prstGeom>
          <a:noFill/>
        </p:spPr>
        <p:txBody>
          <a:bodyPr wrap="square" rtlCol="0">
            <a:spAutoFit/>
          </a:bodyPr>
          <a:lstStyle/>
          <a:p>
            <a:r>
              <a:rPr lang="en-US" altLang="zh-CN" sz="3600" b="1" dirty="0"/>
              <a:t>Step 5: User Recommendations 			 &amp; Model Generalization</a:t>
            </a:r>
            <a:endParaRPr lang="zh-CN" altLang="en-US" sz="3600" b="1" dirty="0"/>
          </a:p>
        </p:txBody>
      </p:sp>
      <p:sp>
        <p:nvSpPr>
          <p:cNvPr id="48" name="矩形: 圆角 47">
            <a:extLst>
              <a:ext uri="{FF2B5EF4-FFF2-40B4-BE49-F238E27FC236}">
                <a16:creationId xmlns:a16="http://schemas.microsoft.com/office/drawing/2014/main" id="{3053A694-C430-A035-BCA0-871D6F614C21}"/>
              </a:ext>
            </a:extLst>
          </p:cNvPr>
          <p:cNvSpPr/>
          <p:nvPr/>
        </p:nvSpPr>
        <p:spPr>
          <a:xfrm>
            <a:off x="797556" y="11075145"/>
            <a:ext cx="5397481"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Extend Battery Life</a:t>
            </a:r>
            <a:endParaRPr lang="zh-CN" altLang="en-US" sz="3200" b="1" dirty="0">
              <a:solidFill>
                <a:schemeClr val="tx1"/>
              </a:solidFill>
            </a:endParaRPr>
          </a:p>
        </p:txBody>
      </p:sp>
      <p:sp>
        <p:nvSpPr>
          <p:cNvPr id="84" name="矩形: 圆角 83">
            <a:extLst>
              <a:ext uri="{FF2B5EF4-FFF2-40B4-BE49-F238E27FC236}">
                <a16:creationId xmlns:a16="http://schemas.microsoft.com/office/drawing/2014/main" id="{6CA3B894-EEF8-FF3E-F30D-CE57D8D525C9}"/>
              </a:ext>
            </a:extLst>
          </p:cNvPr>
          <p:cNvSpPr/>
          <p:nvPr/>
        </p:nvSpPr>
        <p:spPr>
          <a:xfrm>
            <a:off x="797556" y="9730701"/>
            <a:ext cx="5397481"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Reduce Energy Consumption</a:t>
            </a:r>
            <a:endParaRPr lang="zh-CN" altLang="en-US" sz="3200" b="1" dirty="0">
              <a:solidFill>
                <a:schemeClr val="tx1"/>
              </a:solidFill>
            </a:endParaRPr>
          </a:p>
        </p:txBody>
      </p:sp>
      <p:sp>
        <p:nvSpPr>
          <p:cNvPr id="85" name="矩形: 圆角 84">
            <a:extLst>
              <a:ext uri="{FF2B5EF4-FFF2-40B4-BE49-F238E27FC236}">
                <a16:creationId xmlns:a16="http://schemas.microsoft.com/office/drawing/2014/main" id="{472D6E1D-D5C4-702D-9FD3-7EBEB56EA38C}"/>
              </a:ext>
            </a:extLst>
          </p:cNvPr>
          <p:cNvSpPr/>
          <p:nvPr/>
        </p:nvSpPr>
        <p:spPr>
          <a:xfrm>
            <a:off x="797556" y="12419589"/>
            <a:ext cx="5399205"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Delay battery aging</a:t>
            </a:r>
            <a:endParaRPr lang="zh-CN" altLang="en-US" sz="3200" b="1" dirty="0">
              <a:solidFill>
                <a:schemeClr val="tx1"/>
              </a:solidFill>
            </a:endParaRPr>
          </a:p>
        </p:txBody>
      </p:sp>
      <p:sp>
        <p:nvSpPr>
          <p:cNvPr id="86" name="矩形: 圆角 85">
            <a:extLst>
              <a:ext uri="{FF2B5EF4-FFF2-40B4-BE49-F238E27FC236}">
                <a16:creationId xmlns:a16="http://schemas.microsoft.com/office/drawing/2014/main" id="{0A867A2F-23A8-EA59-29F0-936A26D72CE2}"/>
              </a:ext>
            </a:extLst>
          </p:cNvPr>
          <p:cNvSpPr/>
          <p:nvPr/>
        </p:nvSpPr>
        <p:spPr>
          <a:xfrm>
            <a:off x="6973608" y="9368618"/>
            <a:ext cx="5528189" cy="150011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Adjust Parameters, </a:t>
            </a:r>
          </a:p>
          <a:p>
            <a:pPr algn="ctr"/>
            <a:r>
              <a:rPr lang="en-US" altLang="zh-CN" sz="3200" b="1" dirty="0">
                <a:solidFill>
                  <a:schemeClr val="tx1"/>
                </a:solidFill>
              </a:rPr>
              <a:t>Modes &amp; Assumptions</a:t>
            </a:r>
            <a:endParaRPr lang="zh-CN" altLang="en-US" sz="3200" b="1" dirty="0">
              <a:solidFill>
                <a:schemeClr val="tx1"/>
              </a:solidFill>
            </a:endParaRPr>
          </a:p>
        </p:txBody>
      </p:sp>
      <p:sp>
        <p:nvSpPr>
          <p:cNvPr id="87" name="矩形: 圆角 86">
            <a:extLst>
              <a:ext uri="{FF2B5EF4-FFF2-40B4-BE49-F238E27FC236}">
                <a16:creationId xmlns:a16="http://schemas.microsoft.com/office/drawing/2014/main" id="{947EB3BE-2FFB-E7E9-FE38-FD9C896F5D83}"/>
              </a:ext>
            </a:extLst>
          </p:cNvPr>
          <p:cNvSpPr/>
          <p:nvPr/>
        </p:nvSpPr>
        <p:spPr>
          <a:xfrm>
            <a:off x="9921990" y="1204389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Reliability</a:t>
            </a:r>
          </a:p>
        </p:txBody>
      </p:sp>
      <p:sp>
        <p:nvSpPr>
          <p:cNvPr id="88" name="矩形: 圆角 87">
            <a:extLst>
              <a:ext uri="{FF2B5EF4-FFF2-40B4-BE49-F238E27FC236}">
                <a16:creationId xmlns:a16="http://schemas.microsoft.com/office/drawing/2014/main" id="{C26AB49C-B0D2-C821-8C01-90D0A3DC2052}"/>
              </a:ext>
            </a:extLst>
          </p:cNvPr>
          <p:cNvSpPr/>
          <p:nvPr/>
        </p:nvSpPr>
        <p:spPr>
          <a:xfrm>
            <a:off x="6973607" y="1204389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Robustness</a:t>
            </a:r>
            <a:endParaRPr lang="zh-CN" altLang="en-US" sz="3200" b="1" dirty="0">
              <a:solidFill>
                <a:schemeClr val="tx1"/>
              </a:solidFill>
            </a:endParaRPr>
          </a:p>
        </p:txBody>
      </p:sp>
      <p:sp>
        <p:nvSpPr>
          <p:cNvPr id="89" name="矩形: 圆角 88">
            <a:extLst>
              <a:ext uri="{FF2B5EF4-FFF2-40B4-BE49-F238E27FC236}">
                <a16:creationId xmlns:a16="http://schemas.microsoft.com/office/drawing/2014/main" id="{FFA5C5E2-CC04-CE1F-FC60-A91C00C458F2}"/>
              </a:ext>
            </a:extLst>
          </p:cNvPr>
          <p:cNvSpPr/>
          <p:nvPr/>
        </p:nvSpPr>
        <p:spPr>
          <a:xfrm>
            <a:off x="13485298" y="9348594"/>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Predict the Remaining SOC</a:t>
            </a:r>
            <a:endParaRPr lang="zh-CN" altLang="en-US" sz="3200" b="1" dirty="0">
              <a:solidFill>
                <a:schemeClr val="tx1"/>
              </a:solidFill>
            </a:endParaRPr>
          </a:p>
        </p:txBody>
      </p:sp>
      <p:sp>
        <p:nvSpPr>
          <p:cNvPr id="90" name="矩形: 圆角 89">
            <a:extLst>
              <a:ext uri="{FF2B5EF4-FFF2-40B4-BE49-F238E27FC236}">
                <a16:creationId xmlns:a16="http://schemas.microsoft.com/office/drawing/2014/main" id="{174C1818-66CD-8CCB-ABC2-62786ED9E187}"/>
              </a:ext>
            </a:extLst>
          </p:cNvPr>
          <p:cNvSpPr/>
          <p:nvPr/>
        </p:nvSpPr>
        <p:spPr>
          <a:xfrm>
            <a:off x="13553420" y="11714831"/>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Analyze the Differences</a:t>
            </a:r>
            <a:endParaRPr lang="zh-CN" altLang="en-US" sz="3200" b="1" dirty="0">
              <a:solidFill>
                <a:schemeClr val="tx1"/>
              </a:solidFill>
            </a:endParaRPr>
          </a:p>
        </p:txBody>
      </p:sp>
      <p:sp>
        <p:nvSpPr>
          <p:cNvPr id="92" name="箭头: 下 91">
            <a:extLst>
              <a:ext uri="{FF2B5EF4-FFF2-40B4-BE49-F238E27FC236}">
                <a16:creationId xmlns:a16="http://schemas.microsoft.com/office/drawing/2014/main" id="{DCA75D96-C99C-DF20-39BD-E7D7D127F8F8}"/>
              </a:ext>
            </a:extLst>
          </p:cNvPr>
          <p:cNvSpPr/>
          <p:nvPr/>
        </p:nvSpPr>
        <p:spPr>
          <a:xfrm>
            <a:off x="15930409" y="10848708"/>
            <a:ext cx="545234" cy="828942"/>
          </a:xfrm>
          <a:prstGeom prst="downArrow">
            <a:avLst/>
          </a:prstGeom>
          <a:no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箭头连接符 94">
            <a:extLst>
              <a:ext uri="{FF2B5EF4-FFF2-40B4-BE49-F238E27FC236}">
                <a16:creationId xmlns:a16="http://schemas.microsoft.com/office/drawing/2014/main" id="{EE0D310C-146E-B76E-C0D1-E42D3695A890}"/>
              </a:ext>
            </a:extLst>
          </p:cNvPr>
          <p:cNvCxnSpPr>
            <a:cxnSpLocks/>
            <a:stCxn id="56" idx="1"/>
            <a:endCxn id="77" idx="3"/>
          </p:cNvCxnSpPr>
          <p:nvPr/>
        </p:nvCxnSpPr>
        <p:spPr>
          <a:xfrm flipH="1" flipV="1">
            <a:off x="12961454" y="11714832"/>
            <a:ext cx="197897" cy="3"/>
          </a:xfrm>
          <a:prstGeom prst="straightConnector1">
            <a:avLst/>
          </a:prstGeom>
          <a:ln w="50800">
            <a:tailEnd type="triangle" w="med" len="sm"/>
          </a:ln>
        </p:spPr>
        <p:style>
          <a:lnRef idx="3">
            <a:schemeClr val="dk1"/>
          </a:lnRef>
          <a:fillRef idx="0">
            <a:schemeClr val="dk1"/>
          </a:fillRef>
          <a:effectRef idx="2">
            <a:schemeClr val="dk1"/>
          </a:effectRef>
          <a:fontRef idx="minor">
            <a:schemeClr val="tx1"/>
          </a:fontRef>
        </p:style>
      </p:cxnSp>
      <p:cxnSp>
        <p:nvCxnSpPr>
          <p:cNvPr id="96" name="直接箭头连接符 95">
            <a:extLst>
              <a:ext uri="{FF2B5EF4-FFF2-40B4-BE49-F238E27FC236}">
                <a16:creationId xmlns:a16="http://schemas.microsoft.com/office/drawing/2014/main" id="{C53EFCF5-12D0-26CE-CDDD-F4A929D2577A}"/>
              </a:ext>
            </a:extLst>
          </p:cNvPr>
          <p:cNvCxnSpPr>
            <a:cxnSpLocks/>
            <a:stCxn id="77" idx="1"/>
            <a:endCxn id="78" idx="3"/>
          </p:cNvCxnSpPr>
          <p:nvPr/>
        </p:nvCxnSpPr>
        <p:spPr>
          <a:xfrm flipH="1">
            <a:off x="6592554" y="11714832"/>
            <a:ext cx="224251" cy="0"/>
          </a:xfrm>
          <a:prstGeom prst="straightConnector1">
            <a:avLst/>
          </a:prstGeom>
          <a:ln w="50800">
            <a:tailEnd type="triangle" w="med" len="sm"/>
          </a:ln>
        </p:spPr>
        <p:style>
          <a:lnRef idx="3">
            <a:schemeClr val="dk1"/>
          </a:lnRef>
          <a:fillRef idx="0">
            <a:schemeClr val="dk1"/>
          </a:fillRef>
          <a:effectRef idx="2">
            <a:schemeClr val="dk1"/>
          </a:effectRef>
          <a:fontRef idx="minor">
            <a:schemeClr val="tx1"/>
          </a:fontRef>
        </p:style>
      </p:cxnSp>
      <p:sp>
        <p:nvSpPr>
          <p:cNvPr id="98" name="矩形: 圆角 97">
            <a:extLst>
              <a:ext uri="{FF2B5EF4-FFF2-40B4-BE49-F238E27FC236}">
                <a16:creationId xmlns:a16="http://schemas.microsoft.com/office/drawing/2014/main" id="{CC841944-09CC-3D82-73CC-3422F50E08C9}"/>
              </a:ext>
            </a:extLst>
          </p:cNvPr>
          <p:cNvSpPr/>
          <p:nvPr/>
        </p:nvSpPr>
        <p:spPr>
          <a:xfrm>
            <a:off x="19976039" y="12081353"/>
            <a:ext cx="8601992" cy="132484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14" name="对象 13">
            <a:extLst>
              <a:ext uri="{FF2B5EF4-FFF2-40B4-BE49-F238E27FC236}">
                <a16:creationId xmlns:a16="http://schemas.microsoft.com/office/drawing/2014/main" id="{C2BC2364-D030-D447-4287-2406BFD61FDD}"/>
              </a:ext>
            </a:extLst>
          </p:cNvPr>
          <p:cNvGraphicFramePr>
            <a:graphicFrameLocks noChangeAspect="1"/>
          </p:cNvGraphicFramePr>
          <p:nvPr>
            <p:extLst>
              <p:ext uri="{D42A27DB-BD31-4B8C-83A1-F6EECF244321}">
                <p14:modId xmlns:p14="http://schemas.microsoft.com/office/powerpoint/2010/main" val="1086672907"/>
              </p:ext>
            </p:extLst>
          </p:nvPr>
        </p:nvGraphicFramePr>
        <p:xfrm>
          <a:off x="12087476" y="3257473"/>
          <a:ext cx="6540443" cy="1817527"/>
        </p:xfrm>
        <a:graphic>
          <a:graphicData uri="http://schemas.openxmlformats.org/presentationml/2006/ole">
            <mc:AlternateContent xmlns:mc="http://schemas.openxmlformats.org/markup-compatibility/2006">
              <mc:Choice xmlns:v="urn:schemas-microsoft-com:vml" Requires="v">
                <p:oleObj name="AxMath" r:id="rId3" imgW="1566000" imgH="434880" progId="Equation.AxMath">
                  <p:embed/>
                </p:oleObj>
              </mc:Choice>
              <mc:Fallback>
                <p:oleObj name="AxMath" r:id="rId3" imgW="1566000" imgH="434880" progId="Equation.AxMath">
                  <p:embed/>
                  <p:pic>
                    <p:nvPicPr>
                      <p:cNvPr id="0" name=""/>
                      <p:cNvPicPr/>
                      <p:nvPr/>
                    </p:nvPicPr>
                    <p:blipFill>
                      <a:blip r:embed="rId4"/>
                      <a:stretch>
                        <a:fillRect/>
                      </a:stretch>
                    </p:blipFill>
                    <p:spPr>
                      <a:xfrm>
                        <a:off x="12087476" y="3257473"/>
                        <a:ext cx="6540443" cy="1817527"/>
                      </a:xfrm>
                      <a:prstGeom prst="rect">
                        <a:avLst/>
                      </a:prstGeom>
                    </p:spPr>
                  </p:pic>
                </p:oleObj>
              </mc:Fallback>
            </mc:AlternateContent>
          </a:graphicData>
        </a:graphic>
      </p:graphicFrame>
      <p:sp>
        <p:nvSpPr>
          <p:cNvPr id="17" name="矩形: 圆角 16">
            <a:extLst>
              <a:ext uri="{FF2B5EF4-FFF2-40B4-BE49-F238E27FC236}">
                <a16:creationId xmlns:a16="http://schemas.microsoft.com/office/drawing/2014/main" id="{7D0150B8-FAF7-9F30-8B39-F1D54D229512}"/>
              </a:ext>
            </a:extLst>
          </p:cNvPr>
          <p:cNvSpPr/>
          <p:nvPr/>
        </p:nvSpPr>
        <p:spPr>
          <a:xfrm>
            <a:off x="575341" y="2796459"/>
            <a:ext cx="6844382" cy="2552038"/>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0" name="直接箭头连接符 19">
            <a:extLst>
              <a:ext uri="{FF2B5EF4-FFF2-40B4-BE49-F238E27FC236}">
                <a16:creationId xmlns:a16="http://schemas.microsoft.com/office/drawing/2014/main" id="{3B89A042-24DF-750D-90D7-FC3A9FF23BBD}"/>
              </a:ext>
            </a:extLst>
          </p:cNvPr>
          <p:cNvCxnSpPr>
            <a:cxnSpLocks/>
            <a:stCxn id="17" idx="3"/>
            <a:endCxn id="18" idx="1"/>
          </p:cNvCxnSpPr>
          <p:nvPr/>
        </p:nvCxnSpPr>
        <p:spPr>
          <a:xfrm flipV="1">
            <a:off x="7419723" y="4045661"/>
            <a:ext cx="4302349" cy="26817"/>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graphicFrame>
        <p:nvGraphicFramePr>
          <p:cNvPr id="10" name="对象 9">
            <a:extLst>
              <a:ext uri="{FF2B5EF4-FFF2-40B4-BE49-F238E27FC236}">
                <a16:creationId xmlns:a16="http://schemas.microsoft.com/office/drawing/2014/main" id="{06ACBC21-D900-3B5D-40A7-A3E106191335}"/>
              </a:ext>
            </a:extLst>
          </p:cNvPr>
          <p:cNvGraphicFramePr>
            <a:graphicFrameLocks noChangeAspect="1"/>
          </p:cNvGraphicFramePr>
          <p:nvPr>
            <p:extLst>
              <p:ext uri="{D42A27DB-BD31-4B8C-83A1-F6EECF244321}">
                <p14:modId xmlns:p14="http://schemas.microsoft.com/office/powerpoint/2010/main" val="2702726435"/>
              </p:ext>
            </p:extLst>
          </p:nvPr>
        </p:nvGraphicFramePr>
        <p:xfrm>
          <a:off x="1327642" y="3029111"/>
          <a:ext cx="5558339" cy="2162025"/>
        </p:xfrm>
        <a:graphic>
          <a:graphicData uri="http://schemas.openxmlformats.org/presentationml/2006/ole">
            <mc:AlternateContent xmlns:mc="http://schemas.openxmlformats.org/markup-compatibility/2006">
              <mc:Choice xmlns:v="urn:schemas-microsoft-com:vml" Requires="v">
                <p:oleObj name="AxMath" r:id="rId5" imgW="1094040" imgH="425880" progId="Equation.AxMath">
                  <p:embed/>
                </p:oleObj>
              </mc:Choice>
              <mc:Fallback>
                <p:oleObj name="AxMath" r:id="rId5" imgW="1094040" imgH="425880" progId="Equation.AxMath">
                  <p:embed/>
                  <p:pic>
                    <p:nvPicPr>
                      <p:cNvPr id="0" name=""/>
                      <p:cNvPicPr/>
                      <p:nvPr/>
                    </p:nvPicPr>
                    <p:blipFill>
                      <a:blip r:embed="rId6"/>
                      <a:stretch>
                        <a:fillRect/>
                      </a:stretch>
                    </p:blipFill>
                    <p:spPr>
                      <a:xfrm>
                        <a:off x="1327642" y="3029111"/>
                        <a:ext cx="5558339" cy="2162025"/>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EB4F7934-659A-7557-29D8-5CFE4519DB1F}"/>
              </a:ext>
            </a:extLst>
          </p:cNvPr>
          <p:cNvGraphicFramePr>
            <a:graphicFrameLocks noChangeAspect="1"/>
          </p:cNvGraphicFramePr>
          <p:nvPr>
            <p:extLst>
              <p:ext uri="{D42A27DB-BD31-4B8C-83A1-F6EECF244321}">
                <p14:modId xmlns:p14="http://schemas.microsoft.com/office/powerpoint/2010/main" val="686744038"/>
              </p:ext>
            </p:extLst>
          </p:nvPr>
        </p:nvGraphicFramePr>
        <p:xfrm>
          <a:off x="20073334" y="12404581"/>
          <a:ext cx="8407401" cy="678385"/>
        </p:xfrm>
        <a:graphic>
          <a:graphicData uri="http://schemas.openxmlformats.org/presentationml/2006/ole">
            <mc:AlternateContent xmlns:mc="http://schemas.openxmlformats.org/markup-compatibility/2006">
              <mc:Choice xmlns:v="urn:schemas-microsoft-com:vml" Requires="v">
                <p:oleObj name="AxMath" r:id="rId7" imgW="2833200" imgH="228240" progId="Equation.AxMath">
                  <p:embed/>
                </p:oleObj>
              </mc:Choice>
              <mc:Fallback>
                <p:oleObj name="AxMath" r:id="rId7" imgW="2833200" imgH="228240" progId="Equation.AxMath">
                  <p:embed/>
                  <p:pic>
                    <p:nvPicPr>
                      <p:cNvPr id="0" name=""/>
                      <p:cNvPicPr/>
                      <p:nvPr/>
                    </p:nvPicPr>
                    <p:blipFill>
                      <a:blip r:embed="rId8"/>
                      <a:stretch>
                        <a:fillRect/>
                      </a:stretch>
                    </p:blipFill>
                    <p:spPr>
                      <a:xfrm>
                        <a:off x="20073334" y="12404581"/>
                        <a:ext cx="8407401" cy="678385"/>
                      </a:xfrm>
                      <a:prstGeom prst="rect">
                        <a:avLst/>
                      </a:prstGeom>
                    </p:spPr>
                  </p:pic>
                </p:oleObj>
              </mc:Fallback>
            </mc:AlternateContent>
          </a:graphicData>
        </a:graphic>
      </p:graphicFrame>
      <p:sp>
        <p:nvSpPr>
          <p:cNvPr id="28" name="矩形: 圆角 27">
            <a:extLst>
              <a:ext uri="{FF2B5EF4-FFF2-40B4-BE49-F238E27FC236}">
                <a16:creationId xmlns:a16="http://schemas.microsoft.com/office/drawing/2014/main" id="{A7AAEEA9-448F-476E-CFCE-1FAE1F821A07}"/>
              </a:ext>
            </a:extLst>
          </p:cNvPr>
          <p:cNvSpPr/>
          <p:nvPr/>
        </p:nvSpPr>
        <p:spPr>
          <a:xfrm>
            <a:off x="20399398" y="8538594"/>
            <a:ext cx="8081337"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4" name="对象 33">
            <a:extLst>
              <a:ext uri="{FF2B5EF4-FFF2-40B4-BE49-F238E27FC236}">
                <a16:creationId xmlns:a16="http://schemas.microsoft.com/office/drawing/2014/main" id="{F4E56BA7-FAE2-B30E-9C50-C705D6199C8A}"/>
              </a:ext>
            </a:extLst>
          </p:cNvPr>
          <p:cNvGraphicFramePr>
            <a:graphicFrameLocks noChangeAspect="1"/>
          </p:cNvGraphicFramePr>
          <p:nvPr>
            <p:extLst>
              <p:ext uri="{D42A27DB-BD31-4B8C-83A1-F6EECF244321}">
                <p14:modId xmlns:p14="http://schemas.microsoft.com/office/powerpoint/2010/main" val="1810803038"/>
              </p:ext>
            </p:extLst>
          </p:nvPr>
        </p:nvGraphicFramePr>
        <p:xfrm>
          <a:off x="22141909" y="9451017"/>
          <a:ext cx="4216400" cy="903288"/>
        </p:xfrm>
        <a:graphic>
          <a:graphicData uri="http://schemas.openxmlformats.org/presentationml/2006/ole">
            <mc:AlternateContent xmlns:mc="http://schemas.openxmlformats.org/markup-compatibility/2006">
              <mc:Choice xmlns:v="urn:schemas-microsoft-com:vml" Requires="v">
                <p:oleObj name="AxMath" r:id="rId9" imgW="1696320" imgH="364320" progId="Equation.AxMath">
                  <p:embed/>
                </p:oleObj>
              </mc:Choice>
              <mc:Fallback>
                <p:oleObj name="AxMath" r:id="rId9" imgW="1696320" imgH="364320" progId="Equation.AxMath">
                  <p:embed/>
                  <p:pic>
                    <p:nvPicPr>
                      <p:cNvPr id="0" name=""/>
                      <p:cNvPicPr/>
                      <p:nvPr/>
                    </p:nvPicPr>
                    <p:blipFill>
                      <a:blip r:embed="rId10"/>
                      <a:stretch>
                        <a:fillRect/>
                      </a:stretch>
                    </p:blipFill>
                    <p:spPr>
                      <a:xfrm>
                        <a:off x="22141909" y="9451017"/>
                        <a:ext cx="4216400" cy="903288"/>
                      </a:xfrm>
                      <a:prstGeom prst="rect">
                        <a:avLst/>
                      </a:prstGeom>
                    </p:spPr>
                  </p:pic>
                </p:oleObj>
              </mc:Fallback>
            </mc:AlternateContent>
          </a:graphicData>
        </a:graphic>
      </p:graphicFrame>
      <p:sp>
        <p:nvSpPr>
          <p:cNvPr id="50" name="矩形: 圆角 49">
            <a:extLst>
              <a:ext uri="{FF2B5EF4-FFF2-40B4-BE49-F238E27FC236}">
                <a16:creationId xmlns:a16="http://schemas.microsoft.com/office/drawing/2014/main" id="{D33DDA83-3D4F-179A-94BB-B26087A4E13A}"/>
              </a:ext>
            </a:extLst>
          </p:cNvPr>
          <p:cNvSpPr/>
          <p:nvPr/>
        </p:nvSpPr>
        <p:spPr>
          <a:xfrm>
            <a:off x="13553420" y="13666490"/>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Systematic Consideration: Battery Life </a:t>
            </a:r>
            <a:endParaRPr lang="zh-CN" altLang="en-US" sz="3200" b="1" dirty="0">
              <a:solidFill>
                <a:schemeClr val="tx1"/>
              </a:solidFill>
            </a:endParaRPr>
          </a:p>
        </p:txBody>
      </p:sp>
      <p:cxnSp>
        <p:nvCxnSpPr>
          <p:cNvPr id="51" name="直接箭头连接符 50">
            <a:extLst>
              <a:ext uri="{FF2B5EF4-FFF2-40B4-BE49-F238E27FC236}">
                <a16:creationId xmlns:a16="http://schemas.microsoft.com/office/drawing/2014/main" id="{6D0D6698-69CD-DA40-406A-BAC42A3E8856}"/>
              </a:ext>
            </a:extLst>
          </p:cNvPr>
          <p:cNvCxnSpPr>
            <a:cxnSpLocks/>
            <a:stCxn id="86" idx="2"/>
            <a:endCxn id="88" idx="0"/>
          </p:cNvCxnSpPr>
          <p:nvPr/>
        </p:nvCxnSpPr>
        <p:spPr>
          <a:xfrm flipH="1">
            <a:off x="8329234" y="10868731"/>
            <a:ext cx="1408469" cy="1175164"/>
          </a:xfrm>
          <a:prstGeom prst="straightConnector1">
            <a:avLst/>
          </a:prstGeom>
          <a:ln w="50800">
            <a:tailEnd type="triangle" w="lg" len="med"/>
          </a:ln>
        </p:spPr>
        <p:style>
          <a:lnRef idx="3">
            <a:schemeClr val="dk1"/>
          </a:lnRef>
          <a:fillRef idx="0">
            <a:schemeClr val="dk1"/>
          </a:fillRef>
          <a:effectRef idx="2">
            <a:schemeClr val="dk1"/>
          </a:effectRef>
          <a:fontRef idx="minor">
            <a:schemeClr val="tx1"/>
          </a:fontRef>
        </p:style>
      </p:cxnSp>
      <p:cxnSp>
        <p:nvCxnSpPr>
          <p:cNvPr id="54" name="直接箭头连接符 53">
            <a:extLst>
              <a:ext uri="{FF2B5EF4-FFF2-40B4-BE49-F238E27FC236}">
                <a16:creationId xmlns:a16="http://schemas.microsoft.com/office/drawing/2014/main" id="{D9A00EE1-AE88-05AD-262D-D1C418F8FACE}"/>
              </a:ext>
            </a:extLst>
          </p:cNvPr>
          <p:cNvCxnSpPr>
            <a:cxnSpLocks/>
          </p:cNvCxnSpPr>
          <p:nvPr/>
        </p:nvCxnSpPr>
        <p:spPr>
          <a:xfrm>
            <a:off x="9699599" y="10868730"/>
            <a:ext cx="1578018" cy="1175165"/>
          </a:xfrm>
          <a:prstGeom prst="straightConnector1">
            <a:avLst/>
          </a:prstGeom>
          <a:ln w="50800">
            <a:tailEnd type="triangle" w="lg" len="med"/>
          </a:ln>
        </p:spPr>
        <p:style>
          <a:lnRef idx="3">
            <a:schemeClr val="dk1"/>
          </a:lnRef>
          <a:fillRef idx="0">
            <a:schemeClr val="dk1"/>
          </a:fillRef>
          <a:effectRef idx="2">
            <a:schemeClr val="dk1"/>
          </a:effectRef>
          <a:fontRef idx="minor">
            <a:schemeClr val="tx1"/>
          </a:fontRef>
        </p:style>
      </p:cxnSp>
      <p:cxnSp>
        <p:nvCxnSpPr>
          <p:cNvPr id="71" name="连接符: 肘形 70">
            <a:extLst>
              <a:ext uri="{FF2B5EF4-FFF2-40B4-BE49-F238E27FC236}">
                <a16:creationId xmlns:a16="http://schemas.microsoft.com/office/drawing/2014/main" id="{60E2ACAE-C2C1-FD55-4DDE-48DD9E8AC75D}"/>
              </a:ext>
            </a:extLst>
          </p:cNvPr>
          <p:cNvCxnSpPr>
            <a:cxnSpLocks/>
            <a:stCxn id="85" idx="1"/>
            <a:endCxn id="84" idx="1"/>
          </p:cNvCxnSpPr>
          <p:nvPr/>
        </p:nvCxnSpPr>
        <p:spPr>
          <a:xfrm rot="10800000">
            <a:off x="797556" y="10168631"/>
            <a:ext cx="12700" cy="2688888"/>
          </a:xfrm>
          <a:prstGeom prst="bentConnector3">
            <a:avLst>
              <a:gd name="adj1" fmla="val 1800000"/>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连接符: 肘形 73">
            <a:extLst>
              <a:ext uri="{FF2B5EF4-FFF2-40B4-BE49-F238E27FC236}">
                <a16:creationId xmlns:a16="http://schemas.microsoft.com/office/drawing/2014/main" id="{748CB1CA-3559-9AC0-CEFC-368E54AA6D20}"/>
              </a:ext>
            </a:extLst>
          </p:cNvPr>
          <p:cNvCxnSpPr>
            <a:cxnSpLocks/>
            <a:stCxn id="48" idx="1"/>
            <a:endCxn id="84" idx="1"/>
          </p:cNvCxnSpPr>
          <p:nvPr/>
        </p:nvCxnSpPr>
        <p:spPr>
          <a:xfrm rot="10800000">
            <a:off x="797556" y="10168631"/>
            <a:ext cx="12700" cy="1344444"/>
          </a:xfrm>
          <a:prstGeom prst="bentConnector3">
            <a:avLst>
              <a:gd name="adj1" fmla="val 1800000"/>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矩形: 圆角 108">
            <a:extLst>
              <a:ext uri="{FF2B5EF4-FFF2-40B4-BE49-F238E27FC236}">
                <a16:creationId xmlns:a16="http://schemas.microsoft.com/office/drawing/2014/main" id="{A368BF39-B9CC-F6E4-E8DF-1621549E6DD5}"/>
              </a:ext>
            </a:extLst>
          </p:cNvPr>
          <p:cNvSpPr/>
          <p:nvPr/>
        </p:nvSpPr>
        <p:spPr>
          <a:xfrm>
            <a:off x="1504086" y="13873189"/>
            <a:ext cx="4690951" cy="875860"/>
          </a:xfrm>
          <a:prstGeom prst="roundRect">
            <a:avLst>
              <a:gd name="adj" fmla="val 1372"/>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Smart Watch</a:t>
            </a:r>
            <a:endParaRPr lang="zh-CN" altLang="en-US" sz="3200" b="1" dirty="0">
              <a:solidFill>
                <a:schemeClr val="tx1"/>
              </a:solidFill>
            </a:endParaRPr>
          </a:p>
        </p:txBody>
      </p:sp>
      <p:sp>
        <p:nvSpPr>
          <p:cNvPr id="114" name="矩形: 圆角 113">
            <a:extLst>
              <a:ext uri="{FF2B5EF4-FFF2-40B4-BE49-F238E27FC236}">
                <a16:creationId xmlns:a16="http://schemas.microsoft.com/office/drawing/2014/main" id="{98B78C54-7995-A208-BC5E-2D3C16E4B641}"/>
              </a:ext>
            </a:extLst>
          </p:cNvPr>
          <p:cNvSpPr/>
          <p:nvPr/>
        </p:nvSpPr>
        <p:spPr>
          <a:xfrm>
            <a:off x="7610786" y="2379175"/>
            <a:ext cx="3926520" cy="1390707"/>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graphicFrame>
        <p:nvGraphicFramePr>
          <p:cNvPr id="119" name="对象 118">
            <a:extLst>
              <a:ext uri="{FF2B5EF4-FFF2-40B4-BE49-F238E27FC236}">
                <a16:creationId xmlns:a16="http://schemas.microsoft.com/office/drawing/2014/main" id="{C448B57E-1FB4-A201-22DC-C8204DCA03D4}"/>
              </a:ext>
            </a:extLst>
          </p:cNvPr>
          <p:cNvGraphicFramePr>
            <a:graphicFrameLocks noChangeAspect="1"/>
          </p:cNvGraphicFramePr>
          <p:nvPr>
            <p:extLst>
              <p:ext uri="{D42A27DB-BD31-4B8C-83A1-F6EECF244321}">
                <p14:modId xmlns:p14="http://schemas.microsoft.com/office/powerpoint/2010/main" val="1075852502"/>
              </p:ext>
            </p:extLst>
          </p:nvPr>
        </p:nvGraphicFramePr>
        <p:xfrm>
          <a:off x="7798419" y="2421305"/>
          <a:ext cx="3498247" cy="1398258"/>
        </p:xfrm>
        <a:graphic>
          <a:graphicData uri="http://schemas.openxmlformats.org/presentationml/2006/ole">
            <mc:AlternateContent xmlns:mc="http://schemas.openxmlformats.org/markup-compatibility/2006">
              <mc:Choice xmlns:v="urn:schemas-microsoft-com:vml" Requires="v">
                <p:oleObj name="AxMath" r:id="rId11" imgW="1068120" imgH="426960" progId="Equation.AxMath">
                  <p:embed/>
                </p:oleObj>
              </mc:Choice>
              <mc:Fallback>
                <p:oleObj name="AxMath" r:id="rId11" imgW="1068120" imgH="426960" progId="Equation.AxMath">
                  <p:embed/>
                  <p:pic>
                    <p:nvPicPr>
                      <p:cNvPr id="0" name=""/>
                      <p:cNvPicPr/>
                      <p:nvPr/>
                    </p:nvPicPr>
                    <p:blipFill>
                      <a:blip r:embed="rId12"/>
                      <a:stretch>
                        <a:fillRect/>
                      </a:stretch>
                    </p:blipFill>
                    <p:spPr>
                      <a:xfrm>
                        <a:off x="7798419" y="2421305"/>
                        <a:ext cx="3498247" cy="1398258"/>
                      </a:xfrm>
                      <a:prstGeom prst="rect">
                        <a:avLst/>
                      </a:prstGeom>
                    </p:spPr>
                  </p:pic>
                </p:oleObj>
              </mc:Fallback>
            </mc:AlternateContent>
          </a:graphicData>
        </a:graphic>
      </p:graphicFrame>
      <p:sp>
        <p:nvSpPr>
          <p:cNvPr id="120" name="矩形: 圆角 119">
            <a:extLst>
              <a:ext uri="{FF2B5EF4-FFF2-40B4-BE49-F238E27FC236}">
                <a16:creationId xmlns:a16="http://schemas.microsoft.com/office/drawing/2014/main" id="{0D49B44E-0CFE-E562-25C0-849386560954}"/>
              </a:ext>
            </a:extLst>
          </p:cNvPr>
          <p:cNvSpPr/>
          <p:nvPr/>
        </p:nvSpPr>
        <p:spPr>
          <a:xfrm>
            <a:off x="7610786" y="4327506"/>
            <a:ext cx="3926520" cy="1390707"/>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graphicFrame>
        <p:nvGraphicFramePr>
          <p:cNvPr id="122" name="对象 121">
            <a:extLst>
              <a:ext uri="{FF2B5EF4-FFF2-40B4-BE49-F238E27FC236}">
                <a16:creationId xmlns:a16="http://schemas.microsoft.com/office/drawing/2014/main" id="{681B8955-2B91-1FA5-5711-1BDC44E767BC}"/>
              </a:ext>
            </a:extLst>
          </p:cNvPr>
          <p:cNvGraphicFramePr>
            <a:graphicFrameLocks noChangeAspect="1"/>
          </p:cNvGraphicFramePr>
          <p:nvPr>
            <p:extLst>
              <p:ext uri="{D42A27DB-BD31-4B8C-83A1-F6EECF244321}">
                <p14:modId xmlns:p14="http://schemas.microsoft.com/office/powerpoint/2010/main" val="3734054544"/>
              </p:ext>
            </p:extLst>
          </p:nvPr>
        </p:nvGraphicFramePr>
        <p:xfrm>
          <a:off x="7818877" y="4613328"/>
          <a:ext cx="3666247" cy="970477"/>
        </p:xfrm>
        <a:graphic>
          <a:graphicData uri="http://schemas.openxmlformats.org/presentationml/2006/ole">
            <mc:AlternateContent xmlns:mc="http://schemas.openxmlformats.org/markup-compatibility/2006">
              <mc:Choice xmlns:v="urn:schemas-microsoft-com:vml" Requires="v">
                <p:oleObj name="AxMath" r:id="rId13" imgW="864360" imgH="228240" progId="Equation.AxMath">
                  <p:embed/>
                </p:oleObj>
              </mc:Choice>
              <mc:Fallback>
                <p:oleObj name="AxMath" r:id="rId13" imgW="864360" imgH="228240" progId="Equation.AxMath">
                  <p:embed/>
                  <p:pic>
                    <p:nvPicPr>
                      <p:cNvPr id="0" name=""/>
                      <p:cNvPicPr/>
                      <p:nvPr/>
                    </p:nvPicPr>
                    <p:blipFill>
                      <a:blip r:embed="rId14"/>
                      <a:stretch>
                        <a:fillRect/>
                      </a:stretch>
                    </p:blipFill>
                    <p:spPr>
                      <a:xfrm>
                        <a:off x="7818877" y="4613328"/>
                        <a:ext cx="3666247" cy="970477"/>
                      </a:xfrm>
                      <a:prstGeom prst="rect">
                        <a:avLst/>
                      </a:prstGeom>
                    </p:spPr>
                  </p:pic>
                </p:oleObj>
              </mc:Fallback>
            </mc:AlternateContent>
          </a:graphicData>
        </a:graphic>
      </p:graphicFrame>
      <p:sp>
        <p:nvSpPr>
          <p:cNvPr id="102" name="箭头: 右 101">
            <a:extLst>
              <a:ext uri="{FF2B5EF4-FFF2-40B4-BE49-F238E27FC236}">
                <a16:creationId xmlns:a16="http://schemas.microsoft.com/office/drawing/2014/main" id="{77A4774C-1CD5-BCEE-CA3C-5026E9A631E5}"/>
              </a:ext>
            </a:extLst>
          </p:cNvPr>
          <p:cNvSpPr/>
          <p:nvPr/>
        </p:nvSpPr>
        <p:spPr>
          <a:xfrm>
            <a:off x="356195" y="14025308"/>
            <a:ext cx="1091631" cy="571622"/>
          </a:xfrm>
          <a:prstGeom prst="rightArrow">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42" name="矩形: 圆角 41">
            <a:extLst>
              <a:ext uri="{FF2B5EF4-FFF2-40B4-BE49-F238E27FC236}">
                <a16:creationId xmlns:a16="http://schemas.microsoft.com/office/drawing/2014/main" id="{143A1BAC-2AB8-2547-E5F1-8EC14FBFD70B}"/>
              </a:ext>
            </a:extLst>
          </p:cNvPr>
          <p:cNvSpPr/>
          <p:nvPr/>
        </p:nvSpPr>
        <p:spPr>
          <a:xfrm>
            <a:off x="20399398" y="5263778"/>
            <a:ext cx="8081337"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C53077EA-E870-12E5-63DB-1CE08CE89567}"/>
              </a:ext>
            </a:extLst>
          </p:cNvPr>
          <p:cNvSpPr txBox="1"/>
          <p:nvPr/>
        </p:nvSpPr>
        <p:spPr>
          <a:xfrm>
            <a:off x="22432626" y="8697342"/>
            <a:ext cx="3688814" cy="646331"/>
          </a:xfrm>
          <a:prstGeom prst="rect">
            <a:avLst/>
          </a:prstGeom>
          <a:noFill/>
        </p:spPr>
        <p:txBody>
          <a:bodyPr wrap="square" rtlCol="0">
            <a:spAutoFit/>
          </a:bodyPr>
          <a:lstStyle/>
          <a:p>
            <a:r>
              <a:rPr lang="en-US" altLang="zh-CN" sz="3600" b="1" dirty="0"/>
              <a:t>Model Correction</a:t>
            </a:r>
            <a:endParaRPr lang="zh-CN" altLang="en-US" sz="3600" b="1" dirty="0"/>
          </a:p>
        </p:txBody>
      </p:sp>
      <p:sp>
        <p:nvSpPr>
          <p:cNvPr id="44" name="矩形: 圆角 43">
            <a:extLst>
              <a:ext uri="{FF2B5EF4-FFF2-40B4-BE49-F238E27FC236}">
                <a16:creationId xmlns:a16="http://schemas.microsoft.com/office/drawing/2014/main" id="{9254A16E-22B4-7D96-9C02-4985B3DDE5B4}"/>
              </a:ext>
            </a:extLst>
          </p:cNvPr>
          <p:cNvSpPr/>
          <p:nvPr/>
        </p:nvSpPr>
        <p:spPr>
          <a:xfrm>
            <a:off x="20399398" y="1940769"/>
            <a:ext cx="8081337"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tx1"/>
                </a:solidFill>
              </a:rPr>
              <a:t>Denote the power consumption of </a:t>
            </a:r>
          </a:p>
          <a:p>
            <a:pPr algn="ctr"/>
            <a:r>
              <a:rPr lang="en-US" altLang="zh-CN" sz="3600" b="1" dirty="0">
                <a:solidFill>
                  <a:schemeClr val="tx1"/>
                </a:solidFill>
              </a:rPr>
              <a:t>each mobile phone module.</a:t>
            </a:r>
            <a:endParaRPr lang="zh-CN" altLang="en-US" sz="3600" b="1" dirty="0">
              <a:solidFill>
                <a:schemeClr val="tx1"/>
              </a:solidFill>
            </a:endParaRPr>
          </a:p>
        </p:txBody>
      </p:sp>
      <p:sp>
        <p:nvSpPr>
          <p:cNvPr id="33" name="文本框 32">
            <a:extLst>
              <a:ext uri="{FF2B5EF4-FFF2-40B4-BE49-F238E27FC236}">
                <a16:creationId xmlns:a16="http://schemas.microsoft.com/office/drawing/2014/main" id="{E57CDF17-74E8-DAD0-4EE6-395F4D680DD7}"/>
              </a:ext>
            </a:extLst>
          </p:cNvPr>
          <p:cNvSpPr txBox="1"/>
          <p:nvPr/>
        </p:nvSpPr>
        <p:spPr>
          <a:xfrm>
            <a:off x="21674543" y="5464171"/>
            <a:ext cx="5204980" cy="646331"/>
          </a:xfrm>
          <a:prstGeom prst="rect">
            <a:avLst/>
          </a:prstGeom>
          <a:noFill/>
        </p:spPr>
        <p:txBody>
          <a:bodyPr wrap="square" rtlCol="0">
            <a:spAutoFit/>
          </a:bodyPr>
          <a:lstStyle/>
          <a:p>
            <a:r>
              <a:rPr lang="en-US" altLang="zh-CN" sz="3600" b="1" dirty="0"/>
              <a:t>Temperature Correction</a:t>
            </a:r>
            <a:endParaRPr lang="zh-CN" altLang="en-US" sz="3600" b="1" dirty="0"/>
          </a:p>
        </p:txBody>
      </p:sp>
      <p:graphicFrame>
        <p:nvGraphicFramePr>
          <p:cNvPr id="30" name="对象 29">
            <a:extLst>
              <a:ext uri="{FF2B5EF4-FFF2-40B4-BE49-F238E27FC236}">
                <a16:creationId xmlns:a16="http://schemas.microsoft.com/office/drawing/2014/main" id="{B77CC8E5-8AA5-4716-BB9B-A500A525377B}"/>
              </a:ext>
            </a:extLst>
          </p:cNvPr>
          <p:cNvGraphicFramePr>
            <a:graphicFrameLocks noChangeAspect="1"/>
          </p:cNvGraphicFramePr>
          <p:nvPr>
            <p:extLst>
              <p:ext uri="{D42A27DB-BD31-4B8C-83A1-F6EECF244321}">
                <p14:modId xmlns:p14="http://schemas.microsoft.com/office/powerpoint/2010/main" val="3770659501"/>
              </p:ext>
            </p:extLst>
          </p:nvPr>
        </p:nvGraphicFramePr>
        <p:xfrm>
          <a:off x="21162963" y="6226175"/>
          <a:ext cx="6148387" cy="615950"/>
        </p:xfrm>
        <a:graphic>
          <a:graphicData uri="http://schemas.openxmlformats.org/presentationml/2006/ole">
            <mc:AlternateContent xmlns:mc="http://schemas.openxmlformats.org/markup-compatibility/2006">
              <mc:Choice xmlns:v="urn:schemas-microsoft-com:vml" Requires="v">
                <p:oleObj name="AxMath" r:id="rId15" imgW="2453040" imgH="246240" progId="Equation.AxMath">
                  <p:embed/>
                </p:oleObj>
              </mc:Choice>
              <mc:Fallback>
                <p:oleObj name="AxMath" r:id="rId15" imgW="2453040" imgH="246240" progId="Equation.AxMath">
                  <p:embed/>
                  <p:pic>
                    <p:nvPicPr>
                      <p:cNvPr id="0" name=""/>
                      <p:cNvPicPr/>
                      <p:nvPr/>
                    </p:nvPicPr>
                    <p:blipFill>
                      <a:blip r:embed="rId16"/>
                      <a:stretch>
                        <a:fillRect/>
                      </a:stretch>
                    </p:blipFill>
                    <p:spPr>
                      <a:xfrm>
                        <a:off x="21162963" y="6226175"/>
                        <a:ext cx="6148387" cy="615950"/>
                      </a:xfrm>
                      <a:prstGeom prst="rect">
                        <a:avLst/>
                      </a:prstGeom>
                    </p:spPr>
                  </p:pic>
                </p:oleObj>
              </mc:Fallback>
            </mc:AlternateContent>
          </a:graphicData>
        </a:graphic>
      </p:graphicFrame>
      <p:sp>
        <p:nvSpPr>
          <p:cNvPr id="45" name="箭头: 下 44">
            <a:extLst>
              <a:ext uri="{FF2B5EF4-FFF2-40B4-BE49-F238E27FC236}">
                <a16:creationId xmlns:a16="http://schemas.microsoft.com/office/drawing/2014/main" id="{BF6DFBF3-718A-EF8A-5A5C-99B341F1AE94}"/>
              </a:ext>
            </a:extLst>
          </p:cNvPr>
          <p:cNvSpPr/>
          <p:nvPr/>
        </p:nvSpPr>
        <p:spPr>
          <a:xfrm>
            <a:off x="23952390" y="7456245"/>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箭头: 下 45">
            <a:extLst>
              <a:ext uri="{FF2B5EF4-FFF2-40B4-BE49-F238E27FC236}">
                <a16:creationId xmlns:a16="http://schemas.microsoft.com/office/drawing/2014/main" id="{F158E46B-4E28-065D-A491-E0470B7AC2ED}"/>
              </a:ext>
            </a:extLst>
          </p:cNvPr>
          <p:cNvSpPr/>
          <p:nvPr/>
        </p:nvSpPr>
        <p:spPr>
          <a:xfrm>
            <a:off x="23952390" y="4130824"/>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98729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FAE6411-F49D-A06C-C875-A16EB2F96C7C}"/>
              </a:ext>
            </a:extLst>
          </p:cNvPr>
          <p:cNvSpPr/>
          <p:nvPr/>
        </p:nvSpPr>
        <p:spPr>
          <a:xfrm>
            <a:off x="1" y="1"/>
            <a:ext cx="6990231" cy="7532913"/>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882970A-FF0F-622C-34E7-FEEE34F292E4}"/>
              </a:ext>
            </a:extLst>
          </p:cNvPr>
          <p:cNvSpPr txBox="1"/>
          <p:nvPr/>
        </p:nvSpPr>
        <p:spPr>
          <a:xfrm>
            <a:off x="1498415" y="464457"/>
            <a:ext cx="3993401" cy="923330"/>
          </a:xfrm>
          <a:prstGeom prst="rect">
            <a:avLst/>
          </a:prstGeom>
          <a:noFill/>
        </p:spPr>
        <p:txBody>
          <a:bodyPr wrap="none" rtlCol="0">
            <a:spAutoFit/>
          </a:bodyPr>
          <a:lstStyle/>
          <a:p>
            <a:r>
              <a:rPr lang="en-US" altLang="zh-CN" sz="5400" b="1" dirty="0"/>
              <a:t>Initialization</a:t>
            </a:r>
            <a:endParaRPr lang="zh-CN" altLang="en-US" sz="5400" b="1" dirty="0"/>
          </a:p>
        </p:txBody>
      </p:sp>
      <p:sp>
        <p:nvSpPr>
          <p:cNvPr id="8" name="矩形: 圆角 7">
            <a:extLst>
              <a:ext uri="{FF2B5EF4-FFF2-40B4-BE49-F238E27FC236}">
                <a16:creationId xmlns:a16="http://schemas.microsoft.com/office/drawing/2014/main" id="{078A66D3-97DF-1D6B-6EC7-D1BCB496E7D0}"/>
              </a:ext>
            </a:extLst>
          </p:cNvPr>
          <p:cNvSpPr/>
          <p:nvPr/>
        </p:nvSpPr>
        <p:spPr>
          <a:xfrm>
            <a:off x="192719" y="2736778"/>
            <a:ext cx="6619244" cy="3242272"/>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7" name="文本框 6">
            <a:extLst>
              <a:ext uri="{FF2B5EF4-FFF2-40B4-BE49-F238E27FC236}">
                <a16:creationId xmlns:a16="http://schemas.microsoft.com/office/drawing/2014/main" id="{050286B8-54F6-9188-40BC-FED198ADF42D}"/>
              </a:ext>
            </a:extLst>
          </p:cNvPr>
          <p:cNvSpPr txBox="1"/>
          <p:nvPr/>
        </p:nvSpPr>
        <p:spPr>
          <a:xfrm>
            <a:off x="345847" y="3182966"/>
            <a:ext cx="6466116" cy="2308324"/>
          </a:xfrm>
          <a:prstGeom prst="rect">
            <a:avLst/>
          </a:prstGeom>
          <a:noFill/>
        </p:spPr>
        <p:txBody>
          <a:bodyPr wrap="square" rtlCol="0">
            <a:spAutoFit/>
          </a:bodyPr>
          <a:lstStyle/>
          <a:p>
            <a:r>
              <a:rPr lang="en-US" altLang="zh-CN" sz="4800" b="1" dirty="0"/>
              <a:t>Measure the time taken when the test phone executes N empty loops.</a:t>
            </a:r>
            <a:endParaRPr lang="zh-CN" altLang="en-US" sz="4800" b="1" dirty="0"/>
          </a:p>
        </p:txBody>
      </p:sp>
      <p:cxnSp>
        <p:nvCxnSpPr>
          <p:cNvPr id="10" name="直接箭头连接符 9">
            <a:extLst>
              <a:ext uri="{FF2B5EF4-FFF2-40B4-BE49-F238E27FC236}">
                <a16:creationId xmlns:a16="http://schemas.microsoft.com/office/drawing/2014/main" id="{9DA84B60-F0F3-745C-1DD9-0A75EED663FB}"/>
              </a:ext>
            </a:extLst>
          </p:cNvPr>
          <p:cNvCxnSpPr>
            <a:cxnSpLocks/>
            <a:stCxn id="4" idx="3"/>
            <a:endCxn id="13" idx="1"/>
          </p:cNvCxnSpPr>
          <p:nvPr/>
        </p:nvCxnSpPr>
        <p:spPr>
          <a:xfrm flipV="1">
            <a:off x="6990232" y="3766456"/>
            <a:ext cx="605844" cy="2"/>
          </a:xfrm>
          <a:prstGeom prst="straightConnector1">
            <a:avLst/>
          </a:prstGeom>
          <a:ln w="635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13" name="矩形 12">
            <a:extLst>
              <a:ext uri="{FF2B5EF4-FFF2-40B4-BE49-F238E27FC236}">
                <a16:creationId xmlns:a16="http://schemas.microsoft.com/office/drawing/2014/main" id="{87E8ADE2-367A-A2B9-3723-A5F119DD3BB5}"/>
              </a:ext>
            </a:extLst>
          </p:cNvPr>
          <p:cNvSpPr/>
          <p:nvPr/>
        </p:nvSpPr>
        <p:spPr>
          <a:xfrm>
            <a:off x="7596076" y="-1"/>
            <a:ext cx="7903754" cy="7532913"/>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B8850DCA-715F-46E8-EFAE-1B3743FC12C1}"/>
              </a:ext>
            </a:extLst>
          </p:cNvPr>
          <p:cNvSpPr txBox="1"/>
          <p:nvPr/>
        </p:nvSpPr>
        <p:spPr>
          <a:xfrm>
            <a:off x="8792954" y="464457"/>
            <a:ext cx="5898025" cy="923330"/>
          </a:xfrm>
          <a:prstGeom prst="rect">
            <a:avLst/>
          </a:prstGeom>
          <a:noFill/>
        </p:spPr>
        <p:txBody>
          <a:bodyPr wrap="none" rtlCol="0">
            <a:spAutoFit/>
          </a:bodyPr>
          <a:lstStyle/>
          <a:p>
            <a:r>
              <a:rPr lang="en-US" altLang="zh-CN" sz="5400" b="1" dirty="0"/>
              <a:t>Coarse Adjustment</a:t>
            </a:r>
            <a:endParaRPr lang="zh-CN" altLang="en-US" sz="5400" b="1" dirty="0"/>
          </a:p>
        </p:txBody>
      </p:sp>
      <p:sp>
        <p:nvSpPr>
          <p:cNvPr id="16" name="矩形: 圆角 15">
            <a:extLst>
              <a:ext uri="{FF2B5EF4-FFF2-40B4-BE49-F238E27FC236}">
                <a16:creationId xmlns:a16="http://schemas.microsoft.com/office/drawing/2014/main" id="{38E2E408-7054-BA66-A3F2-7079CEB110EB}"/>
              </a:ext>
            </a:extLst>
          </p:cNvPr>
          <p:cNvSpPr/>
          <p:nvPr/>
        </p:nvSpPr>
        <p:spPr>
          <a:xfrm>
            <a:off x="8664562" y="1852243"/>
            <a:ext cx="5898025" cy="1657420"/>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tx1"/>
                </a:solidFill>
              </a:rPr>
              <a:t>Create </a:t>
            </a:r>
            <a:r>
              <a:rPr lang="en-US" altLang="zh-CN" sz="4400" b="1" i="1" dirty="0">
                <a:solidFill>
                  <a:schemeClr val="tx1"/>
                </a:solidFill>
              </a:rPr>
              <a:t>m</a:t>
            </a:r>
            <a:r>
              <a:rPr lang="en-US" altLang="zh-CN" sz="4400" b="1" dirty="0">
                <a:solidFill>
                  <a:schemeClr val="tx1"/>
                </a:solidFill>
              </a:rPr>
              <a:t> new threads to execute tasks </a:t>
            </a:r>
          </a:p>
        </p:txBody>
      </p:sp>
      <p:sp>
        <p:nvSpPr>
          <p:cNvPr id="19" name="矩形: 圆角 18">
            <a:extLst>
              <a:ext uri="{FF2B5EF4-FFF2-40B4-BE49-F238E27FC236}">
                <a16:creationId xmlns:a16="http://schemas.microsoft.com/office/drawing/2014/main" id="{54AF3843-6F25-2DC0-55E9-5876B596FD08}"/>
              </a:ext>
            </a:extLst>
          </p:cNvPr>
          <p:cNvSpPr/>
          <p:nvPr/>
        </p:nvSpPr>
        <p:spPr>
          <a:xfrm>
            <a:off x="8664562" y="4730536"/>
            <a:ext cx="5898025" cy="1825455"/>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4400" b="1" dirty="0">
                <a:solidFill>
                  <a:schemeClr val="tx1"/>
                </a:solidFill>
              </a:rPr>
              <a:t>perform </a:t>
            </a:r>
            <a:r>
              <a:rPr lang="en-US" altLang="zh-CN" sz="4400" b="1" i="1" dirty="0">
                <a:solidFill>
                  <a:schemeClr val="tx1"/>
                </a:solidFill>
              </a:rPr>
              <a:t>N</a:t>
            </a:r>
            <a:r>
              <a:rPr lang="en-US" altLang="zh-CN" sz="4400" b="1" dirty="0">
                <a:solidFill>
                  <a:schemeClr val="tx1"/>
                </a:solidFill>
              </a:rPr>
              <a:t> empty loops and then call </a:t>
            </a:r>
            <a:r>
              <a:rPr lang="en-US" altLang="zh-CN" sz="4400" b="1" i="1" dirty="0">
                <a:solidFill>
                  <a:schemeClr val="tx1"/>
                </a:solidFill>
              </a:rPr>
              <a:t>sleep(x)</a:t>
            </a:r>
            <a:endParaRPr lang="zh-CN" altLang="en-US" sz="4400" b="1" dirty="0">
              <a:solidFill>
                <a:schemeClr val="tx1"/>
              </a:solidFill>
            </a:endParaRPr>
          </a:p>
        </p:txBody>
      </p:sp>
      <p:sp>
        <p:nvSpPr>
          <p:cNvPr id="22" name="矩形 21">
            <a:extLst>
              <a:ext uri="{FF2B5EF4-FFF2-40B4-BE49-F238E27FC236}">
                <a16:creationId xmlns:a16="http://schemas.microsoft.com/office/drawing/2014/main" id="{D9391B16-E426-19E4-6824-CB3EED962089}"/>
              </a:ext>
            </a:extLst>
          </p:cNvPr>
          <p:cNvSpPr/>
          <p:nvPr/>
        </p:nvSpPr>
        <p:spPr>
          <a:xfrm>
            <a:off x="16105674" y="0"/>
            <a:ext cx="12694751" cy="12641943"/>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流程图: 决策 25">
            <a:extLst>
              <a:ext uri="{FF2B5EF4-FFF2-40B4-BE49-F238E27FC236}">
                <a16:creationId xmlns:a16="http://schemas.microsoft.com/office/drawing/2014/main" id="{8BFE8AA5-8EB3-9CBD-4703-32FE1FBC1DBA}"/>
              </a:ext>
            </a:extLst>
          </p:cNvPr>
          <p:cNvSpPr/>
          <p:nvPr/>
        </p:nvSpPr>
        <p:spPr>
          <a:xfrm>
            <a:off x="17806875" y="3613587"/>
            <a:ext cx="9244125" cy="5176922"/>
          </a:xfrm>
          <a:prstGeom prst="flowChartDecision">
            <a:avLst/>
          </a:prstGeom>
          <a:solidFill>
            <a:srgbClr val="FBF4FC"/>
          </a:solidFill>
          <a:ln w="635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970" dirty="0"/>
          </a:p>
        </p:txBody>
      </p:sp>
      <p:sp>
        <p:nvSpPr>
          <p:cNvPr id="25" name="矩形: 圆角 24">
            <a:extLst>
              <a:ext uri="{FF2B5EF4-FFF2-40B4-BE49-F238E27FC236}">
                <a16:creationId xmlns:a16="http://schemas.microsoft.com/office/drawing/2014/main" id="{AEEC0CAB-B5E3-23AA-07F2-7C033AAE3FCF}"/>
              </a:ext>
            </a:extLst>
          </p:cNvPr>
          <p:cNvSpPr/>
          <p:nvPr/>
        </p:nvSpPr>
        <p:spPr>
          <a:xfrm>
            <a:off x="16321599" y="9722836"/>
            <a:ext cx="6001648"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Reduce the number of cycles N</a:t>
            </a:r>
            <a:endParaRPr lang="zh-CN" altLang="en-US" sz="3200" b="1" dirty="0">
              <a:solidFill>
                <a:schemeClr val="tx1"/>
              </a:solidFill>
            </a:endParaRPr>
          </a:p>
        </p:txBody>
      </p:sp>
      <p:sp>
        <p:nvSpPr>
          <p:cNvPr id="23" name="文本框 22">
            <a:extLst>
              <a:ext uri="{FF2B5EF4-FFF2-40B4-BE49-F238E27FC236}">
                <a16:creationId xmlns:a16="http://schemas.microsoft.com/office/drawing/2014/main" id="{EBA95BDE-A756-DA63-B782-021B87E2D351}"/>
              </a:ext>
            </a:extLst>
          </p:cNvPr>
          <p:cNvSpPr txBox="1"/>
          <p:nvPr/>
        </p:nvSpPr>
        <p:spPr>
          <a:xfrm>
            <a:off x="18357561" y="5717872"/>
            <a:ext cx="8261942" cy="830997"/>
          </a:xfrm>
          <a:prstGeom prst="rect">
            <a:avLst/>
          </a:prstGeom>
          <a:noFill/>
        </p:spPr>
        <p:txBody>
          <a:bodyPr wrap="none" rtlCol="0">
            <a:spAutoFit/>
          </a:bodyPr>
          <a:lstStyle/>
          <a:p>
            <a:r>
              <a:rPr lang="en-US" altLang="zh-CN" sz="4800" b="1" dirty="0"/>
              <a:t>Occupancy rate &gt; Target value</a:t>
            </a:r>
            <a:endParaRPr lang="zh-CN" altLang="en-US" sz="4800" b="1" dirty="0"/>
          </a:p>
        </p:txBody>
      </p:sp>
      <p:sp>
        <p:nvSpPr>
          <p:cNvPr id="34" name="文本框 33">
            <a:extLst>
              <a:ext uri="{FF2B5EF4-FFF2-40B4-BE49-F238E27FC236}">
                <a16:creationId xmlns:a16="http://schemas.microsoft.com/office/drawing/2014/main" id="{56ACACC3-41B5-EFB7-AAC4-7EE5A3CA650B}"/>
              </a:ext>
            </a:extLst>
          </p:cNvPr>
          <p:cNvSpPr txBox="1"/>
          <p:nvPr/>
        </p:nvSpPr>
        <p:spPr>
          <a:xfrm>
            <a:off x="18107126" y="7893764"/>
            <a:ext cx="1181734" cy="707886"/>
          </a:xfrm>
          <a:prstGeom prst="rect">
            <a:avLst/>
          </a:prstGeom>
          <a:noFill/>
        </p:spPr>
        <p:txBody>
          <a:bodyPr wrap="none" rtlCol="0">
            <a:spAutoFit/>
          </a:bodyPr>
          <a:lstStyle/>
          <a:p>
            <a:r>
              <a:rPr lang="en-US" altLang="zh-CN" sz="4000" b="1" dirty="0"/>
              <a:t>YES</a:t>
            </a:r>
            <a:endParaRPr lang="zh-CN" altLang="en-US" sz="4000" b="1" dirty="0"/>
          </a:p>
        </p:txBody>
      </p:sp>
      <p:sp>
        <p:nvSpPr>
          <p:cNvPr id="36" name="矩形: 圆角 35">
            <a:extLst>
              <a:ext uri="{FF2B5EF4-FFF2-40B4-BE49-F238E27FC236}">
                <a16:creationId xmlns:a16="http://schemas.microsoft.com/office/drawing/2014/main" id="{22D9BD27-BACE-EC1B-DD52-D8B7D0294588}"/>
              </a:ext>
            </a:extLst>
          </p:cNvPr>
          <p:cNvSpPr/>
          <p:nvPr/>
        </p:nvSpPr>
        <p:spPr>
          <a:xfrm>
            <a:off x="16321599" y="1634420"/>
            <a:ext cx="12369573"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5400" b="1" dirty="0">
                <a:solidFill>
                  <a:schemeClr val="tx1"/>
                </a:solidFill>
              </a:rPr>
              <a:t>Monitor CPU occupancy rate per second</a:t>
            </a:r>
            <a:endParaRPr lang="zh-CN" altLang="en-US" sz="5400" b="1" dirty="0">
              <a:solidFill>
                <a:schemeClr val="tx1"/>
              </a:solidFill>
            </a:endParaRPr>
          </a:p>
        </p:txBody>
      </p:sp>
      <p:cxnSp>
        <p:nvCxnSpPr>
          <p:cNvPr id="41" name="直接箭头连接符 40">
            <a:extLst>
              <a:ext uri="{FF2B5EF4-FFF2-40B4-BE49-F238E27FC236}">
                <a16:creationId xmlns:a16="http://schemas.microsoft.com/office/drawing/2014/main" id="{F59F438C-8EE3-9E0F-8B1A-7C45C33BFE66}"/>
              </a:ext>
            </a:extLst>
          </p:cNvPr>
          <p:cNvCxnSpPr>
            <a:cxnSpLocks/>
          </p:cNvCxnSpPr>
          <p:nvPr/>
        </p:nvCxnSpPr>
        <p:spPr>
          <a:xfrm>
            <a:off x="15554988" y="3766458"/>
            <a:ext cx="550686" cy="0"/>
          </a:xfrm>
          <a:prstGeom prst="straightConnector1">
            <a:avLst/>
          </a:prstGeom>
          <a:ln w="635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51" name="矩形: 圆角 50">
            <a:extLst>
              <a:ext uri="{FF2B5EF4-FFF2-40B4-BE49-F238E27FC236}">
                <a16:creationId xmlns:a16="http://schemas.microsoft.com/office/drawing/2014/main" id="{A012F889-2372-D5BB-E22F-F20F9ED0114A}"/>
              </a:ext>
            </a:extLst>
          </p:cNvPr>
          <p:cNvSpPr/>
          <p:nvPr/>
        </p:nvSpPr>
        <p:spPr>
          <a:xfrm>
            <a:off x="22539172" y="9722836"/>
            <a:ext cx="6152001"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Increase the number of cycles N</a:t>
            </a:r>
            <a:endParaRPr lang="zh-CN" altLang="en-US" sz="3200" b="1" dirty="0">
              <a:solidFill>
                <a:schemeClr val="tx1"/>
              </a:solidFill>
            </a:endParaRPr>
          </a:p>
        </p:txBody>
      </p:sp>
      <p:cxnSp>
        <p:nvCxnSpPr>
          <p:cNvPr id="56" name="直接箭头连接符 55">
            <a:extLst>
              <a:ext uri="{FF2B5EF4-FFF2-40B4-BE49-F238E27FC236}">
                <a16:creationId xmlns:a16="http://schemas.microsoft.com/office/drawing/2014/main" id="{A31EF0C6-A5C5-EE01-59C9-2A314F3870B3}"/>
              </a:ext>
            </a:extLst>
          </p:cNvPr>
          <p:cNvCxnSpPr>
            <a:cxnSpLocks/>
            <a:stCxn id="26" idx="0"/>
          </p:cNvCxnSpPr>
          <p:nvPr/>
        </p:nvCxnSpPr>
        <p:spPr>
          <a:xfrm flipH="1" flipV="1">
            <a:off x="22421850" y="3111500"/>
            <a:ext cx="7088" cy="502087"/>
          </a:xfrm>
          <a:prstGeom prst="straightConnector1">
            <a:avLst/>
          </a:prstGeom>
          <a:ln w="63500">
            <a:solidFill>
              <a:schemeClr val="tx1"/>
            </a:solidFill>
            <a:headEnd type="triangl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BA5499F8-C3E4-971A-9098-55A5D0CE3116}"/>
              </a:ext>
            </a:extLst>
          </p:cNvPr>
          <p:cNvCxnSpPr>
            <a:cxnSpLocks/>
            <a:stCxn id="26" idx="1"/>
          </p:cNvCxnSpPr>
          <p:nvPr/>
        </p:nvCxnSpPr>
        <p:spPr>
          <a:xfrm flipH="1">
            <a:off x="17793590" y="6202048"/>
            <a:ext cx="13285" cy="3520788"/>
          </a:xfrm>
          <a:prstGeom prst="straightConnector1">
            <a:avLst/>
          </a:prstGeom>
          <a:ln w="635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547BAD88-9DBF-6F3D-70BD-0BD2A1DAF27A}"/>
              </a:ext>
            </a:extLst>
          </p:cNvPr>
          <p:cNvCxnSpPr>
            <a:cxnSpLocks/>
          </p:cNvCxnSpPr>
          <p:nvPr/>
        </p:nvCxnSpPr>
        <p:spPr>
          <a:xfrm>
            <a:off x="27051000" y="6202048"/>
            <a:ext cx="0" cy="3520788"/>
          </a:xfrm>
          <a:prstGeom prst="straightConnector1">
            <a:avLst/>
          </a:prstGeom>
          <a:ln w="635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9E98A1CB-237D-C325-E141-7AD8600D46E2}"/>
              </a:ext>
            </a:extLst>
          </p:cNvPr>
          <p:cNvSpPr txBox="1"/>
          <p:nvPr/>
        </p:nvSpPr>
        <p:spPr>
          <a:xfrm>
            <a:off x="25615172" y="7893764"/>
            <a:ext cx="954107" cy="707886"/>
          </a:xfrm>
          <a:prstGeom prst="rect">
            <a:avLst/>
          </a:prstGeom>
          <a:noFill/>
        </p:spPr>
        <p:txBody>
          <a:bodyPr wrap="none" rtlCol="0">
            <a:spAutoFit/>
          </a:bodyPr>
          <a:lstStyle/>
          <a:p>
            <a:r>
              <a:rPr lang="en-US" altLang="zh-CN" sz="4000" b="1" dirty="0"/>
              <a:t>NO</a:t>
            </a:r>
            <a:endParaRPr lang="zh-CN" altLang="en-US" sz="4000" b="1" dirty="0"/>
          </a:p>
        </p:txBody>
      </p:sp>
      <p:sp>
        <p:nvSpPr>
          <p:cNvPr id="95" name="文本框 94">
            <a:extLst>
              <a:ext uri="{FF2B5EF4-FFF2-40B4-BE49-F238E27FC236}">
                <a16:creationId xmlns:a16="http://schemas.microsoft.com/office/drawing/2014/main" id="{21A0CAC8-768E-0235-4EE7-5988CD789049}"/>
              </a:ext>
            </a:extLst>
          </p:cNvPr>
          <p:cNvSpPr txBox="1"/>
          <p:nvPr/>
        </p:nvSpPr>
        <p:spPr>
          <a:xfrm>
            <a:off x="19215496" y="464457"/>
            <a:ext cx="6475106" cy="923330"/>
          </a:xfrm>
          <a:prstGeom prst="rect">
            <a:avLst/>
          </a:prstGeom>
          <a:noFill/>
        </p:spPr>
        <p:txBody>
          <a:bodyPr wrap="none" rtlCol="0">
            <a:spAutoFit/>
          </a:bodyPr>
          <a:lstStyle/>
          <a:p>
            <a:r>
              <a:rPr lang="en-US" altLang="zh-CN" sz="5400" b="1" dirty="0"/>
              <a:t>Dynamic Adjustment</a:t>
            </a:r>
            <a:endParaRPr lang="zh-CN" altLang="en-US" sz="5400" b="1" dirty="0"/>
          </a:p>
        </p:txBody>
      </p:sp>
      <p:pic>
        <p:nvPicPr>
          <p:cNvPr id="101" name="图片 100">
            <a:extLst>
              <a:ext uri="{FF2B5EF4-FFF2-40B4-BE49-F238E27FC236}">
                <a16:creationId xmlns:a16="http://schemas.microsoft.com/office/drawing/2014/main" id="{BCACB2C2-ACF8-C0E1-9EF7-C258732C1C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675264"/>
            <a:ext cx="6661692" cy="4996269"/>
          </a:xfrm>
          <a:prstGeom prst="rect">
            <a:avLst/>
          </a:prstGeom>
        </p:spPr>
      </p:pic>
      <p:pic>
        <p:nvPicPr>
          <p:cNvPr id="103" name="图形 102">
            <a:extLst>
              <a:ext uri="{FF2B5EF4-FFF2-40B4-BE49-F238E27FC236}">
                <a16:creationId xmlns:a16="http://schemas.microsoft.com/office/drawing/2014/main" id="{BC209D2F-A1F0-DE5A-9F50-A1564A366A0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73036" y="7800270"/>
            <a:ext cx="2303624" cy="2303624"/>
          </a:xfrm>
          <a:prstGeom prst="rect">
            <a:avLst/>
          </a:prstGeom>
        </p:spPr>
      </p:pic>
      <p:pic>
        <p:nvPicPr>
          <p:cNvPr id="105" name="图形 104">
            <a:extLst>
              <a:ext uri="{FF2B5EF4-FFF2-40B4-BE49-F238E27FC236}">
                <a16:creationId xmlns:a16="http://schemas.microsoft.com/office/drawing/2014/main" id="{230565BA-96DF-0BEF-E60D-4C9F291D1E8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672954" y="9892406"/>
            <a:ext cx="2933092" cy="2933092"/>
          </a:xfrm>
          <a:prstGeom prst="rect">
            <a:avLst/>
          </a:prstGeom>
        </p:spPr>
      </p:pic>
      <p:pic>
        <p:nvPicPr>
          <p:cNvPr id="107" name="图形 106">
            <a:extLst>
              <a:ext uri="{FF2B5EF4-FFF2-40B4-BE49-F238E27FC236}">
                <a16:creationId xmlns:a16="http://schemas.microsoft.com/office/drawing/2014/main" id="{80C256A0-A805-67BA-2AF2-F8475968B2A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98571" y="9555912"/>
            <a:ext cx="3582779" cy="3582779"/>
          </a:xfrm>
          <a:prstGeom prst="rect">
            <a:avLst/>
          </a:prstGeom>
        </p:spPr>
      </p:pic>
      <p:pic>
        <p:nvPicPr>
          <p:cNvPr id="109" name="图形 108">
            <a:extLst>
              <a:ext uri="{FF2B5EF4-FFF2-40B4-BE49-F238E27FC236}">
                <a16:creationId xmlns:a16="http://schemas.microsoft.com/office/drawing/2014/main" id="{55528529-77DB-6066-E37F-78672E9B3B0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694751" y="9848180"/>
            <a:ext cx="2749537" cy="2749537"/>
          </a:xfrm>
          <a:prstGeom prst="rect">
            <a:avLst/>
          </a:prstGeom>
        </p:spPr>
      </p:pic>
      <p:cxnSp>
        <p:nvCxnSpPr>
          <p:cNvPr id="12" name="直接箭头连接符 11">
            <a:extLst>
              <a:ext uri="{FF2B5EF4-FFF2-40B4-BE49-F238E27FC236}">
                <a16:creationId xmlns:a16="http://schemas.microsoft.com/office/drawing/2014/main" id="{1281723C-DD84-B5B1-2A3D-C104F9415384}"/>
              </a:ext>
            </a:extLst>
          </p:cNvPr>
          <p:cNvCxnSpPr/>
          <p:nvPr/>
        </p:nvCxnSpPr>
        <p:spPr>
          <a:xfrm flipV="1">
            <a:off x="17297400" y="3134533"/>
            <a:ext cx="0" cy="6588303"/>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2DAC6D3F-0858-A4B6-DCAC-FE372517583E}"/>
              </a:ext>
            </a:extLst>
          </p:cNvPr>
          <p:cNvCxnSpPr/>
          <p:nvPr/>
        </p:nvCxnSpPr>
        <p:spPr>
          <a:xfrm flipV="1">
            <a:off x="27508200" y="3134533"/>
            <a:ext cx="0" cy="6588303"/>
          </a:xfrm>
          <a:prstGeom prst="straightConnector1">
            <a:avLst/>
          </a:prstGeom>
          <a:ln w="635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6981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2665A52-45C4-A4E0-DA45-B9E505E5E643}"/>
              </a:ext>
            </a:extLst>
          </p:cNvPr>
          <p:cNvSpPr/>
          <p:nvPr/>
        </p:nvSpPr>
        <p:spPr>
          <a:xfrm>
            <a:off x="0" y="0"/>
            <a:ext cx="13208000" cy="18000663"/>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3A10BB1-0887-05EC-C1DF-F50580CFD7A7}"/>
              </a:ext>
            </a:extLst>
          </p:cNvPr>
          <p:cNvSpPr/>
          <p:nvPr/>
        </p:nvSpPr>
        <p:spPr>
          <a:xfrm>
            <a:off x="15592426" y="0"/>
            <a:ext cx="13208000" cy="18000663"/>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A199FC9A-FAAD-3281-8700-7B208E9C15D8}"/>
              </a:ext>
            </a:extLst>
          </p:cNvPr>
          <p:cNvSpPr/>
          <p:nvPr/>
        </p:nvSpPr>
        <p:spPr>
          <a:xfrm>
            <a:off x="3562350" y="386127"/>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12" name="矩形: 圆角 11">
            <a:extLst>
              <a:ext uri="{FF2B5EF4-FFF2-40B4-BE49-F238E27FC236}">
                <a16:creationId xmlns:a16="http://schemas.microsoft.com/office/drawing/2014/main" id="{5D389222-EB1E-8546-4BA2-CA751F6F0665}"/>
              </a:ext>
            </a:extLst>
          </p:cNvPr>
          <p:cNvSpPr/>
          <p:nvPr/>
        </p:nvSpPr>
        <p:spPr>
          <a:xfrm>
            <a:off x="2113089" y="15716250"/>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pic>
        <p:nvPicPr>
          <p:cNvPr id="20" name="图形 19">
            <a:extLst>
              <a:ext uri="{FF2B5EF4-FFF2-40B4-BE49-F238E27FC236}">
                <a16:creationId xmlns:a16="http://schemas.microsoft.com/office/drawing/2014/main" id="{956B3F83-FC7D-2063-F566-A17BCEC9FF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654496" flipH="1">
            <a:off x="19362" y="5558345"/>
            <a:ext cx="3364445" cy="6981814"/>
          </a:xfrm>
          <a:prstGeom prst="rect">
            <a:avLst/>
          </a:prstGeom>
        </p:spPr>
      </p:pic>
      <p:pic>
        <p:nvPicPr>
          <p:cNvPr id="25" name="图形 24">
            <a:extLst>
              <a:ext uri="{FF2B5EF4-FFF2-40B4-BE49-F238E27FC236}">
                <a16:creationId xmlns:a16="http://schemas.microsoft.com/office/drawing/2014/main" id="{6C45552A-4D7D-E5A3-8BFB-EEBF974999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0783" y="563630"/>
            <a:ext cx="2464384" cy="2464384"/>
          </a:xfrm>
          <a:prstGeom prst="rect">
            <a:avLst/>
          </a:prstGeom>
        </p:spPr>
      </p:pic>
      <p:pic>
        <p:nvPicPr>
          <p:cNvPr id="27" name="图形 26">
            <a:extLst>
              <a:ext uri="{FF2B5EF4-FFF2-40B4-BE49-F238E27FC236}">
                <a16:creationId xmlns:a16="http://schemas.microsoft.com/office/drawing/2014/main" id="{6E448BBF-1378-5A89-86B7-14D0EC54188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509216" y="410217"/>
            <a:ext cx="2771209" cy="2771209"/>
          </a:xfrm>
          <a:prstGeom prst="rect">
            <a:avLst/>
          </a:prstGeom>
        </p:spPr>
      </p:pic>
      <p:pic>
        <p:nvPicPr>
          <p:cNvPr id="29" name="图形 28">
            <a:extLst>
              <a:ext uri="{FF2B5EF4-FFF2-40B4-BE49-F238E27FC236}">
                <a16:creationId xmlns:a16="http://schemas.microsoft.com/office/drawing/2014/main" id="{3A5B2964-6B27-17F9-F422-188663876E4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7008457">
            <a:off x="13464036" y="2514271"/>
            <a:ext cx="2027667" cy="3930263"/>
          </a:xfrm>
          <a:prstGeom prst="rect">
            <a:avLst/>
          </a:prstGeom>
        </p:spPr>
      </p:pic>
      <p:pic>
        <p:nvPicPr>
          <p:cNvPr id="30" name="图形 29">
            <a:extLst>
              <a:ext uri="{FF2B5EF4-FFF2-40B4-BE49-F238E27FC236}">
                <a16:creationId xmlns:a16="http://schemas.microsoft.com/office/drawing/2014/main" id="{F9869072-4254-E4DB-A0EC-834E890A213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5214994" flipH="1">
            <a:off x="13225797" y="11610829"/>
            <a:ext cx="2163867" cy="4194263"/>
          </a:xfrm>
          <a:prstGeom prst="rect">
            <a:avLst/>
          </a:prstGeom>
        </p:spPr>
      </p:pic>
      <p:sp>
        <p:nvSpPr>
          <p:cNvPr id="32" name="带形: 上凸 31">
            <a:extLst>
              <a:ext uri="{FF2B5EF4-FFF2-40B4-BE49-F238E27FC236}">
                <a16:creationId xmlns:a16="http://schemas.microsoft.com/office/drawing/2014/main" id="{FE01D062-BE10-CAFC-983C-4291FD8B882C}"/>
              </a:ext>
            </a:extLst>
          </p:cNvPr>
          <p:cNvSpPr/>
          <p:nvPr/>
        </p:nvSpPr>
        <p:spPr>
          <a:xfrm>
            <a:off x="7943850" y="7660676"/>
            <a:ext cx="12908098" cy="2237969"/>
          </a:xfrm>
          <a:prstGeom prst="ribbon2">
            <a:avLst/>
          </a:prstGeom>
          <a:solidFill>
            <a:srgbClr val="FFC7C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AF79DCF5-1AF2-B3E6-B44C-29B512826AD0}"/>
              </a:ext>
            </a:extLst>
          </p:cNvPr>
          <p:cNvSpPr txBox="1"/>
          <p:nvPr/>
        </p:nvSpPr>
        <p:spPr>
          <a:xfrm>
            <a:off x="11564431" y="7804407"/>
            <a:ext cx="5666936" cy="1446550"/>
          </a:xfrm>
          <a:prstGeom prst="rect">
            <a:avLst/>
          </a:prstGeom>
          <a:noFill/>
        </p:spPr>
        <p:txBody>
          <a:bodyPr wrap="none" rtlCol="0">
            <a:spAutoFit/>
          </a:bodyPr>
          <a:lstStyle/>
          <a:p>
            <a:r>
              <a:rPr lang="en-US" altLang="zh-CN" sz="8800" dirty="0"/>
              <a:t>Battery Life</a:t>
            </a:r>
            <a:endParaRPr lang="zh-CN" altLang="en-US" sz="8800" dirty="0"/>
          </a:p>
        </p:txBody>
      </p:sp>
      <p:sp>
        <p:nvSpPr>
          <p:cNvPr id="33" name="矩形: 圆角 32">
            <a:extLst>
              <a:ext uri="{FF2B5EF4-FFF2-40B4-BE49-F238E27FC236}">
                <a16:creationId xmlns:a16="http://schemas.microsoft.com/office/drawing/2014/main" id="{AF6ADECA-11BD-502E-2656-99A8A4FE0FA3}"/>
              </a:ext>
            </a:extLst>
          </p:cNvPr>
          <p:cNvSpPr/>
          <p:nvPr/>
        </p:nvSpPr>
        <p:spPr>
          <a:xfrm>
            <a:off x="2113089" y="13586913"/>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34" name="矩形: 圆角 33">
            <a:extLst>
              <a:ext uri="{FF2B5EF4-FFF2-40B4-BE49-F238E27FC236}">
                <a16:creationId xmlns:a16="http://schemas.microsoft.com/office/drawing/2014/main" id="{765310D6-3022-A973-B86D-7A96B777545E}"/>
              </a:ext>
            </a:extLst>
          </p:cNvPr>
          <p:cNvSpPr/>
          <p:nvPr/>
        </p:nvSpPr>
        <p:spPr>
          <a:xfrm>
            <a:off x="2113089" y="11424045"/>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35" name="矩形: 圆角 34">
            <a:extLst>
              <a:ext uri="{FF2B5EF4-FFF2-40B4-BE49-F238E27FC236}">
                <a16:creationId xmlns:a16="http://schemas.microsoft.com/office/drawing/2014/main" id="{1E728F1C-F290-0324-4A9B-8300A76C40FB}"/>
              </a:ext>
            </a:extLst>
          </p:cNvPr>
          <p:cNvSpPr/>
          <p:nvPr/>
        </p:nvSpPr>
        <p:spPr>
          <a:xfrm>
            <a:off x="16625143" y="15716250"/>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36" name="矩形: 圆角 35">
            <a:extLst>
              <a:ext uri="{FF2B5EF4-FFF2-40B4-BE49-F238E27FC236}">
                <a16:creationId xmlns:a16="http://schemas.microsoft.com/office/drawing/2014/main" id="{69342FFB-4657-0565-4FF9-8E2A77048931}"/>
              </a:ext>
            </a:extLst>
          </p:cNvPr>
          <p:cNvSpPr/>
          <p:nvPr/>
        </p:nvSpPr>
        <p:spPr>
          <a:xfrm>
            <a:off x="16625143" y="13586913"/>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sp>
        <p:nvSpPr>
          <p:cNvPr id="37" name="矩形: 圆角 36">
            <a:extLst>
              <a:ext uri="{FF2B5EF4-FFF2-40B4-BE49-F238E27FC236}">
                <a16:creationId xmlns:a16="http://schemas.microsoft.com/office/drawing/2014/main" id="{32C67E2E-E6A4-34AD-4E07-0965B6070B9D}"/>
              </a:ext>
            </a:extLst>
          </p:cNvPr>
          <p:cNvSpPr/>
          <p:nvPr/>
        </p:nvSpPr>
        <p:spPr>
          <a:xfrm>
            <a:off x="16625143" y="11424045"/>
            <a:ext cx="9639153" cy="1888788"/>
          </a:xfrm>
          <a:prstGeom prst="roundRect">
            <a:avLst>
              <a:gd name="adj" fmla="val 1372"/>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pic>
        <p:nvPicPr>
          <p:cNvPr id="21" name="图形 20">
            <a:extLst>
              <a:ext uri="{FF2B5EF4-FFF2-40B4-BE49-F238E27FC236}">
                <a16:creationId xmlns:a16="http://schemas.microsoft.com/office/drawing/2014/main" id="{AAA029D3-6871-496B-5606-962FAF674C0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1142315" flipV="1">
            <a:off x="25458395" y="4047386"/>
            <a:ext cx="2962387" cy="7514042"/>
          </a:xfrm>
          <a:prstGeom prst="rect">
            <a:avLst/>
          </a:prstGeom>
        </p:spPr>
      </p:pic>
      <p:sp>
        <p:nvSpPr>
          <p:cNvPr id="41" name="矩形: 圆角 40">
            <a:extLst>
              <a:ext uri="{FF2B5EF4-FFF2-40B4-BE49-F238E27FC236}">
                <a16:creationId xmlns:a16="http://schemas.microsoft.com/office/drawing/2014/main" id="{E481626B-D82A-7F8B-5D77-A5286BE31C8F}"/>
              </a:ext>
            </a:extLst>
          </p:cNvPr>
          <p:cNvSpPr/>
          <p:nvPr/>
        </p:nvSpPr>
        <p:spPr>
          <a:xfrm>
            <a:off x="3562350" y="2760920"/>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2" name="矩形: 圆角 41">
            <a:extLst>
              <a:ext uri="{FF2B5EF4-FFF2-40B4-BE49-F238E27FC236}">
                <a16:creationId xmlns:a16="http://schemas.microsoft.com/office/drawing/2014/main" id="{A01CB10E-62AC-D392-1261-BA62E6B04381}"/>
              </a:ext>
            </a:extLst>
          </p:cNvPr>
          <p:cNvSpPr/>
          <p:nvPr/>
        </p:nvSpPr>
        <p:spPr>
          <a:xfrm>
            <a:off x="3562350" y="5230714"/>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3" name="矩形: 圆角 42">
            <a:extLst>
              <a:ext uri="{FF2B5EF4-FFF2-40B4-BE49-F238E27FC236}">
                <a16:creationId xmlns:a16="http://schemas.microsoft.com/office/drawing/2014/main" id="{E2C40380-B9D5-463F-E2D7-03154580C8E4}"/>
              </a:ext>
            </a:extLst>
          </p:cNvPr>
          <p:cNvSpPr/>
          <p:nvPr/>
        </p:nvSpPr>
        <p:spPr>
          <a:xfrm>
            <a:off x="16594392" y="386127"/>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4" name="矩形: 圆角 43">
            <a:extLst>
              <a:ext uri="{FF2B5EF4-FFF2-40B4-BE49-F238E27FC236}">
                <a16:creationId xmlns:a16="http://schemas.microsoft.com/office/drawing/2014/main" id="{058D197C-0F46-1017-5F92-287D38F81A31}"/>
              </a:ext>
            </a:extLst>
          </p:cNvPr>
          <p:cNvSpPr/>
          <p:nvPr/>
        </p:nvSpPr>
        <p:spPr>
          <a:xfrm>
            <a:off x="16594392" y="2760920"/>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5" name="矩形: 圆角 44">
            <a:extLst>
              <a:ext uri="{FF2B5EF4-FFF2-40B4-BE49-F238E27FC236}">
                <a16:creationId xmlns:a16="http://schemas.microsoft.com/office/drawing/2014/main" id="{B8F01CFA-56B8-539C-2342-5231A9C28980}"/>
              </a:ext>
            </a:extLst>
          </p:cNvPr>
          <p:cNvSpPr/>
          <p:nvPr/>
        </p:nvSpPr>
        <p:spPr>
          <a:xfrm>
            <a:off x="16594392" y="5230714"/>
            <a:ext cx="8515111" cy="2138836"/>
          </a:xfrm>
          <a:prstGeom prst="roundRect">
            <a:avLst>
              <a:gd name="adj" fmla="val 1372"/>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600" b="1" dirty="0">
                <a:solidFill>
                  <a:schemeClr val="tx1"/>
                </a:solidFill>
              </a:rPr>
              <a:t>GPS always on</a:t>
            </a:r>
            <a:endParaRPr lang="zh-CN" altLang="en-US" sz="6600" b="1" dirty="0">
              <a:solidFill>
                <a:schemeClr val="tx1"/>
              </a:solidFill>
            </a:endParaRPr>
          </a:p>
        </p:txBody>
      </p:sp>
      <p:sp>
        <p:nvSpPr>
          <p:cNvPr id="46" name="矩形: 圆角 45">
            <a:extLst>
              <a:ext uri="{FF2B5EF4-FFF2-40B4-BE49-F238E27FC236}">
                <a16:creationId xmlns:a16="http://schemas.microsoft.com/office/drawing/2014/main" id="{0805D524-D0B4-87EF-19B6-96B1AD3BAEF4}"/>
              </a:ext>
            </a:extLst>
          </p:cNvPr>
          <p:cNvSpPr/>
          <p:nvPr/>
        </p:nvSpPr>
        <p:spPr>
          <a:xfrm>
            <a:off x="12258279" y="2040276"/>
            <a:ext cx="4098902" cy="1479993"/>
          </a:xfrm>
          <a:prstGeom prst="roundRect">
            <a:avLst>
              <a:gd name="adj" fmla="val 44218"/>
            </a:avLst>
          </a:prstGeom>
          <a:solidFill>
            <a:srgbClr val="A3AED5"/>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tx1"/>
                </a:solidFill>
              </a:rPr>
              <a:t>User</a:t>
            </a:r>
            <a:endParaRPr lang="zh-CN" altLang="en-US" sz="6000" b="1" dirty="0">
              <a:solidFill>
                <a:schemeClr val="tx1"/>
              </a:solidFill>
            </a:endParaRPr>
          </a:p>
        </p:txBody>
      </p:sp>
      <p:sp>
        <p:nvSpPr>
          <p:cNvPr id="47" name="矩形: 圆角 46">
            <a:extLst>
              <a:ext uri="{FF2B5EF4-FFF2-40B4-BE49-F238E27FC236}">
                <a16:creationId xmlns:a16="http://schemas.microsoft.com/office/drawing/2014/main" id="{A2160621-E197-E762-ADC3-BB9D68B9A059}"/>
              </a:ext>
            </a:extLst>
          </p:cNvPr>
          <p:cNvSpPr/>
          <p:nvPr/>
        </p:nvSpPr>
        <p:spPr>
          <a:xfrm>
            <a:off x="12057285" y="14667095"/>
            <a:ext cx="4366863" cy="2325505"/>
          </a:xfrm>
          <a:prstGeom prst="roundRect">
            <a:avLst>
              <a:gd name="adj" fmla="val 44218"/>
            </a:avLst>
          </a:prstGeom>
          <a:solidFill>
            <a:srgbClr val="9CD7E4"/>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6000" b="1" dirty="0">
                <a:solidFill>
                  <a:schemeClr val="tx1"/>
                </a:solidFill>
              </a:rPr>
              <a:t>Operating</a:t>
            </a:r>
            <a:r>
              <a:rPr lang="en-US" altLang="zh-CN" sz="4400" b="1" dirty="0">
                <a:solidFill>
                  <a:schemeClr val="tx1"/>
                </a:solidFill>
              </a:rPr>
              <a:t> </a:t>
            </a:r>
            <a:r>
              <a:rPr lang="en-US" altLang="zh-CN" sz="6000" b="1" dirty="0">
                <a:solidFill>
                  <a:schemeClr val="tx1"/>
                </a:solidFill>
              </a:rPr>
              <a:t>System</a:t>
            </a:r>
            <a:endParaRPr lang="zh-CN" altLang="en-US" sz="6000" b="1" dirty="0">
              <a:solidFill>
                <a:schemeClr val="tx1"/>
              </a:solidFill>
            </a:endParaRPr>
          </a:p>
        </p:txBody>
      </p:sp>
    </p:spTree>
    <p:extLst>
      <p:ext uri="{BB962C8B-B14F-4D97-AF65-F5344CB8AC3E}">
        <p14:creationId xmlns:p14="http://schemas.microsoft.com/office/powerpoint/2010/main" val="2179897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65B64-E22F-E56E-3CA6-BE2CE89F8C0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63F29A5-F32E-D858-1558-2D794147E7BC}"/>
              </a:ext>
            </a:extLst>
          </p:cNvPr>
          <p:cNvSpPr/>
          <p:nvPr/>
        </p:nvSpPr>
        <p:spPr>
          <a:xfrm>
            <a:off x="1" y="0"/>
            <a:ext cx="19304000" cy="7137221"/>
          </a:xfrm>
          <a:prstGeom prst="rect">
            <a:avLst/>
          </a:prstGeom>
          <a:solidFill>
            <a:srgbClr val="F5FFF5"/>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C8C1CD30-161C-08C5-F1AF-4887F15CCF07}"/>
              </a:ext>
            </a:extLst>
          </p:cNvPr>
          <p:cNvSpPr txBox="1"/>
          <p:nvPr/>
        </p:nvSpPr>
        <p:spPr>
          <a:xfrm>
            <a:off x="356196" y="271726"/>
            <a:ext cx="5092104" cy="646331"/>
          </a:xfrm>
          <a:prstGeom prst="rect">
            <a:avLst/>
          </a:prstGeom>
          <a:noFill/>
        </p:spPr>
        <p:txBody>
          <a:bodyPr wrap="square" rtlCol="0">
            <a:spAutoFit/>
          </a:bodyPr>
          <a:lstStyle/>
          <a:p>
            <a:r>
              <a:rPr lang="en-US" altLang="zh-CN" sz="3600" b="1" dirty="0"/>
              <a:t>Step 1: Basic Connection</a:t>
            </a:r>
            <a:endParaRPr lang="zh-CN" altLang="en-US" sz="3600" b="1" dirty="0"/>
          </a:p>
        </p:txBody>
      </p:sp>
      <p:sp>
        <p:nvSpPr>
          <p:cNvPr id="4" name="文本框 3">
            <a:extLst>
              <a:ext uri="{FF2B5EF4-FFF2-40B4-BE49-F238E27FC236}">
                <a16:creationId xmlns:a16="http://schemas.microsoft.com/office/drawing/2014/main" id="{E201EEAE-3178-0120-1E27-949B4AA5BC71}"/>
              </a:ext>
            </a:extLst>
          </p:cNvPr>
          <p:cNvSpPr txBox="1"/>
          <p:nvPr/>
        </p:nvSpPr>
        <p:spPr>
          <a:xfrm>
            <a:off x="356195" y="847249"/>
            <a:ext cx="15574214" cy="646331"/>
          </a:xfrm>
          <a:prstGeom prst="rect">
            <a:avLst/>
          </a:prstGeom>
          <a:noFill/>
        </p:spPr>
        <p:txBody>
          <a:bodyPr wrap="square" rtlCol="0">
            <a:spAutoFit/>
          </a:bodyPr>
          <a:lstStyle/>
          <a:p>
            <a:r>
              <a:rPr lang="en-US" altLang="zh-CN" sz="3600" b="1" dirty="0"/>
              <a:t>(SOC Model)</a:t>
            </a:r>
            <a:endParaRPr lang="zh-CN" altLang="en-US" sz="3600" b="1" dirty="0"/>
          </a:p>
        </p:txBody>
      </p:sp>
      <p:sp>
        <p:nvSpPr>
          <p:cNvPr id="5" name="矩形: 圆角 4">
            <a:extLst>
              <a:ext uri="{FF2B5EF4-FFF2-40B4-BE49-F238E27FC236}">
                <a16:creationId xmlns:a16="http://schemas.microsoft.com/office/drawing/2014/main" id="{226F6C16-0404-68DC-B207-0A3EB6D70814}"/>
              </a:ext>
            </a:extLst>
          </p:cNvPr>
          <p:cNvSpPr/>
          <p:nvPr/>
        </p:nvSpPr>
        <p:spPr>
          <a:xfrm>
            <a:off x="-15039455" y="17144309"/>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77E37D42-F3C0-EC69-4147-482FD1B82CE4}"/>
              </a:ext>
            </a:extLst>
          </p:cNvPr>
          <p:cNvSpPr/>
          <p:nvPr/>
        </p:nvSpPr>
        <p:spPr>
          <a:xfrm>
            <a:off x="-15039455" y="18830671"/>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C6C8A24C-4A46-E178-35FD-9C1609C2C185}"/>
              </a:ext>
            </a:extLst>
          </p:cNvPr>
          <p:cNvSpPr/>
          <p:nvPr/>
        </p:nvSpPr>
        <p:spPr>
          <a:xfrm>
            <a:off x="-15039455" y="20517033"/>
            <a:ext cx="3627619" cy="1469037"/>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E4B3ACD7-A58B-5A7A-7C43-9EC6B55168A9}"/>
              </a:ext>
            </a:extLst>
          </p:cNvPr>
          <p:cNvCxnSpPr>
            <a:cxnSpLocks/>
            <a:stCxn id="5" idx="3"/>
            <a:endCxn id="11" idx="1"/>
          </p:cNvCxnSpPr>
          <p:nvPr/>
        </p:nvCxnSpPr>
        <p:spPr>
          <a:xfrm flipV="1">
            <a:off x="-11411836" y="17878827"/>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1" name="矩形: 圆角 10">
            <a:extLst>
              <a:ext uri="{FF2B5EF4-FFF2-40B4-BE49-F238E27FC236}">
                <a16:creationId xmlns:a16="http://schemas.microsoft.com/office/drawing/2014/main" id="{82176BC1-CC72-0BC0-83F4-1657CA49F0EB}"/>
              </a:ext>
            </a:extLst>
          </p:cNvPr>
          <p:cNvSpPr/>
          <p:nvPr/>
        </p:nvSpPr>
        <p:spPr>
          <a:xfrm>
            <a:off x="-10346820" y="17144308"/>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9EEF6F43-369C-C47D-C372-A69C76452CCB}"/>
              </a:ext>
            </a:extLst>
          </p:cNvPr>
          <p:cNvSpPr/>
          <p:nvPr/>
        </p:nvSpPr>
        <p:spPr>
          <a:xfrm>
            <a:off x="-10346820" y="18830670"/>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242DB98D-C5A5-851B-AAA2-C8D38CDA530A}"/>
              </a:ext>
            </a:extLst>
          </p:cNvPr>
          <p:cNvSpPr/>
          <p:nvPr/>
        </p:nvSpPr>
        <p:spPr>
          <a:xfrm>
            <a:off x="-10346820" y="20517032"/>
            <a:ext cx="3627619" cy="1469037"/>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202AE375-BCDD-6D8D-0732-4F667651044B}"/>
              </a:ext>
            </a:extLst>
          </p:cNvPr>
          <p:cNvCxnSpPr>
            <a:cxnSpLocks/>
          </p:cNvCxnSpPr>
          <p:nvPr/>
        </p:nvCxnSpPr>
        <p:spPr>
          <a:xfrm flipV="1">
            <a:off x="-11411836" y="1956518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16" name="直接箭头连接符 15">
            <a:extLst>
              <a:ext uri="{FF2B5EF4-FFF2-40B4-BE49-F238E27FC236}">
                <a16:creationId xmlns:a16="http://schemas.microsoft.com/office/drawing/2014/main" id="{7623BCF6-9C7E-721B-FB7F-D60D797AB85E}"/>
              </a:ext>
            </a:extLst>
          </p:cNvPr>
          <p:cNvCxnSpPr>
            <a:cxnSpLocks/>
          </p:cNvCxnSpPr>
          <p:nvPr/>
        </p:nvCxnSpPr>
        <p:spPr>
          <a:xfrm flipV="1">
            <a:off x="-11411836" y="21251548"/>
            <a:ext cx="1065016" cy="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18" name="矩形: 圆角 17">
            <a:extLst>
              <a:ext uri="{FF2B5EF4-FFF2-40B4-BE49-F238E27FC236}">
                <a16:creationId xmlns:a16="http://schemas.microsoft.com/office/drawing/2014/main" id="{6CB09850-89DF-0754-0014-B2F5F495C07A}"/>
              </a:ext>
            </a:extLst>
          </p:cNvPr>
          <p:cNvSpPr/>
          <p:nvPr/>
        </p:nvSpPr>
        <p:spPr>
          <a:xfrm>
            <a:off x="11722072" y="2573381"/>
            <a:ext cx="7271252" cy="2944559"/>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矩形: 圆角 18">
            <a:extLst>
              <a:ext uri="{FF2B5EF4-FFF2-40B4-BE49-F238E27FC236}">
                <a16:creationId xmlns:a16="http://schemas.microsoft.com/office/drawing/2014/main" id="{EFFE89BE-0937-82E4-EAC8-19E0FEEC406D}"/>
              </a:ext>
            </a:extLst>
          </p:cNvPr>
          <p:cNvSpPr/>
          <p:nvPr/>
        </p:nvSpPr>
        <p:spPr>
          <a:xfrm>
            <a:off x="-4817891" y="19745003"/>
            <a:ext cx="3627619" cy="1469037"/>
          </a:xfrm>
          <a:prstGeom prst="roundRect">
            <a:avLst/>
          </a:prstGeom>
          <a:solidFill>
            <a:srgbClr val="FBF4FC"/>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6AE0E9A5-2FAF-CB67-BCCD-F55E9C966C87}"/>
              </a:ext>
            </a:extLst>
          </p:cNvPr>
          <p:cNvCxnSpPr>
            <a:cxnSpLocks/>
            <a:stCxn id="11" idx="3"/>
          </p:cNvCxnSpPr>
          <p:nvPr/>
        </p:nvCxnSpPr>
        <p:spPr>
          <a:xfrm>
            <a:off x="-6719201" y="17878827"/>
            <a:ext cx="1633215" cy="1686361"/>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29" name="直接箭头连接符 28">
            <a:extLst>
              <a:ext uri="{FF2B5EF4-FFF2-40B4-BE49-F238E27FC236}">
                <a16:creationId xmlns:a16="http://schemas.microsoft.com/office/drawing/2014/main" id="{5D0BE89E-BE3E-0EAD-D39D-8F32465034A5}"/>
              </a:ext>
            </a:extLst>
          </p:cNvPr>
          <p:cNvCxnSpPr>
            <a:cxnSpLocks/>
            <a:stCxn id="12" idx="3"/>
          </p:cNvCxnSpPr>
          <p:nvPr/>
        </p:nvCxnSpPr>
        <p:spPr>
          <a:xfrm>
            <a:off x="-6719201" y="19565189"/>
            <a:ext cx="6160244" cy="0"/>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cxnSp>
        <p:nvCxnSpPr>
          <p:cNvPr id="32" name="直接箭头连接符 31">
            <a:extLst>
              <a:ext uri="{FF2B5EF4-FFF2-40B4-BE49-F238E27FC236}">
                <a16:creationId xmlns:a16="http://schemas.microsoft.com/office/drawing/2014/main" id="{E10AFAEC-5651-0A2C-A7FC-18C9ED036D40}"/>
              </a:ext>
            </a:extLst>
          </p:cNvPr>
          <p:cNvCxnSpPr>
            <a:cxnSpLocks/>
            <a:stCxn id="13" idx="3"/>
          </p:cNvCxnSpPr>
          <p:nvPr/>
        </p:nvCxnSpPr>
        <p:spPr>
          <a:xfrm flipV="1">
            <a:off x="-6719201" y="19565186"/>
            <a:ext cx="1633215" cy="1686365"/>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sp>
        <p:nvSpPr>
          <p:cNvPr id="35" name="矩形 34">
            <a:extLst>
              <a:ext uri="{FF2B5EF4-FFF2-40B4-BE49-F238E27FC236}">
                <a16:creationId xmlns:a16="http://schemas.microsoft.com/office/drawing/2014/main" id="{4A5B8A86-0906-5A9E-25D8-86B1B5AB19D3}"/>
              </a:ext>
            </a:extLst>
          </p:cNvPr>
          <p:cNvSpPr/>
          <p:nvPr/>
        </p:nvSpPr>
        <p:spPr>
          <a:xfrm>
            <a:off x="-558957" y="18931839"/>
            <a:ext cx="3781842" cy="1266693"/>
          </a:xfrm>
          <a:prstGeom prst="rect">
            <a:avLst/>
          </a:prstGeom>
          <a:solidFill>
            <a:srgbClr val="FFFF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AFCF7149-1638-17D9-4234-3F0E5A775832}"/>
              </a:ext>
            </a:extLst>
          </p:cNvPr>
          <p:cNvSpPr/>
          <p:nvPr/>
        </p:nvSpPr>
        <p:spPr>
          <a:xfrm>
            <a:off x="19699793" y="1"/>
            <a:ext cx="9100632" cy="15659094"/>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BE0D8FC3-8B66-1421-14BE-F9E0169A0F5F}"/>
              </a:ext>
            </a:extLst>
          </p:cNvPr>
          <p:cNvSpPr txBox="1"/>
          <p:nvPr/>
        </p:nvSpPr>
        <p:spPr>
          <a:xfrm>
            <a:off x="19976039" y="304117"/>
            <a:ext cx="6542674" cy="646331"/>
          </a:xfrm>
          <a:prstGeom prst="rect">
            <a:avLst/>
          </a:prstGeom>
          <a:noFill/>
        </p:spPr>
        <p:txBody>
          <a:bodyPr wrap="square" rtlCol="0">
            <a:spAutoFit/>
          </a:bodyPr>
          <a:lstStyle/>
          <a:p>
            <a:r>
              <a:rPr lang="en-US" altLang="zh-CN" sz="3600" b="1" dirty="0"/>
              <a:t>Step 2: Expanding the Model</a:t>
            </a:r>
            <a:endParaRPr lang="zh-CN" altLang="en-US" sz="3600" b="1" dirty="0"/>
          </a:p>
        </p:txBody>
      </p:sp>
      <p:sp>
        <p:nvSpPr>
          <p:cNvPr id="41" name="文本框 40">
            <a:extLst>
              <a:ext uri="{FF2B5EF4-FFF2-40B4-BE49-F238E27FC236}">
                <a16:creationId xmlns:a16="http://schemas.microsoft.com/office/drawing/2014/main" id="{758C6923-E9B4-0FE4-3299-0D592CD84EE2}"/>
              </a:ext>
            </a:extLst>
          </p:cNvPr>
          <p:cNvSpPr txBox="1"/>
          <p:nvPr/>
        </p:nvSpPr>
        <p:spPr>
          <a:xfrm>
            <a:off x="19978269" y="950448"/>
            <a:ext cx="7757627" cy="646331"/>
          </a:xfrm>
          <a:prstGeom prst="rect">
            <a:avLst/>
          </a:prstGeom>
          <a:noFill/>
        </p:spPr>
        <p:txBody>
          <a:bodyPr wrap="square" rtlCol="0">
            <a:spAutoFit/>
          </a:bodyPr>
          <a:lstStyle/>
          <a:p>
            <a:r>
              <a:rPr lang="en-US" altLang="zh-CN" sz="3600" b="1" dirty="0"/>
              <a:t>(Expand SOC Model)</a:t>
            </a:r>
            <a:endParaRPr lang="zh-CN" altLang="en-US" sz="3600" b="1" dirty="0"/>
          </a:p>
        </p:txBody>
      </p:sp>
      <p:sp>
        <p:nvSpPr>
          <p:cNvPr id="47" name="箭头: 下 46">
            <a:extLst>
              <a:ext uri="{FF2B5EF4-FFF2-40B4-BE49-F238E27FC236}">
                <a16:creationId xmlns:a16="http://schemas.microsoft.com/office/drawing/2014/main" id="{0356CF5D-70BD-3706-F13A-D2A607886EF8}"/>
              </a:ext>
            </a:extLst>
          </p:cNvPr>
          <p:cNvSpPr/>
          <p:nvPr/>
        </p:nvSpPr>
        <p:spPr>
          <a:xfrm>
            <a:off x="23719277" y="9319890"/>
            <a:ext cx="1280960" cy="2027729"/>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a:extLst>
              <a:ext uri="{FF2B5EF4-FFF2-40B4-BE49-F238E27FC236}">
                <a16:creationId xmlns:a16="http://schemas.microsoft.com/office/drawing/2014/main" id="{1BAEA1AC-69C7-5832-CA52-F5F99A01A5D9}"/>
              </a:ext>
            </a:extLst>
          </p:cNvPr>
          <p:cNvCxnSpPr>
            <a:cxnSpLocks/>
          </p:cNvCxnSpPr>
          <p:nvPr/>
        </p:nvCxnSpPr>
        <p:spPr>
          <a:xfrm>
            <a:off x="19304001" y="4078276"/>
            <a:ext cx="395792"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cxnSp>
        <p:nvCxnSpPr>
          <p:cNvPr id="55" name="直接箭头连接符 54">
            <a:extLst>
              <a:ext uri="{FF2B5EF4-FFF2-40B4-BE49-F238E27FC236}">
                <a16:creationId xmlns:a16="http://schemas.microsoft.com/office/drawing/2014/main" id="{2AEFA3D0-E229-2BCF-CEF9-61C348D7152D}"/>
              </a:ext>
            </a:extLst>
          </p:cNvPr>
          <p:cNvCxnSpPr>
            <a:cxnSpLocks/>
          </p:cNvCxnSpPr>
          <p:nvPr/>
        </p:nvCxnSpPr>
        <p:spPr>
          <a:xfrm flipH="1">
            <a:off x="19304003" y="11717684"/>
            <a:ext cx="395790" cy="0"/>
          </a:xfrm>
          <a:prstGeom prst="straightConnector1">
            <a:avLst/>
          </a:prstGeom>
          <a:ln w="50800">
            <a:tailEnd type="triangle" w="lg" len="sm"/>
          </a:ln>
        </p:spPr>
        <p:style>
          <a:lnRef idx="3">
            <a:schemeClr val="dk1"/>
          </a:lnRef>
          <a:fillRef idx="0">
            <a:schemeClr val="dk1"/>
          </a:fillRef>
          <a:effectRef idx="2">
            <a:schemeClr val="dk1"/>
          </a:effectRef>
          <a:fontRef idx="minor">
            <a:schemeClr val="tx1"/>
          </a:fontRef>
        </p:style>
      </p:cxnSp>
      <p:sp>
        <p:nvSpPr>
          <p:cNvPr id="56" name="矩形 55">
            <a:extLst>
              <a:ext uri="{FF2B5EF4-FFF2-40B4-BE49-F238E27FC236}">
                <a16:creationId xmlns:a16="http://schemas.microsoft.com/office/drawing/2014/main" id="{6E28776B-5E96-ED36-0FF4-DEB475CA4848}"/>
              </a:ext>
            </a:extLst>
          </p:cNvPr>
          <p:cNvSpPr/>
          <p:nvPr/>
        </p:nvSpPr>
        <p:spPr>
          <a:xfrm>
            <a:off x="13159351" y="7770571"/>
            <a:ext cx="6144649" cy="7888527"/>
          </a:xfrm>
          <a:prstGeom prst="rect">
            <a:avLst/>
          </a:prstGeom>
          <a:solidFill>
            <a:srgbClr val="FCF1E0"/>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矩形 76">
            <a:extLst>
              <a:ext uri="{FF2B5EF4-FFF2-40B4-BE49-F238E27FC236}">
                <a16:creationId xmlns:a16="http://schemas.microsoft.com/office/drawing/2014/main" id="{6323A8BD-10D7-E38C-9681-A591EE3E72CC}"/>
              </a:ext>
            </a:extLst>
          </p:cNvPr>
          <p:cNvSpPr/>
          <p:nvPr/>
        </p:nvSpPr>
        <p:spPr>
          <a:xfrm>
            <a:off x="6816805" y="7770571"/>
            <a:ext cx="6144649" cy="7888521"/>
          </a:xfrm>
          <a:prstGeom prst="rect">
            <a:avLst/>
          </a:prstGeom>
          <a:solidFill>
            <a:srgbClr val="EDF7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9F30F4B0-6AB0-8482-82A7-1D99C9D5B891}"/>
              </a:ext>
            </a:extLst>
          </p:cNvPr>
          <p:cNvSpPr/>
          <p:nvPr/>
        </p:nvSpPr>
        <p:spPr>
          <a:xfrm>
            <a:off x="0" y="7770572"/>
            <a:ext cx="6592554" cy="7888520"/>
          </a:xfrm>
          <a:prstGeom prst="rect">
            <a:avLst/>
          </a:prstGeom>
          <a:solidFill>
            <a:srgbClr val="E5FCFF"/>
          </a:solidFill>
          <a:ln w="5080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文本框 80">
            <a:extLst>
              <a:ext uri="{FF2B5EF4-FFF2-40B4-BE49-F238E27FC236}">
                <a16:creationId xmlns:a16="http://schemas.microsoft.com/office/drawing/2014/main" id="{58A230A9-F4F4-8D96-F150-D3E72A052017}"/>
              </a:ext>
            </a:extLst>
          </p:cNvPr>
          <p:cNvSpPr txBox="1"/>
          <p:nvPr/>
        </p:nvSpPr>
        <p:spPr>
          <a:xfrm>
            <a:off x="13485298" y="8052175"/>
            <a:ext cx="5608192" cy="1200329"/>
          </a:xfrm>
          <a:prstGeom prst="rect">
            <a:avLst/>
          </a:prstGeom>
          <a:noFill/>
        </p:spPr>
        <p:txBody>
          <a:bodyPr wrap="square" rtlCol="0">
            <a:spAutoFit/>
          </a:bodyPr>
          <a:lstStyle/>
          <a:p>
            <a:r>
              <a:rPr lang="en-US" altLang="zh-CN" sz="3600" b="1" dirty="0"/>
              <a:t>Step 3: Model Prediction 				 &amp; Result Analysis</a:t>
            </a:r>
            <a:endParaRPr lang="zh-CN" altLang="en-US" sz="3600" b="1" dirty="0"/>
          </a:p>
        </p:txBody>
      </p:sp>
      <p:sp>
        <p:nvSpPr>
          <p:cNvPr id="82" name="文本框 81">
            <a:extLst>
              <a:ext uri="{FF2B5EF4-FFF2-40B4-BE49-F238E27FC236}">
                <a16:creationId xmlns:a16="http://schemas.microsoft.com/office/drawing/2014/main" id="{EA83D154-1BED-E147-77E9-2EA97FBBF69B}"/>
              </a:ext>
            </a:extLst>
          </p:cNvPr>
          <p:cNvSpPr txBox="1"/>
          <p:nvPr/>
        </p:nvSpPr>
        <p:spPr>
          <a:xfrm>
            <a:off x="6855780" y="8052175"/>
            <a:ext cx="5777463" cy="646331"/>
          </a:xfrm>
          <a:prstGeom prst="rect">
            <a:avLst/>
          </a:prstGeom>
          <a:noFill/>
        </p:spPr>
        <p:txBody>
          <a:bodyPr wrap="square" rtlCol="0">
            <a:spAutoFit/>
          </a:bodyPr>
          <a:lstStyle/>
          <a:p>
            <a:r>
              <a:rPr lang="en-US" altLang="zh-CN" sz="3600" b="1" dirty="0"/>
              <a:t>Step 4: Model Stability</a:t>
            </a:r>
            <a:endParaRPr lang="zh-CN" altLang="en-US" sz="3600" b="1" dirty="0"/>
          </a:p>
        </p:txBody>
      </p:sp>
      <p:sp>
        <p:nvSpPr>
          <p:cNvPr id="83" name="文本框 82">
            <a:extLst>
              <a:ext uri="{FF2B5EF4-FFF2-40B4-BE49-F238E27FC236}">
                <a16:creationId xmlns:a16="http://schemas.microsoft.com/office/drawing/2014/main" id="{246166EB-BBC5-BB62-BA63-28BF940472EE}"/>
              </a:ext>
            </a:extLst>
          </p:cNvPr>
          <p:cNvSpPr txBox="1"/>
          <p:nvPr/>
        </p:nvSpPr>
        <p:spPr>
          <a:xfrm>
            <a:off x="106570" y="8052175"/>
            <a:ext cx="6471245" cy="1200329"/>
          </a:xfrm>
          <a:prstGeom prst="rect">
            <a:avLst/>
          </a:prstGeom>
          <a:noFill/>
        </p:spPr>
        <p:txBody>
          <a:bodyPr wrap="square" rtlCol="0">
            <a:spAutoFit/>
          </a:bodyPr>
          <a:lstStyle/>
          <a:p>
            <a:r>
              <a:rPr lang="en-US" altLang="zh-CN" sz="3600" b="1" dirty="0"/>
              <a:t>Step 5: User Recommendations 			 &amp; Model Generalization</a:t>
            </a:r>
            <a:endParaRPr lang="zh-CN" altLang="en-US" sz="3600" b="1" dirty="0"/>
          </a:p>
        </p:txBody>
      </p:sp>
      <p:sp>
        <p:nvSpPr>
          <p:cNvPr id="48" name="矩形: 圆角 47">
            <a:extLst>
              <a:ext uri="{FF2B5EF4-FFF2-40B4-BE49-F238E27FC236}">
                <a16:creationId xmlns:a16="http://schemas.microsoft.com/office/drawing/2014/main" id="{B34B0127-632F-6EF3-B612-6F0B0DBC0219}"/>
              </a:ext>
            </a:extLst>
          </p:cNvPr>
          <p:cNvSpPr/>
          <p:nvPr/>
        </p:nvSpPr>
        <p:spPr>
          <a:xfrm>
            <a:off x="797556" y="11075145"/>
            <a:ext cx="5397481"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Extend Battery Life</a:t>
            </a:r>
            <a:endParaRPr lang="zh-CN" altLang="en-US" sz="3200" b="1" dirty="0">
              <a:solidFill>
                <a:schemeClr val="tx1"/>
              </a:solidFill>
            </a:endParaRPr>
          </a:p>
        </p:txBody>
      </p:sp>
      <p:sp>
        <p:nvSpPr>
          <p:cNvPr id="84" name="矩形: 圆角 83">
            <a:extLst>
              <a:ext uri="{FF2B5EF4-FFF2-40B4-BE49-F238E27FC236}">
                <a16:creationId xmlns:a16="http://schemas.microsoft.com/office/drawing/2014/main" id="{8CDD79B3-DFAB-F246-3777-A2B92447217D}"/>
              </a:ext>
            </a:extLst>
          </p:cNvPr>
          <p:cNvSpPr/>
          <p:nvPr/>
        </p:nvSpPr>
        <p:spPr>
          <a:xfrm>
            <a:off x="797556" y="9730701"/>
            <a:ext cx="5397481"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Reduce Energy Consumption</a:t>
            </a:r>
            <a:endParaRPr lang="zh-CN" altLang="en-US" sz="3200" b="1" dirty="0">
              <a:solidFill>
                <a:schemeClr val="tx1"/>
              </a:solidFill>
            </a:endParaRPr>
          </a:p>
        </p:txBody>
      </p:sp>
      <p:sp>
        <p:nvSpPr>
          <p:cNvPr id="85" name="矩形: 圆角 84">
            <a:extLst>
              <a:ext uri="{FF2B5EF4-FFF2-40B4-BE49-F238E27FC236}">
                <a16:creationId xmlns:a16="http://schemas.microsoft.com/office/drawing/2014/main" id="{1FF076C5-4B76-E251-E986-B06DBD3E9860}"/>
              </a:ext>
            </a:extLst>
          </p:cNvPr>
          <p:cNvSpPr/>
          <p:nvPr/>
        </p:nvSpPr>
        <p:spPr>
          <a:xfrm>
            <a:off x="797556" y="12419589"/>
            <a:ext cx="5399205" cy="875860"/>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Delay battery aging</a:t>
            </a:r>
            <a:endParaRPr lang="zh-CN" altLang="en-US" sz="3200" b="1" dirty="0">
              <a:solidFill>
                <a:schemeClr val="tx1"/>
              </a:solidFill>
            </a:endParaRPr>
          </a:p>
        </p:txBody>
      </p:sp>
      <p:sp>
        <p:nvSpPr>
          <p:cNvPr id="86" name="矩形: 圆角 85">
            <a:extLst>
              <a:ext uri="{FF2B5EF4-FFF2-40B4-BE49-F238E27FC236}">
                <a16:creationId xmlns:a16="http://schemas.microsoft.com/office/drawing/2014/main" id="{57EE2E78-8B23-94CB-14A3-6C6F566176D6}"/>
              </a:ext>
            </a:extLst>
          </p:cNvPr>
          <p:cNvSpPr/>
          <p:nvPr/>
        </p:nvSpPr>
        <p:spPr>
          <a:xfrm>
            <a:off x="6973608" y="9368618"/>
            <a:ext cx="5528189" cy="1500113"/>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Stable ?</a:t>
            </a:r>
            <a:endParaRPr lang="zh-CN" altLang="en-US" sz="3200" b="1" dirty="0">
              <a:solidFill>
                <a:schemeClr val="tx1"/>
              </a:solidFill>
            </a:endParaRPr>
          </a:p>
        </p:txBody>
      </p:sp>
      <p:sp>
        <p:nvSpPr>
          <p:cNvPr id="87" name="矩形: 圆角 86">
            <a:extLst>
              <a:ext uri="{FF2B5EF4-FFF2-40B4-BE49-F238E27FC236}">
                <a16:creationId xmlns:a16="http://schemas.microsoft.com/office/drawing/2014/main" id="{11572897-46E4-A995-0DE7-336242B8EE5D}"/>
              </a:ext>
            </a:extLst>
          </p:cNvPr>
          <p:cNvSpPr/>
          <p:nvPr/>
        </p:nvSpPr>
        <p:spPr>
          <a:xfrm>
            <a:off x="9921990" y="1204389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Not Stable !</a:t>
            </a:r>
          </a:p>
        </p:txBody>
      </p:sp>
      <p:sp>
        <p:nvSpPr>
          <p:cNvPr id="88" name="矩形: 圆角 87">
            <a:extLst>
              <a:ext uri="{FF2B5EF4-FFF2-40B4-BE49-F238E27FC236}">
                <a16:creationId xmlns:a16="http://schemas.microsoft.com/office/drawing/2014/main" id="{4EDB2A69-F069-768F-69FA-48B9DC0843F2}"/>
              </a:ext>
            </a:extLst>
          </p:cNvPr>
          <p:cNvSpPr/>
          <p:nvPr/>
        </p:nvSpPr>
        <p:spPr>
          <a:xfrm>
            <a:off x="6973607" y="12043895"/>
            <a:ext cx="2711253" cy="169035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Stable !</a:t>
            </a:r>
            <a:endParaRPr lang="zh-CN" altLang="en-US" sz="3200" b="1" dirty="0">
              <a:solidFill>
                <a:schemeClr val="tx1"/>
              </a:solidFill>
            </a:endParaRPr>
          </a:p>
        </p:txBody>
      </p:sp>
      <p:sp>
        <p:nvSpPr>
          <p:cNvPr id="89" name="矩形: 圆角 88">
            <a:extLst>
              <a:ext uri="{FF2B5EF4-FFF2-40B4-BE49-F238E27FC236}">
                <a16:creationId xmlns:a16="http://schemas.microsoft.com/office/drawing/2014/main" id="{A39D1BEB-AA28-18AE-A646-0EABF6CB9DFE}"/>
              </a:ext>
            </a:extLst>
          </p:cNvPr>
          <p:cNvSpPr/>
          <p:nvPr/>
        </p:nvSpPr>
        <p:spPr>
          <a:xfrm>
            <a:off x="13485298" y="9348594"/>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Predict the Remaining SOC</a:t>
            </a:r>
            <a:endParaRPr lang="zh-CN" altLang="en-US" sz="3200" b="1" dirty="0">
              <a:solidFill>
                <a:schemeClr val="tx1"/>
              </a:solidFill>
            </a:endParaRPr>
          </a:p>
        </p:txBody>
      </p:sp>
      <p:sp>
        <p:nvSpPr>
          <p:cNvPr id="90" name="矩形: 圆角 89">
            <a:extLst>
              <a:ext uri="{FF2B5EF4-FFF2-40B4-BE49-F238E27FC236}">
                <a16:creationId xmlns:a16="http://schemas.microsoft.com/office/drawing/2014/main" id="{A1E95429-8F00-E649-885A-211A991E5DE8}"/>
              </a:ext>
            </a:extLst>
          </p:cNvPr>
          <p:cNvSpPr/>
          <p:nvPr/>
        </p:nvSpPr>
        <p:spPr>
          <a:xfrm>
            <a:off x="13553420" y="11714831"/>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Remaining SOC?</a:t>
            </a:r>
            <a:endParaRPr lang="zh-CN" altLang="en-US" sz="3200" b="1" dirty="0">
              <a:solidFill>
                <a:schemeClr val="tx1"/>
              </a:solidFill>
            </a:endParaRPr>
          </a:p>
        </p:txBody>
      </p:sp>
      <p:sp>
        <p:nvSpPr>
          <p:cNvPr id="92" name="箭头: 下 91">
            <a:extLst>
              <a:ext uri="{FF2B5EF4-FFF2-40B4-BE49-F238E27FC236}">
                <a16:creationId xmlns:a16="http://schemas.microsoft.com/office/drawing/2014/main" id="{3FE8FF4E-6882-FE31-A80F-15E8DF9F3955}"/>
              </a:ext>
            </a:extLst>
          </p:cNvPr>
          <p:cNvSpPr/>
          <p:nvPr/>
        </p:nvSpPr>
        <p:spPr>
          <a:xfrm>
            <a:off x="15930409" y="10848708"/>
            <a:ext cx="545234" cy="828942"/>
          </a:xfrm>
          <a:prstGeom prst="downArrow">
            <a:avLst/>
          </a:prstGeom>
          <a:no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5" name="直接箭头连接符 94">
            <a:extLst>
              <a:ext uri="{FF2B5EF4-FFF2-40B4-BE49-F238E27FC236}">
                <a16:creationId xmlns:a16="http://schemas.microsoft.com/office/drawing/2014/main" id="{C975ACA7-1221-20AC-F998-598DADEA8110}"/>
              </a:ext>
            </a:extLst>
          </p:cNvPr>
          <p:cNvCxnSpPr>
            <a:cxnSpLocks/>
            <a:stCxn id="56" idx="1"/>
            <a:endCxn id="77" idx="3"/>
          </p:cNvCxnSpPr>
          <p:nvPr/>
        </p:nvCxnSpPr>
        <p:spPr>
          <a:xfrm flipH="1" flipV="1">
            <a:off x="12961454" y="11714832"/>
            <a:ext cx="197897" cy="3"/>
          </a:xfrm>
          <a:prstGeom prst="straightConnector1">
            <a:avLst/>
          </a:prstGeom>
          <a:ln w="50800">
            <a:tailEnd type="triangle" w="med" len="sm"/>
          </a:ln>
        </p:spPr>
        <p:style>
          <a:lnRef idx="3">
            <a:schemeClr val="dk1"/>
          </a:lnRef>
          <a:fillRef idx="0">
            <a:schemeClr val="dk1"/>
          </a:fillRef>
          <a:effectRef idx="2">
            <a:schemeClr val="dk1"/>
          </a:effectRef>
          <a:fontRef idx="minor">
            <a:schemeClr val="tx1"/>
          </a:fontRef>
        </p:style>
      </p:cxnSp>
      <p:cxnSp>
        <p:nvCxnSpPr>
          <p:cNvPr id="96" name="直接箭头连接符 95">
            <a:extLst>
              <a:ext uri="{FF2B5EF4-FFF2-40B4-BE49-F238E27FC236}">
                <a16:creationId xmlns:a16="http://schemas.microsoft.com/office/drawing/2014/main" id="{CD2A6666-F3A7-DA1F-A1BE-503BC3932A7C}"/>
              </a:ext>
            </a:extLst>
          </p:cNvPr>
          <p:cNvCxnSpPr>
            <a:cxnSpLocks/>
            <a:stCxn id="77" idx="1"/>
            <a:endCxn id="78" idx="3"/>
          </p:cNvCxnSpPr>
          <p:nvPr/>
        </p:nvCxnSpPr>
        <p:spPr>
          <a:xfrm flipH="1">
            <a:off x="6592554" y="11714832"/>
            <a:ext cx="224251" cy="0"/>
          </a:xfrm>
          <a:prstGeom prst="straightConnector1">
            <a:avLst/>
          </a:prstGeom>
          <a:ln w="50800">
            <a:tailEnd type="triangle" w="med" len="sm"/>
          </a:ln>
        </p:spPr>
        <p:style>
          <a:lnRef idx="3">
            <a:schemeClr val="dk1"/>
          </a:lnRef>
          <a:fillRef idx="0">
            <a:schemeClr val="dk1"/>
          </a:fillRef>
          <a:effectRef idx="2">
            <a:schemeClr val="dk1"/>
          </a:effectRef>
          <a:fontRef idx="minor">
            <a:schemeClr val="tx1"/>
          </a:fontRef>
        </p:style>
      </p:cxnSp>
      <p:sp>
        <p:nvSpPr>
          <p:cNvPr id="98" name="矩形: 圆角 97">
            <a:extLst>
              <a:ext uri="{FF2B5EF4-FFF2-40B4-BE49-F238E27FC236}">
                <a16:creationId xmlns:a16="http://schemas.microsoft.com/office/drawing/2014/main" id="{2E6F68F1-8808-4FA6-F5CD-65975650AD69}"/>
              </a:ext>
            </a:extLst>
          </p:cNvPr>
          <p:cNvSpPr/>
          <p:nvPr/>
        </p:nvSpPr>
        <p:spPr>
          <a:xfrm>
            <a:off x="19976039" y="12136734"/>
            <a:ext cx="8601992" cy="2265066"/>
          </a:xfrm>
          <a:prstGeom prst="roundRect">
            <a:avLst>
              <a:gd name="adj" fmla="val 1372"/>
            </a:avLst>
          </a:prstGeom>
          <a:solidFill>
            <a:srgbClr val="FEF5FF"/>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14" name="对象 13">
            <a:extLst>
              <a:ext uri="{FF2B5EF4-FFF2-40B4-BE49-F238E27FC236}">
                <a16:creationId xmlns:a16="http://schemas.microsoft.com/office/drawing/2014/main" id="{E1059518-FE02-20D5-D277-44003F1FF7D9}"/>
              </a:ext>
            </a:extLst>
          </p:cNvPr>
          <p:cNvGraphicFramePr>
            <a:graphicFrameLocks noChangeAspect="1"/>
          </p:cNvGraphicFramePr>
          <p:nvPr>
            <p:extLst>
              <p:ext uri="{D42A27DB-BD31-4B8C-83A1-F6EECF244321}">
                <p14:modId xmlns:p14="http://schemas.microsoft.com/office/powerpoint/2010/main" val="3855783781"/>
              </p:ext>
            </p:extLst>
          </p:nvPr>
        </p:nvGraphicFramePr>
        <p:xfrm>
          <a:off x="13888985" y="3162810"/>
          <a:ext cx="2937426" cy="1892867"/>
        </p:xfrm>
        <a:graphic>
          <a:graphicData uri="http://schemas.openxmlformats.org/presentationml/2006/ole">
            <mc:AlternateContent xmlns:mc="http://schemas.openxmlformats.org/markup-compatibility/2006">
              <mc:Choice xmlns:v="urn:schemas-microsoft-com:vml" Requires="v">
                <p:oleObj name="AxMath" r:id="rId3" imgW="351720" imgH="227160" progId="Equation.AxMath">
                  <p:embed/>
                </p:oleObj>
              </mc:Choice>
              <mc:Fallback>
                <p:oleObj name="AxMath" r:id="rId3" imgW="351720" imgH="227160" progId="Equation.AxMath">
                  <p:embed/>
                  <p:pic>
                    <p:nvPicPr>
                      <p:cNvPr id="14" name="对象 13">
                        <a:extLst>
                          <a:ext uri="{FF2B5EF4-FFF2-40B4-BE49-F238E27FC236}">
                            <a16:creationId xmlns:a16="http://schemas.microsoft.com/office/drawing/2014/main" id="{C2BC2364-D030-D447-4287-2406BFD61FDD}"/>
                          </a:ext>
                        </a:extLst>
                      </p:cNvPr>
                      <p:cNvPicPr/>
                      <p:nvPr/>
                    </p:nvPicPr>
                    <p:blipFill>
                      <a:blip r:embed="rId4"/>
                      <a:stretch>
                        <a:fillRect/>
                      </a:stretch>
                    </p:blipFill>
                    <p:spPr>
                      <a:xfrm>
                        <a:off x="13888985" y="3162810"/>
                        <a:ext cx="2937426" cy="1892867"/>
                      </a:xfrm>
                      <a:prstGeom prst="rect">
                        <a:avLst/>
                      </a:prstGeom>
                    </p:spPr>
                  </p:pic>
                </p:oleObj>
              </mc:Fallback>
            </mc:AlternateContent>
          </a:graphicData>
        </a:graphic>
      </p:graphicFrame>
      <p:sp>
        <p:nvSpPr>
          <p:cNvPr id="17" name="矩形: 圆角 16">
            <a:extLst>
              <a:ext uri="{FF2B5EF4-FFF2-40B4-BE49-F238E27FC236}">
                <a16:creationId xmlns:a16="http://schemas.microsoft.com/office/drawing/2014/main" id="{6413E515-2E42-0678-D5FC-94DBB96E5339}"/>
              </a:ext>
            </a:extLst>
          </p:cNvPr>
          <p:cNvSpPr/>
          <p:nvPr/>
        </p:nvSpPr>
        <p:spPr>
          <a:xfrm>
            <a:off x="575341" y="2796459"/>
            <a:ext cx="5366672" cy="2552038"/>
          </a:xfrm>
          <a:prstGeom prst="roundRect">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0" name="直接箭头连接符 19">
            <a:extLst>
              <a:ext uri="{FF2B5EF4-FFF2-40B4-BE49-F238E27FC236}">
                <a16:creationId xmlns:a16="http://schemas.microsoft.com/office/drawing/2014/main" id="{1EE96CFE-83E8-84EC-9496-19E4D1D5661F}"/>
              </a:ext>
            </a:extLst>
          </p:cNvPr>
          <p:cNvCxnSpPr>
            <a:cxnSpLocks/>
            <a:stCxn id="17" idx="3"/>
            <a:endCxn id="18" idx="1"/>
          </p:cNvCxnSpPr>
          <p:nvPr/>
        </p:nvCxnSpPr>
        <p:spPr>
          <a:xfrm flipV="1">
            <a:off x="5942013" y="4045661"/>
            <a:ext cx="5780059" cy="26817"/>
          </a:xfrm>
          <a:prstGeom prst="straightConnector1">
            <a:avLst/>
          </a:prstGeom>
          <a:ln w="50800">
            <a:tailEnd type="triangle" w="lg" len="lg"/>
          </a:ln>
        </p:spPr>
        <p:style>
          <a:lnRef idx="3">
            <a:schemeClr val="dk1"/>
          </a:lnRef>
          <a:fillRef idx="0">
            <a:schemeClr val="dk1"/>
          </a:fillRef>
          <a:effectRef idx="2">
            <a:schemeClr val="dk1"/>
          </a:effectRef>
          <a:fontRef idx="minor">
            <a:schemeClr val="tx1"/>
          </a:fontRef>
        </p:style>
      </p:cxnSp>
      <p:graphicFrame>
        <p:nvGraphicFramePr>
          <p:cNvPr id="10" name="对象 9">
            <a:extLst>
              <a:ext uri="{FF2B5EF4-FFF2-40B4-BE49-F238E27FC236}">
                <a16:creationId xmlns:a16="http://schemas.microsoft.com/office/drawing/2014/main" id="{E29D3887-A677-31A7-0012-BFA2342B3DF2}"/>
              </a:ext>
            </a:extLst>
          </p:cNvPr>
          <p:cNvGraphicFramePr>
            <a:graphicFrameLocks noChangeAspect="1"/>
          </p:cNvGraphicFramePr>
          <p:nvPr>
            <p:extLst>
              <p:ext uri="{D42A27DB-BD31-4B8C-83A1-F6EECF244321}">
                <p14:modId xmlns:p14="http://schemas.microsoft.com/office/powerpoint/2010/main" val="3007929078"/>
              </p:ext>
            </p:extLst>
          </p:nvPr>
        </p:nvGraphicFramePr>
        <p:xfrm>
          <a:off x="1331964" y="3181287"/>
          <a:ext cx="3671888" cy="2081212"/>
        </p:xfrm>
        <a:graphic>
          <a:graphicData uri="http://schemas.openxmlformats.org/presentationml/2006/ole">
            <mc:AlternateContent xmlns:mc="http://schemas.openxmlformats.org/markup-compatibility/2006">
              <mc:Choice xmlns:v="urn:schemas-microsoft-com:vml" Requires="v">
                <p:oleObj name="AxMath" r:id="rId5" imgW="721800" imgH="410040" progId="Equation.AxMath">
                  <p:embed/>
                </p:oleObj>
              </mc:Choice>
              <mc:Fallback>
                <p:oleObj name="AxMath" r:id="rId5" imgW="721800" imgH="410040" progId="Equation.AxMath">
                  <p:embed/>
                  <p:pic>
                    <p:nvPicPr>
                      <p:cNvPr id="10" name="对象 9">
                        <a:extLst>
                          <a:ext uri="{FF2B5EF4-FFF2-40B4-BE49-F238E27FC236}">
                            <a16:creationId xmlns:a16="http://schemas.microsoft.com/office/drawing/2014/main" id="{06ACBC21-D900-3B5D-40A7-A3E106191335}"/>
                          </a:ext>
                        </a:extLst>
                      </p:cNvPr>
                      <p:cNvPicPr/>
                      <p:nvPr/>
                    </p:nvPicPr>
                    <p:blipFill>
                      <a:blip r:embed="rId6"/>
                      <a:stretch>
                        <a:fillRect/>
                      </a:stretch>
                    </p:blipFill>
                    <p:spPr>
                      <a:xfrm>
                        <a:off x="1331964" y="3181287"/>
                        <a:ext cx="3671888" cy="2081212"/>
                      </a:xfrm>
                      <a:prstGeom prst="rect">
                        <a:avLst/>
                      </a:prstGeom>
                    </p:spPr>
                  </p:pic>
                </p:oleObj>
              </mc:Fallback>
            </mc:AlternateContent>
          </a:graphicData>
        </a:graphic>
      </p:graphicFrame>
      <p:graphicFrame>
        <p:nvGraphicFramePr>
          <p:cNvPr id="26" name="对象 25">
            <a:extLst>
              <a:ext uri="{FF2B5EF4-FFF2-40B4-BE49-F238E27FC236}">
                <a16:creationId xmlns:a16="http://schemas.microsoft.com/office/drawing/2014/main" id="{882F34F3-C846-E388-F02D-F051C9FF6E91}"/>
              </a:ext>
            </a:extLst>
          </p:cNvPr>
          <p:cNvGraphicFramePr>
            <a:graphicFrameLocks noChangeAspect="1"/>
          </p:cNvGraphicFramePr>
          <p:nvPr>
            <p:extLst>
              <p:ext uri="{D42A27DB-BD31-4B8C-83A1-F6EECF244321}">
                <p14:modId xmlns:p14="http://schemas.microsoft.com/office/powerpoint/2010/main" val="3469749107"/>
              </p:ext>
            </p:extLst>
          </p:nvPr>
        </p:nvGraphicFramePr>
        <p:xfrm>
          <a:off x="22621786" y="12608815"/>
          <a:ext cx="3636559" cy="1844379"/>
        </p:xfrm>
        <a:graphic>
          <a:graphicData uri="http://schemas.openxmlformats.org/presentationml/2006/ole">
            <mc:AlternateContent xmlns:mc="http://schemas.openxmlformats.org/markup-compatibility/2006">
              <mc:Choice xmlns:v="urn:schemas-microsoft-com:vml" Requires="v">
                <p:oleObj name="AxMath" r:id="rId7" imgW="448200" imgH="227160" progId="Equation.AxMath">
                  <p:embed/>
                </p:oleObj>
              </mc:Choice>
              <mc:Fallback>
                <p:oleObj name="AxMath" r:id="rId7" imgW="448200" imgH="227160" progId="Equation.AxMath">
                  <p:embed/>
                  <p:pic>
                    <p:nvPicPr>
                      <p:cNvPr id="26" name="对象 25">
                        <a:extLst>
                          <a:ext uri="{FF2B5EF4-FFF2-40B4-BE49-F238E27FC236}">
                            <a16:creationId xmlns:a16="http://schemas.microsoft.com/office/drawing/2014/main" id="{EB4F7934-659A-7557-29D8-5CFE4519DB1F}"/>
                          </a:ext>
                        </a:extLst>
                      </p:cNvPr>
                      <p:cNvPicPr/>
                      <p:nvPr/>
                    </p:nvPicPr>
                    <p:blipFill>
                      <a:blip r:embed="rId8"/>
                      <a:stretch>
                        <a:fillRect/>
                      </a:stretch>
                    </p:blipFill>
                    <p:spPr>
                      <a:xfrm>
                        <a:off x="22621786" y="12608815"/>
                        <a:ext cx="3636559" cy="1844379"/>
                      </a:xfrm>
                      <a:prstGeom prst="rect">
                        <a:avLst/>
                      </a:prstGeom>
                    </p:spPr>
                  </p:pic>
                </p:oleObj>
              </mc:Fallback>
            </mc:AlternateContent>
          </a:graphicData>
        </a:graphic>
      </p:graphicFrame>
      <p:sp>
        <p:nvSpPr>
          <p:cNvPr id="50" name="矩形: 圆角 49">
            <a:extLst>
              <a:ext uri="{FF2B5EF4-FFF2-40B4-BE49-F238E27FC236}">
                <a16:creationId xmlns:a16="http://schemas.microsoft.com/office/drawing/2014/main" id="{630350C4-A912-B4C8-B013-9706C4F466B1}"/>
              </a:ext>
            </a:extLst>
          </p:cNvPr>
          <p:cNvSpPr/>
          <p:nvPr/>
        </p:nvSpPr>
        <p:spPr>
          <a:xfrm>
            <a:off x="13553420" y="13666490"/>
            <a:ext cx="5528189" cy="1500113"/>
          </a:xfrm>
          <a:prstGeom prst="roundRect">
            <a:avLst>
              <a:gd name="adj" fmla="val 1372"/>
            </a:avLst>
          </a:prstGeom>
          <a:solidFill>
            <a:srgbClr val="F5FFF6"/>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Remaining SOC !</a:t>
            </a:r>
            <a:endParaRPr lang="zh-CN" altLang="en-US" sz="3200" b="1" dirty="0">
              <a:solidFill>
                <a:schemeClr val="tx1"/>
              </a:solidFill>
            </a:endParaRPr>
          </a:p>
        </p:txBody>
      </p:sp>
      <p:cxnSp>
        <p:nvCxnSpPr>
          <p:cNvPr id="51" name="直接箭头连接符 50">
            <a:extLst>
              <a:ext uri="{FF2B5EF4-FFF2-40B4-BE49-F238E27FC236}">
                <a16:creationId xmlns:a16="http://schemas.microsoft.com/office/drawing/2014/main" id="{194B64CB-73FB-B4C8-79C9-9175E3C62E1F}"/>
              </a:ext>
            </a:extLst>
          </p:cNvPr>
          <p:cNvCxnSpPr>
            <a:cxnSpLocks/>
            <a:stCxn id="86" idx="2"/>
            <a:endCxn id="88" idx="0"/>
          </p:cNvCxnSpPr>
          <p:nvPr/>
        </p:nvCxnSpPr>
        <p:spPr>
          <a:xfrm flipH="1">
            <a:off x="8329234" y="10868731"/>
            <a:ext cx="1408469" cy="1175164"/>
          </a:xfrm>
          <a:prstGeom prst="straightConnector1">
            <a:avLst/>
          </a:prstGeom>
          <a:ln w="50800">
            <a:tailEnd type="triangle" w="lg" len="med"/>
          </a:ln>
        </p:spPr>
        <p:style>
          <a:lnRef idx="3">
            <a:schemeClr val="dk1"/>
          </a:lnRef>
          <a:fillRef idx="0">
            <a:schemeClr val="dk1"/>
          </a:fillRef>
          <a:effectRef idx="2">
            <a:schemeClr val="dk1"/>
          </a:effectRef>
          <a:fontRef idx="minor">
            <a:schemeClr val="tx1"/>
          </a:fontRef>
        </p:style>
      </p:cxnSp>
      <p:cxnSp>
        <p:nvCxnSpPr>
          <p:cNvPr id="54" name="直接箭头连接符 53">
            <a:extLst>
              <a:ext uri="{FF2B5EF4-FFF2-40B4-BE49-F238E27FC236}">
                <a16:creationId xmlns:a16="http://schemas.microsoft.com/office/drawing/2014/main" id="{0579E85F-E391-BD17-6F67-8055DE712D6E}"/>
              </a:ext>
            </a:extLst>
          </p:cNvPr>
          <p:cNvCxnSpPr>
            <a:cxnSpLocks/>
          </p:cNvCxnSpPr>
          <p:nvPr/>
        </p:nvCxnSpPr>
        <p:spPr>
          <a:xfrm>
            <a:off x="9699599" y="10868730"/>
            <a:ext cx="1578018" cy="1175165"/>
          </a:xfrm>
          <a:prstGeom prst="straightConnector1">
            <a:avLst/>
          </a:prstGeom>
          <a:ln w="50800">
            <a:tailEnd type="triangle" w="lg" len="med"/>
          </a:ln>
        </p:spPr>
        <p:style>
          <a:lnRef idx="3">
            <a:schemeClr val="dk1"/>
          </a:lnRef>
          <a:fillRef idx="0">
            <a:schemeClr val="dk1"/>
          </a:fillRef>
          <a:effectRef idx="2">
            <a:schemeClr val="dk1"/>
          </a:effectRef>
          <a:fontRef idx="minor">
            <a:schemeClr val="tx1"/>
          </a:fontRef>
        </p:style>
      </p:cxnSp>
      <p:cxnSp>
        <p:nvCxnSpPr>
          <p:cNvPr id="71" name="连接符: 肘形 70">
            <a:extLst>
              <a:ext uri="{FF2B5EF4-FFF2-40B4-BE49-F238E27FC236}">
                <a16:creationId xmlns:a16="http://schemas.microsoft.com/office/drawing/2014/main" id="{0EB70315-4154-0F0F-592F-6DDD9D7F778A}"/>
              </a:ext>
            </a:extLst>
          </p:cNvPr>
          <p:cNvCxnSpPr>
            <a:cxnSpLocks/>
            <a:stCxn id="85" idx="1"/>
            <a:endCxn id="84" idx="1"/>
          </p:cNvCxnSpPr>
          <p:nvPr/>
        </p:nvCxnSpPr>
        <p:spPr>
          <a:xfrm rot="10800000">
            <a:off x="797556" y="10168631"/>
            <a:ext cx="12700" cy="2688888"/>
          </a:xfrm>
          <a:prstGeom prst="bentConnector3">
            <a:avLst>
              <a:gd name="adj1" fmla="val 1800000"/>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连接符: 肘形 73">
            <a:extLst>
              <a:ext uri="{FF2B5EF4-FFF2-40B4-BE49-F238E27FC236}">
                <a16:creationId xmlns:a16="http://schemas.microsoft.com/office/drawing/2014/main" id="{844FB999-1200-6CD5-C52E-6F18DCF8CE88}"/>
              </a:ext>
            </a:extLst>
          </p:cNvPr>
          <p:cNvCxnSpPr>
            <a:cxnSpLocks/>
            <a:stCxn id="48" idx="1"/>
            <a:endCxn id="84" idx="1"/>
          </p:cNvCxnSpPr>
          <p:nvPr/>
        </p:nvCxnSpPr>
        <p:spPr>
          <a:xfrm rot="10800000">
            <a:off x="797556" y="10168631"/>
            <a:ext cx="12700" cy="1344444"/>
          </a:xfrm>
          <a:prstGeom prst="bentConnector3">
            <a:avLst>
              <a:gd name="adj1" fmla="val 1800000"/>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矩形: 圆角 108">
            <a:extLst>
              <a:ext uri="{FF2B5EF4-FFF2-40B4-BE49-F238E27FC236}">
                <a16:creationId xmlns:a16="http://schemas.microsoft.com/office/drawing/2014/main" id="{977AA953-67BE-BA73-EDF1-0BE0633D4681}"/>
              </a:ext>
            </a:extLst>
          </p:cNvPr>
          <p:cNvSpPr/>
          <p:nvPr/>
        </p:nvSpPr>
        <p:spPr>
          <a:xfrm>
            <a:off x="1504086" y="13873189"/>
            <a:ext cx="4690951" cy="875860"/>
          </a:xfrm>
          <a:prstGeom prst="roundRect">
            <a:avLst>
              <a:gd name="adj" fmla="val 1372"/>
            </a:avLst>
          </a:prstGeom>
          <a:solidFill>
            <a:srgbClr val="FCE5E8"/>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Smart Watch</a:t>
            </a:r>
            <a:endParaRPr lang="zh-CN" altLang="en-US" sz="3200" b="1" dirty="0">
              <a:solidFill>
                <a:schemeClr val="tx1"/>
              </a:solidFill>
            </a:endParaRPr>
          </a:p>
        </p:txBody>
      </p:sp>
      <p:sp>
        <p:nvSpPr>
          <p:cNvPr id="114" name="矩形: 圆角 113">
            <a:extLst>
              <a:ext uri="{FF2B5EF4-FFF2-40B4-BE49-F238E27FC236}">
                <a16:creationId xmlns:a16="http://schemas.microsoft.com/office/drawing/2014/main" id="{5EB0215A-03A9-4884-7B59-2D182A35D3F3}"/>
              </a:ext>
            </a:extLst>
          </p:cNvPr>
          <p:cNvSpPr/>
          <p:nvPr/>
        </p:nvSpPr>
        <p:spPr>
          <a:xfrm>
            <a:off x="6091210" y="2379175"/>
            <a:ext cx="5446096" cy="1390707"/>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graphicFrame>
        <p:nvGraphicFramePr>
          <p:cNvPr id="119" name="对象 118">
            <a:extLst>
              <a:ext uri="{FF2B5EF4-FFF2-40B4-BE49-F238E27FC236}">
                <a16:creationId xmlns:a16="http://schemas.microsoft.com/office/drawing/2014/main" id="{82956991-B7D5-F6B3-7331-B94F5C62D640}"/>
              </a:ext>
            </a:extLst>
          </p:cNvPr>
          <p:cNvGraphicFramePr>
            <a:graphicFrameLocks noChangeAspect="1"/>
          </p:cNvGraphicFramePr>
          <p:nvPr>
            <p:extLst>
              <p:ext uri="{D42A27DB-BD31-4B8C-83A1-F6EECF244321}">
                <p14:modId xmlns:p14="http://schemas.microsoft.com/office/powerpoint/2010/main" val="1225172742"/>
              </p:ext>
            </p:extLst>
          </p:nvPr>
        </p:nvGraphicFramePr>
        <p:xfrm>
          <a:off x="6270758" y="2688487"/>
          <a:ext cx="5055522" cy="927473"/>
        </p:xfrm>
        <a:graphic>
          <a:graphicData uri="http://schemas.openxmlformats.org/presentationml/2006/ole">
            <mc:AlternateContent xmlns:mc="http://schemas.openxmlformats.org/markup-compatibility/2006">
              <mc:Choice xmlns:v="urn:schemas-microsoft-com:vml" Requires="v">
                <p:oleObj name="AxMath" r:id="rId9" imgW="1235880" imgH="227160" progId="Equation.AxMath">
                  <p:embed/>
                </p:oleObj>
              </mc:Choice>
              <mc:Fallback>
                <p:oleObj name="AxMath" r:id="rId9" imgW="1235880" imgH="227160" progId="Equation.AxMath">
                  <p:embed/>
                  <p:pic>
                    <p:nvPicPr>
                      <p:cNvPr id="119" name="对象 118">
                        <a:extLst>
                          <a:ext uri="{FF2B5EF4-FFF2-40B4-BE49-F238E27FC236}">
                            <a16:creationId xmlns:a16="http://schemas.microsoft.com/office/drawing/2014/main" id="{C448B57E-1FB4-A201-22DC-C8204DCA03D4}"/>
                          </a:ext>
                        </a:extLst>
                      </p:cNvPr>
                      <p:cNvPicPr/>
                      <p:nvPr/>
                    </p:nvPicPr>
                    <p:blipFill>
                      <a:blip r:embed="rId10"/>
                      <a:stretch>
                        <a:fillRect/>
                      </a:stretch>
                    </p:blipFill>
                    <p:spPr>
                      <a:xfrm>
                        <a:off x="6270758" y="2688487"/>
                        <a:ext cx="5055522" cy="927473"/>
                      </a:xfrm>
                      <a:prstGeom prst="rect">
                        <a:avLst/>
                      </a:prstGeom>
                    </p:spPr>
                  </p:pic>
                </p:oleObj>
              </mc:Fallback>
            </mc:AlternateContent>
          </a:graphicData>
        </a:graphic>
      </p:graphicFrame>
      <p:sp>
        <p:nvSpPr>
          <p:cNvPr id="120" name="矩形: 圆角 119">
            <a:extLst>
              <a:ext uri="{FF2B5EF4-FFF2-40B4-BE49-F238E27FC236}">
                <a16:creationId xmlns:a16="http://schemas.microsoft.com/office/drawing/2014/main" id="{15CB3445-0F79-C8B4-1A3E-692239C83CE8}"/>
              </a:ext>
            </a:extLst>
          </p:cNvPr>
          <p:cNvSpPr/>
          <p:nvPr/>
        </p:nvSpPr>
        <p:spPr>
          <a:xfrm>
            <a:off x="6126779" y="4327506"/>
            <a:ext cx="5410527" cy="1390707"/>
          </a:xfrm>
          <a:prstGeom prst="roundRect">
            <a:avLst>
              <a:gd name="adj" fmla="val 1372"/>
            </a:avLst>
          </a:prstGeom>
          <a:solidFill>
            <a:srgbClr val="FFF4E3"/>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200" b="1" dirty="0">
              <a:solidFill>
                <a:schemeClr val="tx1"/>
              </a:solidFill>
            </a:endParaRPr>
          </a:p>
        </p:txBody>
      </p:sp>
      <p:graphicFrame>
        <p:nvGraphicFramePr>
          <p:cNvPr id="122" name="对象 121">
            <a:extLst>
              <a:ext uri="{FF2B5EF4-FFF2-40B4-BE49-F238E27FC236}">
                <a16:creationId xmlns:a16="http://schemas.microsoft.com/office/drawing/2014/main" id="{7C5002BD-9252-80A8-7ED6-0995C50EC19C}"/>
              </a:ext>
            </a:extLst>
          </p:cNvPr>
          <p:cNvGraphicFramePr>
            <a:graphicFrameLocks noChangeAspect="1"/>
          </p:cNvGraphicFramePr>
          <p:nvPr>
            <p:extLst>
              <p:ext uri="{D42A27DB-BD31-4B8C-83A1-F6EECF244321}">
                <p14:modId xmlns:p14="http://schemas.microsoft.com/office/powerpoint/2010/main" val="69991479"/>
              </p:ext>
            </p:extLst>
          </p:nvPr>
        </p:nvGraphicFramePr>
        <p:xfrm>
          <a:off x="6314424" y="4708123"/>
          <a:ext cx="5035235" cy="695107"/>
        </p:xfrm>
        <a:graphic>
          <a:graphicData uri="http://schemas.openxmlformats.org/presentationml/2006/ole">
            <mc:AlternateContent xmlns:mc="http://schemas.openxmlformats.org/markup-compatibility/2006">
              <mc:Choice xmlns:v="urn:schemas-microsoft-com:vml" Requires="v">
                <p:oleObj name="AxMath" r:id="rId11" imgW="1645200" imgH="227160" progId="Equation.AxMath">
                  <p:embed/>
                </p:oleObj>
              </mc:Choice>
              <mc:Fallback>
                <p:oleObj name="AxMath" r:id="rId11" imgW="1645200" imgH="227160" progId="Equation.AxMath">
                  <p:embed/>
                  <p:pic>
                    <p:nvPicPr>
                      <p:cNvPr id="122" name="对象 121">
                        <a:extLst>
                          <a:ext uri="{FF2B5EF4-FFF2-40B4-BE49-F238E27FC236}">
                            <a16:creationId xmlns:a16="http://schemas.microsoft.com/office/drawing/2014/main" id="{681B8955-2B91-1FA5-5711-1BDC44E767BC}"/>
                          </a:ext>
                        </a:extLst>
                      </p:cNvPr>
                      <p:cNvPicPr/>
                      <p:nvPr/>
                    </p:nvPicPr>
                    <p:blipFill>
                      <a:blip r:embed="rId12"/>
                      <a:stretch>
                        <a:fillRect/>
                      </a:stretch>
                    </p:blipFill>
                    <p:spPr>
                      <a:xfrm>
                        <a:off x="6314424" y="4708123"/>
                        <a:ext cx="5035235" cy="695107"/>
                      </a:xfrm>
                      <a:prstGeom prst="rect">
                        <a:avLst/>
                      </a:prstGeom>
                    </p:spPr>
                  </p:pic>
                </p:oleObj>
              </mc:Fallback>
            </mc:AlternateContent>
          </a:graphicData>
        </a:graphic>
      </p:graphicFrame>
      <p:sp>
        <p:nvSpPr>
          <p:cNvPr id="102" name="箭头: 右 101">
            <a:extLst>
              <a:ext uri="{FF2B5EF4-FFF2-40B4-BE49-F238E27FC236}">
                <a16:creationId xmlns:a16="http://schemas.microsoft.com/office/drawing/2014/main" id="{341CE5EF-2046-0DE6-5F5E-853BF71996B9}"/>
              </a:ext>
            </a:extLst>
          </p:cNvPr>
          <p:cNvSpPr/>
          <p:nvPr/>
        </p:nvSpPr>
        <p:spPr>
          <a:xfrm>
            <a:off x="356195" y="14025308"/>
            <a:ext cx="1091631" cy="571622"/>
          </a:xfrm>
          <a:prstGeom prst="rightArrow">
            <a:avLst/>
          </a:prstGeom>
          <a:noFill/>
          <a:ln w="508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u="sng" dirty="0"/>
          </a:p>
        </p:txBody>
      </p:sp>
      <p:sp>
        <p:nvSpPr>
          <p:cNvPr id="42" name="矩形: 圆角 41">
            <a:extLst>
              <a:ext uri="{FF2B5EF4-FFF2-40B4-BE49-F238E27FC236}">
                <a16:creationId xmlns:a16="http://schemas.microsoft.com/office/drawing/2014/main" id="{F9926869-AEA4-F637-172B-C9AC1211CBE3}"/>
              </a:ext>
            </a:extLst>
          </p:cNvPr>
          <p:cNvSpPr/>
          <p:nvPr/>
        </p:nvSpPr>
        <p:spPr>
          <a:xfrm>
            <a:off x="20399399" y="6793629"/>
            <a:ext cx="1742510"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CBD17B83-5D67-067A-65B5-0997AB21DE35}"/>
              </a:ext>
            </a:extLst>
          </p:cNvPr>
          <p:cNvSpPr/>
          <p:nvPr/>
        </p:nvSpPr>
        <p:spPr>
          <a:xfrm>
            <a:off x="20399398" y="1940769"/>
            <a:ext cx="8081337"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3600" b="1" dirty="0">
              <a:solidFill>
                <a:schemeClr val="tx1"/>
              </a:solidFill>
            </a:endParaRPr>
          </a:p>
        </p:txBody>
      </p:sp>
      <p:graphicFrame>
        <p:nvGraphicFramePr>
          <p:cNvPr id="30" name="对象 29">
            <a:extLst>
              <a:ext uri="{FF2B5EF4-FFF2-40B4-BE49-F238E27FC236}">
                <a16:creationId xmlns:a16="http://schemas.microsoft.com/office/drawing/2014/main" id="{3D306780-BBCC-4D8E-76FD-B0102D608DF8}"/>
              </a:ext>
            </a:extLst>
          </p:cNvPr>
          <p:cNvGraphicFramePr>
            <a:graphicFrameLocks noChangeAspect="1"/>
          </p:cNvGraphicFramePr>
          <p:nvPr>
            <p:extLst>
              <p:ext uri="{D42A27DB-BD31-4B8C-83A1-F6EECF244321}">
                <p14:modId xmlns:p14="http://schemas.microsoft.com/office/powerpoint/2010/main" val="3861104017"/>
              </p:ext>
            </p:extLst>
          </p:nvPr>
        </p:nvGraphicFramePr>
        <p:xfrm>
          <a:off x="20813931" y="7016676"/>
          <a:ext cx="967658" cy="1626395"/>
        </p:xfrm>
        <a:graphic>
          <a:graphicData uri="http://schemas.openxmlformats.org/presentationml/2006/ole">
            <mc:AlternateContent xmlns:mc="http://schemas.openxmlformats.org/markup-compatibility/2006">
              <mc:Choice xmlns:v="urn:schemas-microsoft-com:vml" Requires="v">
                <p:oleObj name="AxMath" r:id="rId13" imgW="134640" imgH="227160" progId="Equation.AxMath">
                  <p:embed/>
                </p:oleObj>
              </mc:Choice>
              <mc:Fallback>
                <p:oleObj name="AxMath" r:id="rId13" imgW="134640" imgH="227160" progId="Equation.AxMath">
                  <p:embed/>
                  <p:pic>
                    <p:nvPicPr>
                      <p:cNvPr id="30" name="对象 29">
                        <a:extLst>
                          <a:ext uri="{FF2B5EF4-FFF2-40B4-BE49-F238E27FC236}">
                            <a16:creationId xmlns:a16="http://schemas.microsoft.com/office/drawing/2014/main" id="{B77CC8E5-8AA5-4716-BB9B-A500A525377B}"/>
                          </a:ext>
                        </a:extLst>
                      </p:cNvPr>
                      <p:cNvPicPr/>
                      <p:nvPr/>
                    </p:nvPicPr>
                    <p:blipFill>
                      <a:blip r:embed="rId14"/>
                      <a:stretch>
                        <a:fillRect/>
                      </a:stretch>
                    </p:blipFill>
                    <p:spPr>
                      <a:xfrm>
                        <a:off x="20813931" y="7016676"/>
                        <a:ext cx="967658" cy="1626395"/>
                      </a:xfrm>
                      <a:prstGeom prst="rect">
                        <a:avLst/>
                      </a:prstGeom>
                    </p:spPr>
                  </p:pic>
                </p:oleObj>
              </mc:Fallback>
            </mc:AlternateContent>
          </a:graphicData>
        </a:graphic>
      </p:graphicFrame>
      <p:sp>
        <p:nvSpPr>
          <p:cNvPr id="45" name="箭头: 下 44">
            <a:extLst>
              <a:ext uri="{FF2B5EF4-FFF2-40B4-BE49-F238E27FC236}">
                <a16:creationId xmlns:a16="http://schemas.microsoft.com/office/drawing/2014/main" id="{50B65F3B-8653-F1EE-F715-635A7C8D05B6}"/>
              </a:ext>
            </a:extLst>
          </p:cNvPr>
          <p:cNvSpPr/>
          <p:nvPr/>
        </p:nvSpPr>
        <p:spPr>
          <a:xfrm rot="16200000">
            <a:off x="22554266" y="7305544"/>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箭头: 下 45">
            <a:extLst>
              <a:ext uri="{FF2B5EF4-FFF2-40B4-BE49-F238E27FC236}">
                <a16:creationId xmlns:a16="http://schemas.microsoft.com/office/drawing/2014/main" id="{35FC8D18-AC3D-04E4-ACB5-22E6DFF9BED2}"/>
              </a:ext>
            </a:extLst>
          </p:cNvPr>
          <p:cNvSpPr/>
          <p:nvPr/>
        </p:nvSpPr>
        <p:spPr>
          <a:xfrm>
            <a:off x="23719277" y="4284288"/>
            <a:ext cx="1280960" cy="213662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对象 21">
            <a:extLst>
              <a:ext uri="{FF2B5EF4-FFF2-40B4-BE49-F238E27FC236}">
                <a16:creationId xmlns:a16="http://schemas.microsoft.com/office/drawing/2014/main" id="{D7E5E91A-D2B5-D58C-248C-79943257A982}"/>
              </a:ext>
            </a:extLst>
          </p:cNvPr>
          <p:cNvGraphicFramePr>
            <a:graphicFrameLocks noChangeAspect="1"/>
          </p:cNvGraphicFramePr>
          <p:nvPr>
            <p:extLst>
              <p:ext uri="{D42A27DB-BD31-4B8C-83A1-F6EECF244321}">
                <p14:modId xmlns:p14="http://schemas.microsoft.com/office/powerpoint/2010/main" val="1057800581"/>
              </p:ext>
            </p:extLst>
          </p:nvPr>
        </p:nvGraphicFramePr>
        <p:xfrm>
          <a:off x="20766267" y="2361474"/>
          <a:ext cx="7021532" cy="1288152"/>
        </p:xfrm>
        <a:graphic>
          <a:graphicData uri="http://schemas.openxmlformats.org/presentationml/2006/ole">
            <mc:AlternateContent xmlns:mc="http://schemas.openxmlformats.org/markup-compatibility/2006">
              <mc:Choice xmlns:v="urn:schemas-microsoft-com:vml" Requires="v">
                <p:oleObj name="AxMath" r:id="rId9" imgW="1235880" imgH="227160" progId="Equation.AxMath">
                  <p:embed/>
                </p:oleObj>
              </mc:Choice>
              <mc:Fallback>
                <p:oleObj name="AxMath" r:id="rId9" imgW="1235880" imgH="227160" progId="Equation.AxMath">
                  <p:embed/>
                  <p:pic>
                    <p:nvPicPr>
                      <p:cNvPr id="119" name="对象 118">
                        <a:extLst>
                          <a:ext uri="{FF2B5EF4-FFF2-40B4-BE49-F238E27FC236}">
                            <a16:creationId xmlns:a16="http://schemas.microsoft.com/office/drawing/2014/main" id="{82956991-B7D5-F6B3-7331-B94F5C62D640}"/>
                          </a:ext>
                        </a:extLst>
                      </p:cNvPr>
                      <p:cNvPicPr/>
                      <p:nvPr/>
                    </p:nvPicPr>
                    <p:blipFill>
                      <a:blip r:embed="rId10"/>
                      <a:stretch>
                        <a:fillRect/>
                      </a:stretch>
                    </p:blipFill>
                    <p:spPr>
                      <a:xfrm>
                        <a:off x="20766267" y="2361474"/>
                        <a:ext cx="7021532" cy="1288152"/>
                      </a:xfrm>
                      <a:prstGeom prst="rect">
                        <a:avLst/>
                      </a:prstGeom>
                    </p:spPr>
                  </p:pic>
                </p:oleObj>
              </mc:Fallback>
            </mc:AlternateContent>
          </a:graphicData>
        </a:graphic>
      </p:graphicFrame>
      <p:sp>
        <p:nvSpPr>
          <p:cNvPr id="24" name="矩形: 圆角 23">
            <a:extLst>
              <a:ext uri="{FF2B5EF4-FFF2-40B4-BE49-F238E27FC236}">
                <a16:creationId xmlns:a16="http://schemas.microsoft.com/office/drawing/2014/main" id="{61FA2DC6-7D99-B0C8-CED9-A8D85892086F}"/>
              </a:ext>
            </a:extLst>
          </p:cNvPr>
          <p:cNvSpPr/>
          <p:nvPr/>
        </p:nvSpPr>
        <p:spPr>
          <a:xfrm>
            <a:off x="23490840" y="6793629"/>
            <a:ext cx="1742510"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4" name="对象 33">
            <a:extLst>
              <a:ext uri="{FF2B5EF4-FFF2-40B4-BE49-F238E27FC236}">
                <a16:creationId xmlns:a16="http://schemas.microsoft.com/office/drawing/2014/main" id="{BAF45901-CEF1-68E1-5DFB-22840C19BB01}"/>
              </a:ext>
            </a:extLst>
          </p:cNvPr>
          <p:cNvGraphicFramePr>
            <a:graphicFrameLocks noChangeAspect="1"/>
          </p:cNvGraphicFramePr>
          <p:nvPr>
            <p:extLst>
              <p:ext uri="{D42A27DB-BD31-4B8C-83A1-F6EECF244321}">
                <p14:modId xmlns:p14="http://schemas.microsoft.com/office/powerpoint/2010/main" val="3914533091"/>
              </p:ext>
            </p:extLst>
          </p:nvPr>
        </p:nvGraphicFramePr>
        <p:xfrm>
          <a:off x="23857082" y="7051456"/>
          <a:ext cx="1071543" cy="1644265"/>
        </p:xfrm>
        <a:graphic>
          <a:graphicData uri="http://schemas.openxmlformats.org/presentationml/2006/ole">
            <mc:AlternateContent xmlns:mc="http://schemas.openxmlformats.org/markup-compatibility/2006">
              <mc:Choice xmlns:v="urn:schemas-microsoft-com:vml" Requires="v">
                <p:oleObj name="AxMath" r:id="rId15" imgW="147240" imgH="227160" progId="Equation.AxMath">
                  <p:embed/>
                </p:oleObj>
              </mc:Choice>
              <mc:Fallback>
                <p:oleObj name="AxMath" r:id="rId15" imgW="147240" imgH="227160" progId="Equation.AxMath">
                  <p:embed/>
                  <p:pic>
                    <p:nvPicPr>
                      <p:cNvPr id="34" name="对象 33">
                        <a:extLst>
                          <a:ext uri="{FF2B5EF4-FFF2-40B4-BE49-F238E27FC236}">
                            <a16:creationId xmlns:a16="http://schemas.microsoft.com/office/drawing/2014/main" id="{F4E56BA7-FAE2-B30E-9C50-C705D6199C8A}"/>
                          </a:ext>
                        </a:extLst>
                      </p:cNvPr>
                      <p:cNvPicPr/>
                      <p:nvPr/>
                    </p:nvPicPr>
                    <p:blipFill>
                      <a:blip r:embed="rId16"/>
                      <a:stretch>
                        <a:fillRect/>
                      </a:stretch>
                    </p:blipFill>
                    <p:spPr>
                      <a:xfrm>
                        <a:off x="23857082" y="7051456"/>
                        <a:ext cx="1071543" cy="1644265"/>
                      </a:xfrm>
                      <a:prstGeom prst="rect">
                        <a:avLst/>
                      </a:prstGeom>
                    </p:spPr>
                  </p:pic>
                </p:oleObj>
              </mc:Fallback>
            </mc:AlternateContent>
          </a:graphicData>
        </a:graphic>
      </p:graphicFrame>
      <p:sp>
        <p:nvSpPr>
          <p:cNvPr id="25" name="箭头: 下 24">
            <a:extLst>
              <a:ext uri="{FF2B5EF4-FFF2-40B4-BE49-F238E27FC236}">
                <a16:creationId xmlns:a16="http://schemas.microsoft.com/office/drawing/2014/main" id="{8AC896B0-0421-D97F-BB80-88614174B6A3}"/>
              </a:ext>
            </a:extLst>
          </p:cNvPr>
          <p:cNvSpPr/>
          <p:nvPr/>
        </p:nvSpPr>
        <p:spPr>
          <a:xfrm rot="16200000">
            <a:off x="25574487" y="7305544"/>
            <a:ext cx="595437" cy="944176"/>
          </a:xfrm>
          <a:prstGeom prst="downArrow">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a16="http://schemas.microsoft.com/office/drawing/2014/main" id="{5EACAE13-60C2-74B7-77BA-20E54AC390FA}"/>
              </a:ext>
            </a:extLst>
          </p:cNvPr>
          <p:cNvSpPr/>
          <p:nvPr/>
        </p:nvSpPr>
        <p:spPr>
          <a:xfrm>
            <a:off x="26511061" y="6793629"/>
            <a:ext cx="1742510" cy="1953884"/>
          </a:xfrm>
          <a:prstGeom prst="roundRect">
            <a:avLst>
              <a:gd name="adj" fmla="val 44218"/>
            </a:avLst>
          </a:prstGeom>
          <a:solidFill>
            <a:srgbClr val="99E6F0"/>
          </a:solidFill>
          <a:ln w="635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8800" b="1" i="1" dirty="0">
                <a:solidFill>
                  <a:schemeClr val="tx1"/>
                </a:solidFill>
              </a:rPr>
              <a:t>C</a:t>
            </a:r>
            <a:endParaRPr lang="zh-CN" altLang="en-US" sz="8800" b="1" i="1" dirty="0">
              <a:solidFill>
                <a:schemeClr val="tx1"/>
              </a:solidFill>
            </a:endParaRPr>
          </a:p>
        </p:txBody>
      </p:sp>
    </p:spTree>
    <p:extLst>
      <p:ext uri="{BB962C8B-B14F-4D97-AF65-F5344CB8AC3E}">
        <p14:creationId xmlns:p14="http://schemas.microsoft.com/office/powerpoint/2010/main" val="3748086532"/>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宋体新罗马">
      <a:majorFont>
        <a:latin typeface="Times New Roman"/>
        <a:ea typeface="宋体"/>
        <a:cs typeface=""/>
      </a:majorFont>
      <a:minorFont>
        <a:latin typeface="Times New Roman"/>
        <a:ea typeface="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2373</TotalTime>
  <Words>1372</Words>
  <Application>Microsoft Office PowerPoint</Application>
  <PresentationFormat>自定义</PresentationFormat>
  <Paragraphs>224</Paragraphs>
  <Slides>18</Slides>
  <Notes>6</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2</vt:i4>
      </vt:variant>
      <vt:variant>
        <vt:lpstr>幻灯片标题</vt:lpstr>
      </vt:variant>
      <vt:variant>
        <vt:i4>18</vt:i4>
      </vt:variant>
    </vt:vector>
  </HeadingPairs>
  <TitlesOfParts>
    <vt:vector size="25" baseType="lpstr">
      <vt:lpstr>等线</vt:lpstr>
      <vt:lpstr>宋体</vt:lpstr>
      <vt:lpstr>Arial</vt:lpstr>
      <vt:lpstr>Times New Roman</vt:lpstr>
      <vt:lpstr>Office 主题​​</vt:lpstr>
      <vt:lpstr>AxMath</vt:lpstr>
      <vt:lpstr>Equation.AxMath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继楷 石</dc:creator>
  <cp:lastModifiedBy>继楷 石</cp:lastModifiedBy>
  <cp:revision>56</cp:revision>
  <dcterms:created xsi:type="dcterms:W3CDTF">2025-08-28T07:15:53Z</dcterms:created>
  <dcterms:modified xsi:type="dcterms:W3CDTF">2026-02-07T05:21:54Z</dcterms:modified>
</cp:coreProperties>
</file>